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Spot the change</a:t>
            </a:r>
          </a:p>
          <a:p/>
          <a:p>
            <a:r>
              <a:t>NARRATION</a:t>
            </a:r>
          </a:p>
          <a:p>
            <a:r>
              <a:t>A toy can carry a memory. REPLAY LAB explores how working adults might turn childhood wishes into personal squishies and slime.</a:t>
            </a:r>
          </a:p>
          <a:p/>
          <a:p>
            <a:r>
              <a:t>VISUAL CUE</a:t>
            </a:r>
          </a:p>
          <a:p>
            <a:r>
              <a:t>Open on the original product artwork and brand promise. It is concept art, not fieldwork.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0:10–0:25 | Spot the change</a:t>
            </a:r>
          </a:p>
          <a:p/>
          <a:p>
            <a:r>
              <a:t>NARRATION</a:t>
            </a:r>
          </a:p>
          <a:p>
            <a:r>
              <a:t>Thai PBS World reported a toy revival at Sampheng in June twenty twenty-six. Thairath reported a broader revival at Mega Plaza. These are local signals, not a market-size estimate.</a:t>
            </a:r>
          </a:p>
          <a:p/>
          <a:p>
            <a:r>
              <a:t>VISUAL CUE</a:t>
            </a:r>
          </a:p>
          <a:p>
            <a:r>
              <a:t>Compare the two dated sources. S1 supports the reported adult-return account; S2 supports the broader sensory-toy revival.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0:25–0:40 | Spot the change</a:t>
            </a:r>
          </a:p>
          <a:p/>
          <a:p>
            <a:r>
              <a:t>NARRATION</a:t>
            </a:r>
          </a:p>
          <a:p>
            <a:r>
              <a:t>The Sampheng vendor described working adults buying toys they had wanted but could not afford as children. The product is familiar; adult income changes the buyer’s freedom to choose.</a:t>
            </a:r>
          </a:p>
          <a:p/>
          <a:p>
            <a:r>
              <a:t>VISUAL CUE</a:t>
            </a:r>
          </a:p>
          <a:p>
            <a:r>
              <a:t>Show the before/after buying context. These are analytical labels, not participant quotations. Cite S1.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0:40–0:55 | Spot the change</a:t>
            </a:r>
          </a:p>
          <a:p/>
          <a:p>
            <a:r>
              <a:t>NARRATION</a:t>
            </a:r>
          </a:p>
          <a:p>
            <a:r>
              <a:t>Original fieldwork is still pending. Mega Plaza’s observed buyers were mainly children and teenagers. I need direct evidence from working adults, asking about actual purchases before showing the business idea.</a:t>
            </a:r>
          </a:p>
          <a:p/>
          <a:p>
            <a:r>
              <a:t>VISUAL CUE</a:t>
            </a:r>
          </a:p>
          <a:p>
            <a:r>
              <a:t>Replace this plan with actual dated observations, buyer counts and one consented quote before submission. Published news is not personal fieldwork.</a:t>
            </a:r>
          </a:p>
          <a:p/>
          <a:p>
            <a:r>
              <a:t>REPLACE AFTER REAL FIELDWORK:</a:t>
            </a:r>
          </a:p>
          <a:p>
            <a:r>
              <a:t>On [DATE], I visited [N] shops in [PLACE] and interviewed [N] working-adult buyers. [X] mentioned childhood memories; [Y] mentioned online reviews. One said, [EXACT QUOTE]. This small convenience sample [supports / complicates] the reported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0:55–1:10 | Explain the consumer</a:t>
            </a:r>
          </a:p>
          <a:p/>
          <a:p>
            <a:r>
              <a:t>NARRATION</a:t>
            </a:r>
          </a:p>
          <a:p>
            <a:r>
              <a:t>The proposed target is early-career Thai adults buying for their own enjoyment or collection. A desk, display or everyday break provides a possible use context. These preferences still need testing.</a:t>
            </a:r>
          </a:p>
          <a:p/>
          <a:p>
            <a:r>
              <a:t>VISUAL CUE</a:t>
            </a:r>
          </a:p>
          <a:p>
            <a:r>
              <a:t>Identify the proposed target and use context. Do not describe this as a researched persona.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1:10–1:30 | Explain the consumer</a:t>
            </a:r>
          </a:p>
          <a:p/>
          <a:p>
            <a:r>
              <a:t>NARRATION</a:t>
            </a:r>
          </a:p>
          <a:p>
            <a:r>
              <a:t>Emotional motivation explains why a familiar object may matter. Memory adds personal meaning, texture offers enjoyment, and adult income enables choice. My interpretation is that these benefits can combine. Whether buyers would pay more remains an open question.</a:t>
            </a:r>
          </a:p>
          <a:p/>
          <a:p>
            <a:r>
              <a:t>VISUAL CUE</a:t>
            </a:r>
          </a:p>
          <a:p>
            <a:r>
              <a:t>Explain memory, enjoyment and choice as an interpretation to test. No medical benefit or price premium is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1:30–1:50 | Explain the consumer</a:t>
            </a:r>
          </a:p>
          <a:p/>
          <a:p>
            <a:r>
              <a:t>NARRATION</a:t>
            </a:r>
          </a:p>
          <a:p>
            <a:r>
              <a:t>Social influence helps explain rediscovery. Reviews bring toys back into view, and seeing other adults play may make buying feel acceptable. Discovery and motivation differ: a review may attract attention while memory explains the choice. Paid demand still needs testing.</a:t>
            </a:r>
          </a:p>
          <a:p/>
          <a:p>
            <a:r>
              <a:t>VISUAL CUE</a:t>
            </a:r>
          </a:p>
          <a:p>
            <a:r>
              <a:t>Follow reported discovery, interpreted relevance and a real choice still to test. S1 supports the first stage.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1:50–2:05 | Find the opportunity</a:t>
            </a:r>
          </a:p>
          <a:p/>
          <a:p>
            <a:r>
              <a:t>NARRATION</a:t>
            </a:r>
          </a:p>
          <a:p>
            <a:r>
              <a:t>Our proposed value is simple: bring a familiar memory into everyday life. Customers get a recognisable theme, personal design choices and clear product information. This is a hypothesis to test.</a:t>
            </a:r>
          </a:p>
          <a:p/>
          <a:p>
            <a:r>
              <a:t>VISUAL CUE</a:t>
            </a:r>
          </a:p>
          <a:p>
            <a:r>
              <a:t>Present the proposed customer job and the three benefits. This is a value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2:05–2:20 | Find the opportunity</a:t>
            </a:r>
          </a:p>
          <a:p/>
          <a:p>
            <a:r>
              <a:t>NARRATION</a:t>
            </a:r>
          </a:p>
          <a:p>
            <a:r>
              <a:t>The starting collection includes a pencil-case squishy, a gamepad squishy and cloud slime. Shared childhood themes connect the objects, while a small range of shapes keeps the proposed production manageable.</a:t>
            </a:r>
          </a:p>
          <a:p/>
          <a:p>
            <a:r>
              <a:t>VISUAL CUE</a:t>
            </a:r>
          </a:p>
          <a:p>
            <a:r>
              <a:t>Show actual prototype artwork. The themes are proposed, not observed customer preferences. S2 supplies sensory-product context.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2:20–2:35 | Find the opportunity</a:t>
            </a:r>
          </a:p>
          <a:p/>
          <a:p>
            <a:r>
              <a:t>NARRATION</a:t>
            </a:r>
          </a:p>
          <a:p>
            <a:r>
              <a:t>The studio has four steps: shape, colour, feel and story. Customers choose available options and add a name. Quiet and unscented settings suit a possible desk-use preference, subject to physical testing.</a:t>
            </a:r>
          </a:p>
          <a:p/>
          <a:p>
            <a:r>
              <a:t>VISUAL CUE</a:t>
            </a:r>
          </a:p>
          <a:p>
            <a:r>
              <a:t>Follow the four studio steps. Explain that real textures and scents need supplier-made samples.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2:35–3:00 | Find the opportunity</a:t>
            </a:r>
          </a:p>
          <a:p/>
          <a:p>
            <a:r>
              <a:t>NARRATION</a:t>
            </a:r>
          </a:p>
          <a:p>
            <a:r>
              <a:t>Watch the ordering demo. Choose a shape, change its colour, name the design and save it. Add it to the bag, review the illustrative price, then confirm a simulated reservation. The notebook keeps the result. This is a prototype: no payment is taken and no product is ordered.</a:t>
            </a:r>
          </a:p>
          <a:p/>
          <a:p>
            <a:r>
              <a:t>VISUAL CUE</a:t>
            </a:r>
          </a:p>
          <a:p>
            <a:r>
              <a:t>Click the embedded MP4 in slideshow mode and narrate over its 25 seconds. This clip is already included in the timeline. If playback is unavailable, open the downloadable MP4 before recording. Do not add a second demo interval.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3:00–3:15 | Find the opportunity</a:t>
            </a:r>
          </a:p>
          <a:p/>
          <a:p>
            <a:r>
              <a:t>NARRATION</a:t>
            </a:r>
          </a:p>
          <a:p>
            <a:r>
              <a:t>Custom squishies already exist. Our proposed difference combines Thai childhood memories, adult use and customer-chosen collections. Shared shapes and supplier processes control complexity; colours, names and memory cards add personal meaning.</a:t>
            </a:r>
          </a:p>
          <a:p/>
          <a:p>
            <a:r>
              <a:t>VISUAL CUE</a:t>
            </a:r>
          </a:p>
          <a:p>
            <a:r>
              <a:t>Compare shared recipe and personal details. S5 demonstrates existing custom squishies; do not claim global novelty.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3:15–3:30 | Find the opportunity</a:t>
            </a:r>
          </a:p>
          <a:p/>
          <a:p>
            <a:r>
              <a:t>NARRATION</a:t>
            </a:r>
          </a:p>
          <a:p>
            <a:r>
              <a:t>Revenue would come from product sales and selected upgrades. The demo starts squishies at three hundred forty-nine baht and slime at two hundred ninety-nine. These are illustrative prices, not validated offers.</a:t>
            </a:r>
          </a:p>
          <a:p/>
          <a:p>
            <a:r>
              <a:t>VISUAL CUE</a:t>
            </a:r>
          </a:p>
          <a:p>
            <a:r>
              <a:t>Present sample catalogue prices and optional upgrades as assumptions. Actual delivery costs and product terms remain unconfirmed.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3:30–3:50 | Evaluate the opportunity</a:t>
            </a:r>
          </a:p>
          <a:p/>
          <a:p>
            <a:r>
              <a:t>NARRATION</a:t>
            </a:r>
          </a:p>
          <a:p>
            <a:r>
              <a:t>Three risks need tests: customers may prefer a cheaper toy, custom options can complicate production, and nostalgia may drive only one purchase. Compare prototype preferences, check supplier samples and explore repeat-use reasons. Product information also needs checking, as the OCPB report illustrates.</a:t>
            </a:r>
          </a:p>
          <a:p/>
          <a:p>
            <a:r>
              <a:t>VISUAL CUE</a:t>
            </a:r>
          </a:p>
          <a:p>
            <a:r>
              <a:t>Use the risk/test/result table. S4 reports incomplete labels at some sellers; avoid generalising to all toys.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3:50–4:15 | Evaluate the opportunity</a:t>
            </a:r>
          </a:p>
          <a:p/>
          <a:p>
            <a:r>
              <a:t>NARRATION</a:t>
            </a:r>
          </a:p>
          <a:p>
            <a:r>
              <a:t>The economics are assumptions. Three hundred forty-nine baht minus one hundred ninety-nine leaves one hundred fifty per unit. Four thousand five hundred in setup costs therefore requires thirty units. The actual threshold must also meet supplier minimums and include every relevant cost.</a:t>
            </a:r>
          </a:p>
          <a:p/>
          <a:p>
            <a:r>
              <a:t>VISUAL CUE</a:t>
            </a:r>
          </a:p>
          <a:p>
            <a:r>
              <a:t>Follow the proportional price bar, then the setup/contribution calculation. All numbers require real quotes and demand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4:15–4:30 | Evaluate the opportunity</a:t>
            </a:r>
          </a:p>
          <a:p/>
          <a:p>
            <a:r>
              <a:t>NARRATION</a:t>
            </a:r>
          </a:p>
          <a:p>
            <a:r>
              <a:t>First, interview actual buyers. Then show the concept and prototype at a viable price. Finally, confirm supplier quality, costs and terms before a real purchase test. Survey interest alone is insufficient.</a:t>
            </a:r>
          </a:p>
          <a:p/>
          <a:p>
            <a:r>
              <a:t>VISUAL CUE</a:t>
            </a:r>
          </a:p>
          <a:p>
            <a:r>
              <a:t>Show the sequence of behaviour research, concept testing and supplier/purchase validation. Keep demo clicks separate from fieldwork.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4:30–4:45 | Evaluate the opportunity</a:t>
            </a:r>
          </a:p>
          <a:p/>
          <a:p>
            <a:r>
              <a:t>NARRATION</a:t>
            </a:r>
          </a:p>
          <a:p>
            <a:r>
              <a:t>Start with one collection. Continue only when people prefer it at a viable price, quality is consistent, and orders cover the batch. Let weak results change the idea.</a:t>
            </a:r>
          </a:p>
          <a:p/>
          <a:p>
            <a:r>
              <a:t>VISUAL CUE</a:t>
            </a:r>
          </a:p>
          <a:p>
            <a:r>
              <a:t>End with three pilot gates and the clickable prototype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4:45–4:50 | Credits</a:t>
            </a:r>
          </a:p>
          <a:p/>
          <a:p>
            <a:r>
              <a:t>NARRATION</a:t>
            </a:r>
          </a:p>
          <a:p/>
          <a:p/>
          <a:p>
            <a:r>
              <a:t>VISUAL CUE</a:t>
            </a:r>
          </a:p>
          <a:p>
            <a:r>
              <a:t>Silent five-second source card. All eighteen slides are part of the presentation; full source notes accompany the files.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n.thairath.co.th/scoop/interview/2940686"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hyperlink" Target="https://en.thairath.co.th/scoop/interview/2940686" TargetMode="Externa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image" Target="../media/image5.png"/><Relationship Id="rId4" Type="http://schemas.openxmlformats.org/officeDocument/2006/relationships/hyperlink" Target="https://blimmy.github.io/replay-lab/downloads/REPLAY_LAB_Order_Demo.mp4" TargetMode="External"/><Relationship Id="rId5" Type="http://schemas.microsoft.com/office/2007/relationships/media" Target="../media/media1.mp4"/><Relationship Id="rId6" Type="http://schemas.openxmlformats.org/officeDocument/2006/relationships/video" Target="../media/media1.mp4"/><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quishtide.com/"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ocpb.go.th/news_view_plan.php?nid=1804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blimmy.github.io/replay-lab/"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aipbsworld.com/economy/social-media-driven-%E2%80%98squishy%E2%80%99-and-%E2%80%98slime%E2%80%99-craze-sparks-retail-boom-at-sampheng-market" TargetMode="External"/><Relationship Id="rId3" Type="http://schemas.openxmlformats.org/officeDocument/2006/relationships/hyperlink" Target="https://en.thairath.co.th/scoop/interview/2940686" TargetMode="External"/><Relationship Id="rId4" Type="http://schemas.openxmlformats.org/officeDocument/2006/relationships/hyperlink" Target="https://www.trendwatching.com/toolbox/consumer-trend-canvas/examples/acclimators" TargetMode="External"/><Relationship Id="rId5" Type="http://schemas.openxmlformats.org/officeDocument/2006/relationships/hyperlink" Target="https://www.ocpb.go.th/news_view_plan.php?nid=18044" TargetMode="External"/><Relationship Id="rId6" Type="http://schemas.openxmlformats.org/officeDocument/2006/relationships/hyperlink" Target="https://squishtide.com/" TargetMode="External"/><Relationship Id="rId7" Type="http://schemas.openxmlformats.org/officeDocument/2006/relationships/image" Target="../media/image3.png"/><Relationship Id="rId8" Type="http://schemas.openxmlformats.org/officeDocument/2006/relationships/hyperlink" Target="https://blimmy.github.io/replay-lab/" TargetMode="External"/><Relationship Id="rId9"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CONSUMER IN THE WILD / THAILAND 2026</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55700"/>
            <a:ext cx="6248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A CONSUMER INSIGHT. A BUSINESS TO TEST.</a:t>
            </a:r>
          </a:p>
        </p:txBody>
      </p:sp>
      <p:sp>
        <p:nvSpPr>
          <p:cNvPr id="7" name="TextBox 6"/>
          <p:cNvSpPr txBox="1"/>
          <p:nvPr/>
        </p:nvSpPr>
        <p:spPr>
          <a:xfrm>
            <a:off x="584200" y="1816100"/>
            <a:ext cx="6629400" cy="1524000"/>
          </a:xfrm>
          <a:prstGeom prst="rect">
            <a:avLst/>
          </a:prstGeom>
          <a:noFill/>
        </p:spPr>
        <p:txBody>
          <a:bodyPr wrap="none" lIns="0" rIns="0" tIns="0" bIns="0" anchor="t">
            <a:spAutoFit/>
          </a:bodyPr>
          <a:lstStyle/>
          <a:p>
            <a:pPr>
              <a:lnSpc>
                <a:spcPts val="5600"/>
              </a:lnSpc>
              <a:spcBef>
                <a:spcPts val="0"/>
              </a:spcBef>
              <a:spcAft>
                <a:spcPts val="0"/>
              </a:spcAft>
            </a:pPr>
            <a:r>
              <a:rPr sz="5100" b="1" i="0">
                <a:solidFill>
                  <a:srgbClr val="392C42"/>
                </a:solidFill>
                <a:latin typeface="Arial"/>
              </a:rPr>
              <a:t>Good memories.</a:t>
            </a:r>
          </a:p>
          <a:p>
            <a:pPr>
              <a:lnSpc>
                <a:spcPts val="5600"/>
              </a:lnSpc>
              <a:spcBef>
                <a:spcPts val="0"/>
              </a:spcBef>
              <a:spcAft>
                <a:spcPts val="0"/>
              </a:spcAft>
            </a:pPr>
            <a:r>
              <a:rPr sz="5100" b="1" i="0">
                <a:solidFill>
                  <a:srgbClr val="392C42"/>
                </a:solidFill>
                <a:latin typeface="Arial"/>
              </a:rPr>
              <a:t>Made tangible.</a:t>
            </a:r>
          </a:p>
        </p:txBody>
      </p:sp>
      <p:sp>
        <p:nvSpPr>
          <p:cNvPr id="8" name="TextBox 7"/>
          <p:cNvSpPr txBox="1"/>
          <p:nvPr/>
        </p:nvSpPr>
        <p:spPr>
          <a:xfrm>
            <a:off x="609600" y="3606800"/>
            <a:ext cx="6311900" cy="863600"/>
          </a:xfrm>
          <a:prstGeom prst="rect">
            <a:avLst/>
          </a:prstGeom>
          <a:noFill/>
        </p:spPr>
        <p:txBody>
          <a:bodyPr wrap="none" lIns="0" rIns="0" tIns="0" bIns="0" anchor="t">
            <a:spAutoFit/>
          </a:bodyPr>
          <a:lstStyle/>
          <a:p>
            <a:pPr>
              <a:lnSpc>
                <a:spcPts val="3000"/>
              </a:lnSpc>
              <a:spcBef>
                <a:spcPts val="0"/>
              </a:spcBef>
              <a:spcAft>
                <a:spcPts val="0"/>
              </a:spcAft>
            </a:pPr>
            <a:r>
              <a:rPr sz="2200" b="0" i="0">
                <a:solidFill>
                  <a:srgbClr val="392C42"/>
                </a:solidFill>
                <a:latin typeface="Arial"/>
              </a:rPr>
              <a:t>Squishies, slime and the working adults</a:t>
            </a:r>
          </a:p>
          <a:p>
            <a:pPr>
              <a:lnSpc>
                <a:spcPts val="3000"/>
              </a:lnSpc>
              <a:spcBef>
                <a:spcPts val="0"/>
              </a:spcBef>
              <a:spcAft>
                <a:spcPts val="0"/>
              </a:spcAft>
            </a:pPr>
            <a:r>
              <a:rPr sz="2200" b="0" i="0">
                <a:solidFill>
                  <a:srgbClr val="392C42"/>
                </a:solidFill>
                <a:latin typeface="Arial"/>
              </a:rPr>
              <a:t>rediscovering their childhood wishes.</a:t>
            </a:r>
          </a:p>
        </p:txBody>
      </p:sp>
      <p:sp>
        <p:nvSpPr>
          <p:cNvPr id="9" name="TextBox 8"/>
          <p:cNvSpPr txBox="1"/>
          <p:nvPr/>
        </p:nvSpPr>
        <p:spPr>
          <a:xfrm>
            <a:off x="609600" y="5143500"/>
            <a:ext cx="5232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REPLAY LAB</a:t>
            </a:r>
          </a:p>
        </p:txBody>
      </p:sp>
      <p:sp>
        <p:nvSpPr>
          <p:cNvPr id="10" name="TextBox 9"/>
          <p:cNvSpPr txBox="1"/>
          <p:nvPr/>
        </p:nvSpPr>
        <p:spPr>
          <a:xfrm>
            <a:off x="609600" y="5537200"/>
            <a:ext cx="61849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Co-designed objects. Personal meaning. Viable small batches.</a:t>
            </a:r>
          </a:p>
        </p:txBody>
      </p:sp>
      <p:sp>
        <p:nvSpPr>
          <p:cNvPr id="11" name="Rounded Rectangle 10"/>
          <p:cNvSpPr/>
          <p:nvPr/>
        </p:nvSpPr>
        <p:spPr>
          <a:xfrm>
            <a:off x="7378700" y="1130300"/>
            <a:ext cx="4229100" cy="4699000"/>
          </a:xfrm>
          <a:prstGeom prst="roundRect">
            <a:avLst>
              <a:gd name="adj" fmla="val 210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45400" y="1409700"/>
            <a:ext cx="3644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 MEMORY ARCHIVE</a:t>
            </a:r>
          </a:p>
        </p:txBody>
      </p:sp>
      <p:pic>
        <p:nvPicPr>
          <p:cNvPr id="13" name="Picture 12" descr="product_peach.png"/>
          <p:cNvPicPr>
            <a:picLocks noChangeAspect="1"/>
          </p:cNvPicPr>
          <p:nvPr/>
        </p:nvPicPr>
        <p:blipFill>
          <a:blip r:embed="rId2"/>
          <a:srcRect/>
          <a:stretch>
            <a:fillRect/>
          </a:stretch>
        </p:blipFill>
        <p:spPr>
          <a:xfrm>
            <a:off x="6985000" y="1819275"/>
            <a:ext cx="4953000" cy="3714750"/>
          </a:xfrm>
          <a:prstGeom prst="rect">
            <a:avLst/>
          </a:prstGeom>
        </p:spPr>
      </p:pic>
      <p:sp>
        <p:nvSpPr>
          <p:cNvPr id="14" name="TextBox 13"/>
          <p:cNvSpPr txBox="1"/>
          <p:nvPr/>
        </p:nvSpPr>
        <p:spPr>
          <a:xfrm>
            <a:off x="7696200" y="5372100"/>
            <a:ext cx="35814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392C42"/>
                </a:solidFill>
                <a:latin typeface="Arial"/>
              </a:rPr>
              <a:t>A small object. A familiar feeling.</a:t>
            </a:r>
          </a:p>
        </p:txBody>
      </p:sp>
      <p:cxnSp>
        <p:nvCxnSpPr>
          <p:cNvPr id="15" name="Connector 14"/>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Business proposal / Interactive prototype / Original fieldwork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THE REPORTED SIGNAL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revival worth investigating.</a:t>
            </a:r>
          </a:p>
        </p:txBody>
      </p:sp>
      <p:sp>
        <p:nvSpPr>
          <p:cNvPr id="7" name="Rounded Rectangle 6"/>
          <p:cNvSpPr/>
          <p:nvPr/>
        </p:nvSpPr>
        <p:spPr>
          <a:xfrm>
            <a:off x="584200" y="2514600"/>
            <a:ext cx="5334000" cy="3009900"/>
          </a:xfrm>
          <a:prstGeom prst="roundRect">
            <a:avLst>
              <a:gd name="adj" fmla="val 2109"/>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25 JUN 2026</a:t>
            </a:r>
          </a:p>
        </p:txBody>
      </p:sp>
      <p:sp>
        <p:nvSpPr>
          <p:cNvPr id="9" name="TextBox 8"/>
          <p:cNvSpPr txBox="1"/>
          <p:nvPr/>
        </p:nvSpPr>
        <p:spPr>
          <a:xfrm>
            <a:off x="8763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Sampheng</a:t>
            </a:r>
          </a:p>
        </p:txBody>
      </p:sp>
      <p:sp>
        <p:nvSpPr>
          <p:cNvPr id="10" name="TextBox 9"/>
          <p:cNvSpPr txBox="1"/>
          <p:nvPr/>
        </p:nvSpPr>
        <p:spPr>
          <a:xfrm>
            <a:off x="8763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vendor described working adults</a:t>
            </a:r>
          </a:p>
          <a:p>
            <a:pPr>
              <a:lnSpc>
                <a:spcPts val="2700"/>
              </a:lnSpc>
              <a:spcBef>
                <a:spcPts val="0"/>
              </a:spcBef>
              <a:spcAft>
                <a:spcPts val="0"/>
              </a:spcAft>
            </a:pPr>
            <a:r>
              <a:rPr sz="1800" b="0" i="0">
                <a:solidFill>
                  <a:srgbClr val="392C42"/>
                </a:solidFill>
                <a:latin typeface="Arial"/>
              </a:rPr>
              <a:t>returning to childhood wishes.</a:t>
            </a:r>
          </a:p>
          <a:p>
            <a:pPr>
              <a:lnSpc>
                <a:spcPts val="2700"/>
              </a:lnSpc>
              <a:spcBef>
                <a:spcPts val="0"/>
              </a:spcBef>
              <a:spcAft>
                <a:spcPts val="0"/>
              </a:spcAft>
            </a:pPr>
            <a:r>
              <a:rPr sz="1800" b="0" i="0">
                <a:solidFill>
                  <a:srgbClr val="392C42"/>
                </a:solidFill>
                <a:latin typeface="Arial"/>
              </a:rPr>
              <a:t>Social reviews helped renew attention.</a:t>
            </a:r>
          </a:p>
        </p:txBody>
      </p:sp>
      <p:sp>
        <p:nvSpPr>
          <p:cNvPr id="11" name="Rounded Rectangle 10"/>
          <p:cNvSpPr/>
          <p:nvPr/>
        </p:nvSpPr>
        <p:spPr>
          <a:xfrm>
            <a:off x="6273800" y="2514600"/>
            <a:ext cx="5334000" cy="3009900"/>
          </a:xfrm>
          <a:prstGeom prst="roundRect">
            <a:avLst>
              <a:gd name="adj" fmla="val 210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2819400"/>
            <a:ext cx="4762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19 JUN 2026</a:t>
            </a:r>
          </a:p>
        </p:txBody>
      </p:sp>
      <p:sp>
        <p:nvSpPr>
          <p:cNvPr id="13" name="TextBox 12"/>
          <p:cNvSpPr txBox="1"/>
          <p:nvPr/>
        </p:nvSpPr>
        <p:spPr>
          <a:xfrm>
            <a:off x="6565900" y="3340100"/>
            <a:ext cx="4762500" cy="597408"/>
          </a:xfrm>
          <a:prstGeom prst="rect">
            <a:avLst/>
          </a:prstGeom>
          <a:noFill/>
        </p:spPr>
        <p:txBody>
          <a:bodyPr wrap="none" lIns="0" rIns="0" tIns="0" bIns="0" anchor="t">
            <a:spAutoFit/>
          </a:bodyPr>
          <a:lstStyle/>
          <a:p>
            <a:pPr>
              <a:lnSpc>
                <a:spcPts val="3904"/>
              </a:lnSpc>
              <a:spcBef>
                <a:spcPts val="0"/>
              </a:spcBef>
              <a:spcAft>
                <a:spcPts val="0"/>
              </a:spcAft>
            </a:pPr>
            <a:r>
              <a:rPr sz="3200" b="1" i="0">
                <a:solidFill>
                  <a:srgbClr val="392C42"/>
                </a:solidFill>
                <a:latin typeface="Arial"/>
              </a:rPr>
              <a:t>Mega Plaza</a:t>
            </a:r>
          </a:p>
        </p:txBody>
      </p:sp>
      <p:sp>
        <p:nvSpPr>
          <p:cNvPr id="14" name="TextBox 13"/>
          <p:cNvSpPr txBox="1"/>
          <p:nvPr/>
        </p:nvSpPr>
        <p:spPr>
          <a:xfrm>
            <a:off x="6565900" y="4076700"/>
            <a:ext cx="4762500" cy="1130300"/>
          </a:xfrm>
          <a:prstGeom prst="rect">
            <a:avLst/>
          </a:prstGeom>
          <a:noFill/>
        </p:spPr>
        <p:txBody>
          <a:bodyPr wrap="none" lIns="0" rIns="0" tIns="0" bIns="0" anchor="t">
            <a:spAutoFit/>
          </a:bodyPr>
          <a:lstStyle/>
          <a:p>
            <a:pPr>
              <a:lnSpc>
                <a:spcPts val="2700"/>
              </a:lnSpc>
              <a:spcBef>
                <a:spcPts val="0"/>
              </a:spcBef>
              <a:spcAft>
                <a:spcPts val="0"/>
              </a:spcAft>
            </a:pPr>
            <a:r>
              <a:rPr sz="1800" b="0" i="0">
                <a:solidFill>
                  <a:srgbClr val="392C42"/>
                </a:solidFill>
                <a:latin typeface="Arial"/>
              </a:rPr>
              <a:t>A broader squishy revival was reported.</a:t>
            </a:r>
          </a:p>
          <a:p>
            <a:pPr>
              <a:lnSpc>
                <a:spcPts val="2700"/>
              </a:lnSpc>
              <a:spcBef>
                <a:spcPts val="0"/>
              </a:spcBef>
              <a:spcAft>
                <a:spcPts val="0"/>
              </a:spcAft>
            </a:pPr>
            <a:r>
              <a:rPr sz="1800" b="0" i="0">
                <a:solidFill>
                  <a:srgbClr val="392C42"/>
                </a:solidFill>
                <a:latin typeface="Arial"/>
              </a:rPr>
              <a:t>Observed customers were mainly</a:t>
            </a:r>
          </a:p>
          <a:p>
            <a:pPr>
              <a:lnSpc>
                <a:spcPts val="2700"/>
              </a:lnSpc>
              <a:spcBef>
                <a:spcPts val="0"/>
              </a:spcBef>
              <a:spcAft>
                <a:spcPts val="0"/>
              </a:spcAft>
            </a:pPr>
            <a:r>
              <a:rPr sz="1800" b="0" i="0">
                <a:solidFill>
                  <a:srgbClr val="392C42"/>
                </a:solidFill>
                <a:latin typeface="Arial"/>
              </a:rPr>
              <a:t>children and teenagers.</a:t>
            </a:r>
          </a:p>
        </p:txBody>
      </p:sp>
      <p:sp>
        <p:nvSpPr>
          <p:cNvPr id="15" name="TextBox 14"/>
          <p:cNvSpPr txBox="1"/>
          <p:nvPr/>
        </p:nvSpPr>
        <p:spPr>
          <a:xfrm>
            <a:off x="584200" y="58420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Two local reports. A reason to study the segment, not a market-size estimate.</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S1 / Thai PBS World · S2 / Thairath. June 2026 reporting does not prove continuing growth in October.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SPOT THE CHANGE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The toy is familiar.</a:t>
            </a:r>
          </a:p>
          <a:p>
            <a:pPr>
              <a:lnSpc>
                <a:spcPts val="3850"/>
              </a:lnSpc>
              <a:spcBef>
                <a:spcPts val="0"/>
              </a:spcBef>
              <a:spcAft>
                <a:spcPts val="0"/>
              </a:spcAft>
            </a:pPr>
            <a:r>
              <a:rPr sz="3500" b="1" i="0">
                <a:solidFill>
                  <a:srgbClr val="392C42"/>
                </a:solidFill>
                <a:latin typeface="Arial"/>
              </a:rPr>
              <a:t>The buyer’s situation has changed.</a:t>
            </a:r>
          </a:p>
        </p:txBody>
      </p:sp>
      <p:sp>
        <p:nvSpPr>
          <p:cNvPr id="7" name="Rounded Rectangle 6"/>
          <p:cNvSpPr/>
          <p:nvPr/>
        </p:nvSpPr>
        <p:spPr>
          <a:xfrm>
            <a:off x="584200" y="2717800"/>
            <a:ext cx="5334000" cy="2692400"/>
          </a:xfrm>
          <a:prstGeom prst="roundRect">
            <a:avLst>
              <a:gd name="adj" fmla="val 2358"/>
            </a:avLst>
          </a:prstGeom>
          <a:solidFill>
            <a:srgbClr val="C9E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THEN / A CHILDHOOD WISH</a:t>
            </a:r>
          </a:p>
        </p:txBody>
      </p:sp>
      <p:sp>
        <p:nvSpPr>
          <p:cNvPr id="9" name="TextBox 8"/>
          <p:cNvSpPr txBox="1"/>
          <p:nvPr/>
        </p:nvSpPr>
        <p:spPr>
          <a:xfrm>
            <a:off x="8763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wish out of reach.</a:t>
            </a:r>
          </a:p>
        </p:txBody>
      </p:sp>
      <p:sp>
        <p:nvSpPr>
          <p:cNvPr id="10" name="TextBox 9"/>
          <p:cNvSpPr txBox="1"/>
          <p:nvPr/>
        </p:nvSpPr>
        <p:spPr>
          <a:xfrm>
            <a:off x="8763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desired toy, without the money</a:t>
            </a:r>
          </a:p>
          <a:p>
            <a:pPr>
              <a:lnSpc>
                <a:spcPts val="2600"/>
              </a:lnSpc>
              <a:spcBef>
                <a:spcPts val="0"/>
              </a:spcBef>
              <a:spcAft>
                <a:spcPts val="0"/>
              </a:spcAft>
            </a:pPr>
            <a:r>
              <a:rPr sz="1800" b="0" i="0">
                <a:solidFill>
                  <a:srgbClr val="776C7B"/>
                </a:solidFill>
                <a:latin typeface="Arial"/>
              </a:rPr>
              <a:t>to choose it independently.</a:t>
            </a:r>
          </a:p>
        </p:txBody>
      </p:sp>
      <p:sp>
        <p:nvSpPr>
          <p:cNvPr id="11" name="Rounded Rectangle 10"/>
          <p:cNvSpPr/>
          <p:nvPr/>
        </p:nvSpPr>
        <p:spPr>
          <a:xfrm>
            <a:off x="6273800" y="27178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22600"/>
            <a:ext cx="4787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NOW / ADULT SPENDING POWER</a:t>
            </a:r>
          </a:p>
        </p:txBody>
      </p:sp>
      <p:sp>
        <p:nvSpPr>
          <p:cNvPr id="13" name="TextBox 12"/>
          <p:cNvSpPr txBox="1"/>
          <p:nvPr/>
        </p:nvSpPr>
        <p:spPr>
          <a:xfrm>
            <a:off x="6565900" y="3568700"/>
            <a:ext cx="47879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392C42"/>
                </a:solidFill>
                <a:latin typeface="Arial"/>
              </a:rPr>
              <a:t>A choice within reach.</a:t>
            </a:r>
          </a:p>
        </p:txBody>
      </p:sp>
      <p:sp>
        <p:nvSpPr>
          <p:cNvPr id="14" name="TextBox 13"/>
          <p:cNvSpPr txBox="1"/>
          <p:nvPr/>
        </p:nvSpPr>
        <p:spPr>
          <a:xfrm>
            <a:off x="6565900" y="4305300"/>
            <a:ext cx="4787900" cy="762000"/>
          </a:xfrm>
          <a:prstGeom prst="rect">
            <a:avLst/>
          </a:prstGeom>
          <a:noFill/>
        </p:spPr>
        <p:txBody>
          <a:bodyPr wrap="none" lIns="0" rIns="0" tIns="0" bIns="0" anchor="t">
            <a:spAutoFit/>
          </a:bodyPr>
          <a:lstStyle/>
          <a:p>
            <a:pPr>
              <a:lnSpc>
                <a:spcPts val="2600"/>
              </a:lnSpc>
              <a:spcBef>
                <a:spcPts val="0"/>
              </a:spcBef>
              <a:spcAft>
                <a:spcPts val="0"/>
              </a:spcAft>
            </a:pPr>
            <a:r>
              <a:rPr sz="1800" b="0" i="0">
                <a:solidFill>
                  <a:srgbClr val="776C7B"/>
                </a:solidFill>
                <a:latin typeface="Arial"/>
              </a:rPr>
              <a:t>A vendor described working adults</a:t>
            </a:r>
          </a:p>
          <a:p>
            <a:pPr>
              <a:lnSpc>
                <a:spcPts val="2600"/>
              </a:lnSpc>
              <a:spcBef>
                <a:spcPts val="0"/>
              </a:spcBef>
              <a:spcAft>
                <a:spcPts val="0"/>
              </a:spcAft>
            </a:pPr>
            <a:r>
              <a:rPr sz="1800" b="0" i="0">
                <a:solidFill>
                  <a:srgbClr val="776C7B"/>
                </a:solidFill>
                <a:latin typeface="Arial"/>
              </a:rPr>
              <a:t>returning to toys they once wanted.</a:t>
            </a:r>
          </a:p>
        </p:txBody>
      </p:sp>
      <p:sp>
        <p:nvSpPr>
          <p:cNvPr id="15" name="TextBox 14"/>
          <p:cNvSpPr txBox="1"/>
          <p:nvPr/>
        </p:nvSpPr>
        <p:spPr>
          <a:xfrm>
            <a:off x="596900" y="5791200"/>
            <a:ext cx="11010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776C7B"/>
                </a:solidFill>
                <a:latin typeface="Arial"/>
              </a:rPr>
              <a:t>The opportunity starts with a change in spending power, not a new type of toy.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Thai PBS World, 25 Jun 2026. Local reporting; adult market size and current growth remain unknown.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01 / ORIGINAL EVIDENCE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A promising signal.</a:t>
            </a:r>
          </a:p>
          <a:p>
            <a:pPr>
              <a:lnSpc>
                <a:spcPts val="4070"/>
              </a:lnSpc>
              <a:spcBef>
                <a:spcPts val="0"/>
              </a:spcBef>
              <a:spcAft>
                <a:spcPts val="0"/>
              </a:spcAft>
            </a:pPr>
            <a:r>
              <a:rPr sz="3700" b="1" i="0">
                <a:solidFill>
                  <a:srgbClr val="392C42"/>
                </a:solidFill>
                <a:latin typeface="Arial"/>
              </a:rPr>
              <a:t>An evidence gap to close.</a:t>
            </a:r>
          </a:p>
        </p:txBody>
      </p:sp>
      <p:sp>
        <p:nvSpPr>
          <p:cNvPr id="7" name="Rounded Rectangle 6"/>
          <p:cNvSpPr/>
          <p:nvPr/>
        </p:nvSpPr>
        <p:spPr>
          <a:xfrm>
            <a:off x="584200" y="2679700"/>
            <a:ext cx="4038600" cy="3200400"/>
          </a:xfrm>
          <a:prstGeom prst="roundRect">
            <a:avLst>
              <a:gd name="adj" fmla="val 1984"/>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900" y="2959100"/>
            <a:ext cx="3543300" cy="234950"/>
          </a:xfrm>
          <a:prstGeom prst="rect">
            <a:avLst/>
          </a:prstGeom>
          <a:noFill/>
        </p:spPr>
        <p:txBody>
          <a:bodyPr wrap="none" lIns="0" rIns="0" tIns="0" bIns="0" anchor="t">
            <a:spAutoFit/>
          </a:bodyPr>
          <a:lstStyle/>
          <a:p>
            <a:pPr>
              <a:lnSpc>
                <a:spcPts val="1050"/>
              </a:lnSpc>
              <a:spcBef>
                <a:spcPts val="0"/>
              </a:spcBef>
              <a:spcAft>
                <a:spcPts val="0"/>
              </a:spcAft>
            </a:pPr>
            <a:r>
              <a:rPr sz="700" b="0" i="0">
                <a:solidFill>
                  <a:srgbClr val="392C42"/>
                </a:solidFill>
                <a:latin typeface="Press Start 2P"/>
              </a:rPr>
              <a:t>WHAT THE SECOND REPORT FOUND</a:t>
            </a:r>
          </a:p>
        </p:txBody>
      </p:sp>
      <p:sp>
        <p:nvSpPr>
          <p:cNvPr id="9" name="TextBox 8"/>
          <p:cNvSpPr txBox="1"/>
          <p:nvPr/>
        </p:nvSpPr>
        <p:spPr>
          <a:xfrm>
            <a:off x="850900" y="3492500"/>
            <a:ext cx="3530600" cy="990600"/>
          </a:xfrm>
          <a:prstGeom prst="rect">
            <a:avLst/>
          </a:prstGeom>
          <a:noFill/>
        </p:spPr>
        <p:txBody>
          <a:bodyPr wrap="none" lIns="0" rIns="0" tIns="0" bIns="0" anchor="t">
            <a:spAutoFit/>
          </a:bodyPr>
          <a:lstStyle/>
          <a:p>
            <a:pPr>
              <a:lnSpc>
                <a:spcPts val="3500"/>
              </a:lnSpc>
              <a:spcBef>
                <a:spcPts val="0"/>
              </a:spcBef>
              <a:spcAft>
                <a:spcPts val="0"/>
              </a:spcAft>
            </a:pPr>
            <a:r>
              <a:rPr sz="2900" b="1" i="0">
                <a:solidFill>
                  <a:srgbClr val="392C42"/>
                </a:solidFill>
                <a:latin typeface="Arial"/>
              </a:rPr>
              <a:t>Mainly children</a:t>
            </a:r>
          </a:p>
          <a:p>
            <a:pPr>
              <a:lnSpc>
                <a:spcPts val="3500"/>
              </a:lnSpc>
              <a:spcBef>
                <a:spcPts val="0"/>
              </a:spcBef>
              <a:spcAft>
                <a:spcPts val="0"/>
              </a:spcAft>
            </a:pPr>
            <a:r>
              <a:rPr sz="2900" b="1" i="0">
                <a:solidFill>
                  <a:srgbClr val="392C42"/>
                </a:solidFill>
                <a:latin typeface="Arial"/>
              </a:rPr>
              <a:t>and teenagers.</a:t>
            </a:r>
          </a:p>
        </p:txBody>
      </p:sp>
      <p:sp>
        <p:nvSpPr>
          <p:cNvPr id="10" name="TextBox 9"/>
          <p:cNvSpPr txBox="1"/>
          <p:nvPr/>
        </p:nvSpPr>
        <p:spPr>
          <a:xfrm>
            <a:off x="850900" y="4660900"/>
            <a:ext cx="3517900" cy="10160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Thairath’s Mega Plaza visit does not</a:t>
            </a:r>
          </a:p>
          <a:p>
            <a:pPr>
              <a:lnSpc>
                <a:spcPts val="2400"/>
              </a:lnSpc>
              <a:spcBef>
                <a:spcPts val="0"/>
              </a:spcBef>
              <a:spcAft>
                <a:spcPts val="0"/>
              </a:spcAft>
            </a:pPr>
            <a:r>
              <a:rPr sz="1700" b="0" i="0">
                <a:solidFill>
                  <a:srgbClr val="776C7B"/>
                </a:solidFill>
                <a:latin typeface="Arial"/>
              </a:rPr>
              <a:t>independently establish adult</a:t>
            </a:r>
          </a:p>
          <a:p>
            <a:pPr>
              <a:lnSpc>
                <a:spcPts val="2400"/>
              </a:lnSpc>
              <a:spcBef>
                <a:spcPts val="0"/>
              </a:spcBef>
              <a:spcAft>
                <a:spcPts val="0"/>
              </a:spcAft>
            </a:pPr>
            <a:r>
              <a:rPr sz="1700" b="0" i="0">
                <a:solidFill>
                  <a:srgbClr val="776C7B"/>
                </a:solidFill>
                <a:latin typeface="Arial"/>
              </a:rPr>
              <a:t>demand.</a:t>
            </a:r>
          </a:p>
        </p:txBody>
      </p:sp>
      <p:sp>
        <p:nvSpPr>
          <p:cNvPr id="11" name="TextBox 10"/>
          <p:cNvSpPr txBox="1"/>
          <p:nvPr/>
        </p:nvSpPr>
        <p:spPr>
          <a:xfrm>
            <a:off x="5130800" y="2832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12" name="TextBox 11"/>
          <p:cNvSpPr txBox="1"/>
          <p:nvPr/>
        </p:nvSpPr>
        <p:spPr>
          <a:xfrm>
            <a:off x="5842000" y="2781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Confirm the buyer</a:t>
            </a:r>
          </a:p>
        </p:txBody>
      </p:sp>
      <p:sp>
        <p:nvSpPr>
          <p:cNvPr id="13" name="TextBox 12"/>
          <p:cNvSpPr txBox="1"/>
          <p:nvPr/>
        </p:nvSpPr>
        <p:spPr>
          <a:xfrm>
            <a:off x="5842000" y="32258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Working status, recent purchase and purpose.</a:t>
            </a:r>
          </a:p>
        </p:txBody>
      </p:sp>
      <p:cxnSp>
        <p:nvCxnSpPr>
          <p:cNvPr id="14" name="Connector 13"/>
          <p:cNvCxnSpPr/>
          <p:nvPr/>
        </p:nvCxnSpPr>
        <p:spPr>
          <a:xfrm>
            <a:off x="5130800" y="36576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130800" y="39116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6" name="TextBox 15"/>
          <p:cNvSpPr txBox="1"/>
          <p:nvPr/>
        </p:nvSpPr>
        <p:spPr>
          <a:xfrm>
            <a:off x="5842000" y="38608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Ask before the concept</a:t>
            </a:r>
          </a:p>
        </p:txBody>
      </p:sp>
      <p:sp>
        <p:nvSpPr>
          <p:cNvPr id="17" name="TextBox 16"/>
          <p:cNvSpPr txBox="1"/>
          <p:nvPr/>
        </p:nvSpPr>
        <p:spPr>
          <a:xfrm>
            <a:off x="5842000" y="43053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Memory and discovery, in the buyer’s words.</a:t>
            </a:r>
          </a:p>
        </p:txBody>
      </p:sp>
      <p:cxnSp>
        <p:nvCxnSpPr>
          <p:cNvPr id="18" name="Connector 17"/>
          <p:cNvCxnSpPr/>
          <p:nvPr/>
        </p:nvCxnSpPr>
        <p:spPr>
          <a:xfrm>
            <a:off x="5130800" y="47371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130800" y="4991100"/>
            <a:ext cx="5588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20" name="TextBox 19"/>
          <p:cNvSpPr txBox="1"/>
          <p:nvPr/>
        </p:nvSpPr>
        <p:spPr>
          <a:xfrm>
            <a:off x="5842000" y="4940300"/>
            <a:ext cx="57785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Keep the evidence</a:t>
            </a:r>
          </a:p>
        </p:txBody>
      </p:sp>
      <p:sp>
        <p:nvSpPr>
          <p:cNvPr id="21" name="TextBox 20"/>
          <p:cNvSpPr txBox="1"/>
          <p:nvPr/>
        </p:nvSpPr>
        <p:spPr>
          <a:xfrm>
            <a:off x="5842000" y="5384800"/>
            <a:ext cx="57785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Date, sample size, photo and a consented quote.</a:t>
            </a:r>
          </a:p>
        </p:txBody>
      </p:sp>
      <p:cxnSp>
        <p:nvCxnSpPr>
          <p:cNvPr id="22" name="Connector 21"/>
          <p:cNvCxnSpPr/>
          <p:nvPr/>
        </p:nvCxnSpPr>
        <p:spPr>
          <a:xfrm>
            <a:off x="5130800" y="5816600"/>
            <a:ext cx="64770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S2 / Original fieldwork is pending. Replace this research plan with your own findings before submission.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PROPOSED TARGET CUSTOMER</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3246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Design for a specific buyer.</a:t>
            </a:r>
          </a:p>
        </p:txBody>
      </p:sp>
      <p:sp>
        <p:nvSpPr>
          <p:cNvPr id="7" name="Rounded Rectangle 6"/>
          <p:cNvSpPr/>
          <p:nvPr/>
        </p:nvSpPr>
        <p:spPr>
          <a:xfrm>
            <a:off x="584200" y="2476500"/>
            <a:ext cx="4152900" cy="3467100"/>
          </a:xfrm>
          <a:prstGeom prst="roundRect">
            <a:avLst>
              <a:gd name="adj" fmla="val 1831"/>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2781300"/>
            <a:ext cx="3594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TARGET TO TEST</a:t>
            </a:r>
          </a:p>
        </p:txBody>
      </p:sp>
      <p:sp>
        <p:nvSpPr>
          <p:cNvPr id="9" name="TextBox 8"/>
          <p:cNvSpPr txBox="1"/>
          <p:nvPr/>
        </p:nvSpPr>
        <p:spPr>
          <a:xfrm>
            <a:off x="876300" y="3390900"/>
            <a:ext cx="3594100" cy="1117600"/>
          </a:xfrm>
          <a:prstGeom prst="rect">
            <a:avLst/>
          </a:prstGeom>
          <a:noFill/>
        </p:spPr>
        <p:txBody>
          <a:bodyPr wrap="none" lIns="0" rIns="0" tIns="0" bIns="0" anchor="t">
            <a:spAutoFit/>
          </a:bodyPr>
          <a:lstStyle/>
          <a:p>
            <a:pPr>
              <a:lnSpc>
                <a:spcPts val="4000"/>
              </a:lnSpc>
              <a:spcBef>
                <a:spcPts val="0"/>
              </a:spcBef>
              <a:spcAft>
                <a:spcPts val="0"/>
              </a:spcAft>
            </a:pPr>
            <a:r>
              <a:rPr sz="3400" b="1" i="0">
                <a:solidFill>
                  <a:srgbClr val="FFFAF2"/>
                </a:solidFill>
                <a:latin typeface="Arial"/>
              </a:rPr>
              <a:t>Early-career</a:t>
            </a:r>
          </a:p>
          <a:p>
            <a:pPr>
              <a:lnSpc>
                <a:spcPts val="4000"/>
              </a:lnSpc>
              <a:spcBef>
                <a:spcPts val="0"/>
              </a:spcBef>
              <a:spcAft>
                <a:spcPts val="0"/>
              </a:spcAft>
            </a:pPr>
            <a:r>
              <a:rPr sz="3400" b="1" i="0">
                <a:solidFill>
                  <a:srgbClr val="FFFAF2"/>
                </a:solidFill>
                <a:latin typeface="Arial"/>
              </a:rPr>
              <a:t>Thai adults.</a:t>
            </a:r>
          </a:p>
        </p:txBody>
      </p:sp>
      <p:sp>
        <p:nvSpPr>
          <p:cNvPr id="10" name="TextBox 9"/>
          <p:cNvSpPr txBox="1"/>
          <p:nvPr/>
        </p:nvSpPr>
        <p:spPr>
          <a:xfrm>
            <a:off x="876300" y="4686300"/>
            <a:ext cx="3594100" cy="1054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D8CBDD"/>
                </a:solidFill>
                <a:latin typeface="Arial"/>
              </a:rPr>
              <a:t>Currently working.</a:t>
            </a:r>
          </a:p>
          <a:p>
            <a:pPr>
              <a:lnSpc>
                <a:spcPts val="2500"/>
              </a:lnSpc>
              <a:spcBef>
                <a:spcPts val="0"/>
              </a:spcBef>
              <a:spcAft>
                <a:spcPts val="0"/>
              </a:spcAft>
            </a:pPr>
            <a:r>
              <a:rPr sz="1800" b="0" i="0">
                <a:solidFill>
                  <a:srgbClr val="D8CBDD"/>
                </a:solidFill>
                <a:latin typeface="Arial"/>
              </a:rPr>
              <a:t>Buying for their own use,</a:t>
            </a:r>
          </a:p>
          <a:p>
            <a:pPr>
              <a:lnSpc>
                <a:spcPts val="2500"/>
              </a:lnSpc>
              <a:spcBef>
                <a:spcPts val="0"/>
              </a:spcBef>
              <a:spcAft>
                <a:spcPts val="0"/>
              </a:spcAft>
            </a:pPr>
            <a:r>
              <a:rPr sz="1800" b="0" i="0">
                <a:solidFill>
                  <a:srgbClr val="D8CBDD"/>
                </a:solidFill>
                <a:latin typeface="Arial"/>
              </a:rPr>
              <a:t>enjoyment or collection.</a:t>
            </a:r>
          </a:p>
        </p:txBody>
      </p:sp>
      <p:sp>
        <p:nvSpPr>
          <p:cNvPr id="11" name="TextBox 10"/>
          <p:cNvSpPr txBox="1"/>
          <p:nvPr/>
        </p:nvSpPr>
        <p:spPr>
          <a:xfrm>
            <a:off x="5308600" y="26289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Buying context</a:t>
            </a:r>
          </a:p>
        </p:txBody>
      </p:sp>
      <p:sp>
        <p:nvSpPr>
          <p:cNvPr id="12" name="TextBox 11"/>
          <p:cNvSpPr txBox="1"/>
          <p:nvPr/>
        </p:nvSpPr>
        <p:spPr>
          <a:xfrm>
            <a:off x="5308600" y="31115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Their own disposable income and personal choice.</a:t>
            </a:r>
          </a:p>
        </p:txBody>
      </p:sp>
      <p:cxnSp>
        <p:nvCxnSpPr>
          <p:cNvPr id="13" name="Connector 12"/>
          <p:cNvCxnSpPr/>
          <p:nvPr/>
        </p:nvCxnSpPr>
        <p:spPr>
          <a:xfrm>
            <a:off x="5308600" y="35433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308600" y="37338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Desired relevance</a:t>
            </a:r>
          </a:p>
        </p:txBody>
      </p:sp>
      <p:sp>
        <p:nvSpPr>
          <p:cNvPr id="15" name="TextBox 14"/>
          <p:cNvSpPr txBox="1"/>
          <p:nvPr/>
        </p:nvSpPr>
        <p:spPr>
          <a:xfrm>
            <a:off x="5308600" y="42164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childhood reference that feels personally meaningful.</a:t>
            </a:r>
          </a:p>
        </p:txBody>
      </p:sp>
      <p:cxnSp>
        <p:nvCxnSpPr>
          <p:cNvPr id="16" name="Connector 15"/>
          <p:cNvCxnSpPr/>
          <p:nvPr/>
        </p:nvCxnSpPr>
        <p:spPr>
          <a:xfrm>
            <a:off x="5308600" y="46482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308600" y="4838700"/>
            <a:ext cx="63119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Use context</a:t>
            </a:r>
          </a:p>
        </p:txBody>
      </p:sp>
      <p:sp>
        <p:nvSpPr>
          <p:cNvPr id="18" name="TextBox 17"/>
          <p:cNvSpPr txBox="1"/>
          <p:nvPr/>
        </p:nvSpPr>
        <p:spPr>
          <a:xfrm>
            <a:off x="5308600" y="5321300"/>
            <a:ext cx="6311900" cy="4191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776C7B"/>
                </a:solidFill>
                <a:latin typeface="Arial"/>
              </a:rPr>
              <a:t>A small object for a desk, display or everyday break.</a:t>
            </a:r>
          </a:p>
        </p:txBody>
      </p:sp>
      <p:cxnSp>
        <p:nvCxnSpPr>
          <p:cNvPr id="19" name="Connector 18"/>
          <p:cNvCxnSpPr/>
          <p:nvPr/>
        </p:nvCxnSpPr>
        <p:spPr>
          <a:xfrm>
            <a:off x="5308600" y="5753100"/>
            <a:ext cx="6299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Proposed audience and use cases. Confirm working status, purchase purpose and real preferences in fieldwork.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02 / EMOTIONAL MOTIVATION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06</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19200"/>
            <a:ext cx="10820400" cy="1346200"/>
          </a:xfrm>
          <a:prstGeom prst="rect">
            <a:avLst/>
          </a:prstGeom>
          <a:noFill/>
        </p:spPr>
        <p:txBody>
          <a:bodyPr wrap="none" lIns="0" rIns="0" tIns="0" bIns="0" anchor="t">
            <a:spAutoFit/>
          </a:bodyPr>
          <a:lstStyle/>
          <a:p>
            <a:pPr>
              <a:lnSpc>
                <a:spcPts val="4900"/>
              </a:lnSpc>
              <a:spcBef>
                <a:spcPts val="0"/>
              </a:spcBef>
              <a:spcAft>
                <a:spcPts val="0"/>
              </a:spcAft>
            </a:pPr>
            <a:r>
              <a:rPr sz="4400" b="1" i="0">
                <a:solidFill>
                  <a:srgbClr val="FFFAF2"/>
                </a:solidFill>
                <a:latin typeface="Arial"/>
              </a:rPr>
              <a:t>Memory can change</a:t>
            </a:r>
          </a:p>
          <a:p>
            <a:pPr>
              <a:lnSpc>
                <a:spcPts val="4900"/>
              </a:lnSpc>
              <a:spcBef>
                <a:spcPts val="0"/>
              </a:spcBef>
              <a:spcAft>
                <a:spcPts val="0"/>
              </a:spcAft>
            </a:pPr>
            <a:r>
              <a:rPr sz="4400" b="1" i="0">
                <a:solidFill>
                  <a:srgbClr val="FFFAF2"/>
                </a:solidFill>
                <a:latin typeface="Arial"/>
              </a:rPr>
              <a:t>what a toy is worth.</a:t>
            </a:r>
          </a:p>
        </p:txBody>
      </p:sp>
      <p:sp>
        <p:nvSpPr>
          <p:cNvPr id="7" name="TextBox 6"/>
          <p:cNvSpPr txBox="1"/>
          <p:nvPr/>
        </p:nvSpPr>
        <p:spPr>
          <a:xfrm>
            <a:off x="5842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8" name="TextBox 7"/>
          <p:cNvSpPr txBox="1"/>
          <p:nvPr/>
        </p:nvSpPr>
        <p:spPr>
          <a:xfrm>
            <a:off x="5842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Memory</a:t>
            </a:r>
          </a:p>
        </p:txBody>
      </p:sp>
      <p:sp>
        <p:nvSpPr>
          <p:cNvPr id="9" name="TextBox 8"/>
          <p:cNvSpPr txBox="1"/>
          <p:nvPr/>
        </p:nvSpPr>
        <p:spPr>
          <a:xfrm>
            <a:off x="5842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 familiar object carries</a:t>
            </a:r>
          </a:p>
          <a:p>
            <a:pPr>
              <a:lnSpc>
                <a:spcPts val="2700"/>
              </a:lnSpc>
              <a:spcBef>
                <a:spcPts val="0"/>
              </a:spcBef>
              <a:spcAft>
                <a:spcPts val="0"/>
              </a:spcAft>
            </a:pPr>
            <a:r>
              <a:rPr sz="1900" b="0" i="0">
                <a:solidFill>
                  <a:srgbClr val="D8CBDD"/>
                </a:solidFill>
                <a:latin typeface="Arial"/>
              </a:rPr>
              <a:t>personal meaning.</a:t>
            </a:r>
          </a:p>
        </p:txBody>
      </p:sp>
      <p:sp>
        <p:nvSpPr>
          <p:cNvPr id="10" name="TextBox 9"/>
          <p:cNvSpPr txBox="1"/>
          <p:nvPr/>
        </p:nvSpPr>
        <p:spPr>
          <a:xfrm>
            <a:off x="43688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1" name="TextBox 10"/>
          <p:cNvSpPr txBox="1"/>
          <p:nvPr/>
        </p:nvSpPr>
        <p:spPr>
          <a:xfrm>
            <a:off x="43688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Enjoyment</a:t>
            </a:r>
          </a:p>
        </p:txBody>
      </p:sp>
      <p:sp>
        <p:nvSpPr>
          <p:cNvPr id="12" name="TextBox 11"/>
          <p:cNvSpPr txBox="1"/>
          <p:nvPr/>
        </p:nvSpPr>
        <p:spPr>
          <a:xfrm>
            <a:off x="43688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The sensory experience</a:t>
            </a:r>
          </a:p>
          <a:p>
            <a:pPr>
              <a:lnSpc>
                <a:spcPts val="2700"/>
              </a:lnSpc>
              <a:spcBef>
                <a:spcPts val="0"/>
              </a:spcBef>
              <a:spcAft>
                <a:spcPts val="0"/>
              </a:spcAft>
            </a:pPr>
            <a:r>
              <a:rPr sz="1900" b="0" i="0">
                <a:solidFill>
                  <a:srgbClr val="D8CBDD"/>
                </a:solidFill>
                <a:latin typeface="Arial"/>
              </a:rPr>
              <a:t>is part of the appeal.</a:t>
            </a:r>
          </a:p>
        </p:txBody>
      </p:sp>
      <p:sp>
        <p:nvSpPr>
          <p:cNvPr id="13" name="TextBox 12"/>
          <p:cNvSpPr txBox="1"/>
          <p:nvPr/>
        </p:nvSpPr>
        <p:spPr>
          <a:xfrm>
            <a:off x="8153400" y="3390900"/>
            <a:ext cx="10414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4" name="TextBox 13"/>
          <p:cNvSpPr txBox="1"/>
          <p:nvPr/>
        </p:nvSpPr>
        <p:spPr>
          <a:xfrm>
            <a:off x="8153400" y="3860800"/>
            <a:ext cx="3416300" cy="566420"/>
          </a:xfrm>
          <a:prstGeom prst="rect">
            <a:avLst/>
          </a:prstGeom>
          <a:noFill/>
        </p:spPr>
        <p:txBody>
          <a:bodyPr wrap="none" lIns="0" rIns="0" tIns="0" bIns="0" anchor="t">
            <a:spAutoFit/>
          </a:bodyPr>
          <a:lstStyle/>
          <a:p>
            <a:pPr>
              <a:lnSpc>
                <a:spcPts val="3660"/>
              </a:lnSpc>
              <a:spcBef>
                <a:spcPts val="0"/>
              </a:spcBef>
              <a:spcAft>
                <a:spcPts val="0"/>
              </a:spcAft>
            </a:pPr>
            <a:r>
              <a:rPr sz="3000" b="1" i="0">
                <a:solidFill>
                  <a:srgbClr val="FFFAF2"/>
                </a:solidFill>
                <a:latin typeface="Arial"/>
              </a:rPr>
              <a:t>Choice</a:t>
            </a:r>
          </a:p>
        </p:txBody>
      </p:sp>
      <p:sp>
        <p:nvSpPr>
          <p:cNvPr id="15" name="TextBox 14"/>
          <p:cNvSpPr txBox="1"/>
          <p:nvPr/>
        </p:nvSpPr>
        <p:spPr>
          <a:xfrm>
            <a:off x="8153400" y="4521200"/>
            <a:ext cx="3416300" cy="787400"/>
          </a:xfrm>
          <a:prstGeom prst="rect">
            <a:avLst/>
          </a:prstGeom>
          <a:noFill/>
        </p:spPr>
        <p:txBody>
          <a:bodyPr wrap="none" lIns="0" rIns="0" tIns="0" bIns="0" anchor="t">
            <a:spAutoFit/>
          </a:bodyPr>
          <a:lstStyle/>
          <a:p>
            <a:pPr>
              <a:lnSpc>
                <a:spcPts val="2700"/>
              </a:lnSpc>
              <a:spcBef>
                <a:spcPts val="0"/>
              </a:spcBef>
              <a:spcAft>
                <a:spcPts val="0"/>
              </a:spcAft>
            </a:pPr>
            <a:r>
              <a:rPr sz="1900" b="0" i="0">
                <a:solidFill>
                  <a:srgbClr val="D8CBDD"/>
                </a:solidFill>
                <a:latin typeface="Arial"/>
              </a:rPr>
              <a:t>Adult income creates</a:t>
            </a:r>
          </a:p>
          <a:p>
            <a:pPr>
              <a:lnSpc>
                <a:spcPts val="2700"/>
              </a:lnSpc>
              <a:spcBef>
                <a:spcPts val="0"/>
              </a:spcBef>
              <a:spcAft>
                <a:spcPts val="0"/>
              </a:spcAft>
            </a:pPr>
            <a:r>
              <a:rPr sz="1900" b="0" i="0">
                <a:solidFill>
                  <a:srgbClr val="D8CBDD"/>
                </a:solidFill>
                <a:latin typeface="Arial"/>
              </a:rPr>
              <a:t>room for personal choice.</a:t>
            </a:r>
          </a:p>
        </p:txBody>
      </p:sp>
      <p:cxnSp>
        <p:nvCxnSpPr>
          <p:cNvPr id="16" name="Connector 15"/>
          <p:cNvCxnSpPr/>
          <p:nvPr/>
        </p:nvCxnSpPr>
        <p:spPr>
          <a:xfrm>
            <a:off x="584200" y="5499100"/>
            <a:ext cx="110236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57277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FFFAF2"/>
                </a:solidFill>
                <a:latin typeface="Arial"/>
              </a:rPr>
              <a:t>Hypothesis: a meaningful design could increase preference. Test it with buyers.</a:t>
            </a:r>
          </a:p>
        </p:txBody>
      </p:sp>
      <p:cxnSp>
        <p:nvCxnSpPr>
          <p:cNvPr id="18" name="Connector 17"/>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hlinkClick r:id="rId2"/>
              </a:rPr>
              <a:t>S1 / Interpretation of the reported adult-return account. No medical benefit or price premium is established.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02 / SOCIAL INFLUENCE</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07</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07950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Discovery gets attention.</a:t>
            </a:r>
          </a:p>
          <a:p>
            <a:pPr>
              <a:lnSpc>
                <a:spcPts val="3850"/>
              </a:lnSpc>
              <a:spcBef>
                <a:spcPts val="0"/>
              </a:spcBef>
              <a:spcAft>
                <a:spcPts val="0"/>
              </a:spcAft>
            </a:pPr>
            <a:r>
              <a:rPr sz="3500" b="1" i="0">
                <a:solidFill>
                  <a:srgbClr val="392C42"/>
                </a:solidFill>
                <a:latin typeface="Arial"/>
              </a:rPr>
              <a:t>Meaning may explain the purchase.</a:t>
            </a:r>
          </a:p>
        </p:txBody>
      </p:sp>
      <p:sp>
        <p:nvSpPr>
          <p:cNvPr id="7" name="Rounded Rectangle 6"/>
          <p:cNvSpPr/>
          <p:nvPr/>
        </p:nvSpPr>
        <p:spPr>
          <a:xfrm>
            <a:off x="584200" y="2819400"/>
            <a:ext cx="3454400" cy="2578100"/>
          </a:xfrm>
          <a:prstGeom prst="roundRect">
            <a:avLst>
              <a:gd name="adj" fmla="val 2463"/>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REPORTED</a:t>
            </a:r>
          </a:p>
        </p:txBody>
      </p:sp>
      <p:sp>
        <p:nvSpPr>
          <p:cNvPr id="9" name="TextBox 8"/>
          <p:cNvSpPr txBox="1"/>
          <p:nvPr/>
        </p:nvSpPr>
        <p:spPr>
          <a:xfrm>
            <a:off x="8382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See it.</a:t>
            </a:r>
          </a:p>
        </p:txBody>
      </p:sp>
      <p:sp>
        <p:nvSpPr>
          <p:cNvPr id="10" name="TextBox 9"/>
          <p:cNvSpPr txBox="1"/>
          <p:nvPr/>
        </p:nvSpPr>
        <p:spPr>
          <a:xfrm>
            <a:off x="8382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Influencer and celebrity reviews</a:t>
            </a:r>
          </a:p>
          <a:p>
            <a:pPr>
              <a:lnSpc>
                <a:spcPts val="2300"/>
              </a:lnSpc>
              <a:spcBef>
                <a:spcPts val="0"/>
              </a:spcBef>
              <a:spcAft>
                <a:spcPts val="0"/>
              </a:spcAft>
            </a:pPr>
            <a:r>
              <a:rPr sz="1600" b="0" i="0">
                <a:solidFill>
                  <a:srgbClr val="392C42"/>
                </a:solidFill>
                <a:latin typeface="Arial"/>
              </a:rPr>
              <a:t>bring the toys back into view.</a:t>
            </a:r>
          </a:p>
        </p:txBody>
      </p:sp>
      <p:sp>
        <p:nvSpPr>
          <p:cNvPr id="11" name="Rounded Rectangle 10"/>
          <p:cNvSpPr/>
          <p:nvPr/>
        </p:nvSpPr>
        <p:spPr>
          <a:xfrm>
            <a:off x="4368800" y="2819400"/>
            <a:ext cx="3454400" cy="2578100"/>
          </a:xfrm>
          <a:prstGeom prst="roundRect">
            <a:avLst>
              <a:gd name="adj" fmla="val 2463"/>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INTERPRETATION</a:t>
            </a:r>
          </a:p>
        </p:txBody>
      </p:sp>
      <p:sp>
        <p:nvSpPr>
          <p:cNvPr id="13" name="TextBox 12"/>
          <p:cNvSpPr txBox="1"/>
          <p:nvPr/>
        </p:nvSpPr>
        <p:spPr>
          <a:xfrm>
            <a:off x="46228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Relate to it.</a:t>
            </a:r>
          </a:p>
        </p:txBody>
      </p:sp>
      <p:sp>
        <p:nvSpPr>
          <p:cNvPr id="14" name="TextBox 13"/>
          <p:cNvSpPr txBox="1"/>
          <p:nvPr/>
        </p:nvSpPr>
        <p:spPr>
          <a:xfrm>
            <a:off x="46228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Adult enjoyment may make</a:t>
            </a:r>
          </a:p>
          <a:p>
            <a:pPr>
              <a:lnSpc>
                <a:spcPts val="2300"/>
              </a:lnSpc>
              <a:spcBef>
                <a:spcPts val="0"/>
              </a:spcBef>
              <a:spcAft>
                <a:spcPts val="0"/>
              </a:spcAft>
            </a:pPr>
            <a:r>
              <a:rPr sz="1600" b="0" i="0">
                <a:solidFill>
                  <a:srgbClr val="392C42"/>
                </a:solidFill>
                <a:latin typeface="Arial"/>
              </a:rPr>
              <a:t>the purchase feel acceptable.</a:t>
            </a:r>
          </a:p>
        </p:txBody>
      </p:sp>
      <p:sp>
        <p:nvSpPr>
          <p:cNvPr id="15" name="Rounded Rectangle 14"/>
          <p:cNvSpPr/>
          <p:nvPr/>
        </p:nvSpPr>
        <p:spPr>
          <a:xfrm>
            <a:off x="8153400" y="2819400"/>
            <a:ext cx="3454400" cy="2578100"/>
          </a:xfrm>
          <a:prstGeom prst="roundRect">
            <a:avLst>
              <a:gd name="adj" fmla="val 2463"/>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124200"/>
            <a:ext cx="2984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STILL TO TEST</a:t>
            </a:r>
          </a:p>
        </p:txBody>
      </p:sp>
      <p:sp>
        <p:nvSpPr>
          <p:cNvPr id="17" name="TextBox 16"/>
          <p:cNvSpPr txBox="1"/>
          <p:nvPr/>
        </p:nvSpPr>
        <p:spPr>
          <a:xfrm>
            <a:off x="8407400" y="3708400"/>
            <a:ext cx="2984500" cy="581914"/>
          </a:xfrm>
          <a:prstGeom prst="rect">
            <a:avLst/>
          </a:prstGeom>
          <a:noFill/>
        </p:spPr>
        <p:txBody>
          <a:bodyPr wrap="none" lIns="0" rIns="0" tIns="0" bIns="0" anchor="t">
            <a:spAutoFit/>
          </a:bodyPr>
          <a:lstStyle/>
          <a:p>
            <a:pPr>
              <a:lnSpc>
                <a:spcPts val="3782"/>
              </a:lnSpc>
              <a:spcBef>
                <a:spcPts val="0"/>
              </a:spcBef>
              <a:spcAft>
                <a:spcPts val="0"/>
              </a:spcAft>
            </a:pPr>
            <a:r>
              <a:rPr sz="3100" b="1" i="0">
                <a:solidFill>
                  <a:srgbClr val="392C42"/>
                </a:solidFill>
                <a:latin typeface="Arial"/>
              </a:rPr>
              <a:t>Choose it.</a:t>
            </a:r>
          </a:p>
        </p:txBody>
      </p:sp>
      <p:sp>
        <p:nvSpPr>
          <p:cNvPr id="18" name="TextBox 17"/>
          <p:cNvSpPr txBox="1"/>
          <p:nvPr/>
        </p:nvSpPr>
        <p:spPr>
          <a:xfrm>
            <a:off x="8407400" y="4470400"/>
            <a:ext cx="29845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392C42"/>
                </a:solidFill>
                <a:latin typeface="Arial"/>
              </a:rPr>
              <a:t>Interest needs to survive</a:t>
            </a:r>
          </a:p>
          <a:p>
            <a:pPr>
              <a:lnSpc>
                <a:spcPts val="2300"/>
              </a:lnSpc>
              <a:spcBef>
                <a:spcPts val="0"/>
              </a:spcBef>
              <a:spcAft>
                <a:spcPts val="0"/>
              </a:spcAft>
            </a:pPr>
            <a:r>
              <a:rPr sz="1600" b="0" i="0">
                <a:solidFill>
                  <a:srgbClr val="392C42"/>
                </a:solidFill>
                <a:latin typeface="Arial"/>
              </a:rPr>
              <a:t>a real product and price.</a:t>
            </a:r>
          </a:p>
        </p:txBody>
      </p:sp>
      <p:sp>
        <p:nvSpPr>
          <p:cNvPr id="19" name="TextBox 18"/>
          <p:cNvSpPr txBox="1"/>
          <p:nvPr/>
        </p:nvSpPr>
        <p:spPr>
          <a:xfrm>
            <a:off x="40894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0" name="TextBox 19"/>
          <p:cNvSpPr txBox="1"/>
          <p:nvPr/>
        </p:nvSpPr>
        <p:spPr>
          <a:xfrm>
            <a:off x="7874000" y="3937000"/>
            <a:ext cx="304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a:t>
            </a:r>
          </a:p>
        </p:txBody>
      </p:sp>
      <p:sp>
        <p:nvSpPr>
          <p:cNvPr id="21" name="TextBox 20"/>
          <p:cNvSpPr txBox="1"/>
          <p:nvPr/>
        </p:nvSpPr>
        <p:spPr>
          <a:xfrm>
            <a:off x="584200" y="57912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776C7B"/>
                </a:solidFill>
                <a:latin typeface="Arial"/>
              </a:rPr>
              <a:t>Demo votes measure engagement. A real purchase test still needs to follow.</a:t>
            </a:r>
          </a:p>
        </p:txBody>
      </p: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S1 / Reported social discovery supports the first stage. The remaining stages are hypotheses to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03 / VALUE PROPOSITION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08</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257300"/>
            <a:ext cx="109474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D9CDF2"/>
                </a:solidFill>
                <a:latin typeface="Press Start 2P"/>
              </a:rPr>
              <a:t>THE CUSTOMER JOB / HYPOTHESIS</a:t>
            </a:r>
          </a:p>
        </p:txBody>
      </p:sp>
      <p:sp>
        <p:nvSpPr>
          <p:cNvPr id="7" name="TextBox 6"/>
          <p:cNvSpPr txBox="1"/>
          <p:nvPr/>
        </p:nvSpPr>
        <p:spPr>
          <a:xfrm>
            <a:off x="584200" y="1866900"/>
            <a:ext cx="10998200" cy="1498600"/>
          </a:xfrm>
          <a:prstGeom prst="rect">
            <a:avLst/>
          </a:prstGeom>
          <a:noFill/>
        </p:spPr>
        <p:txBody>
          <a:bodyPr wrap="none" lIns="0" rIns="0" tIns="0" bIns="0" anchor="t">
            <a:spAutoFit/>
          </a:bodyPr>
          <a:lstStyle/>
          <a:p>
            <a:pPr>
              <a:lnSpc>
                <a:spcPts val="5500"/>
              </a:lnSpc>
              <a:spcBef>
                <a:spcPts val="0"/>
              </a:spcBef>
              <a:spcAft>
                <a:spcPts val="0"/>
              </a:spcAft>
            </a:pPr>
            <a:r>
              <a:rPr sz="4800" b="1" i="0">
                <a:solidFill>
                  <a:srgbClr val="FFFAF2"/>
                </a:solidFill>
                <a:latin typeface="Arial"/>
              </a:rPr>
              <a:t>Bring a familiar memory</a:t>
            </a:r>
          </a:p>
          <a:p>
            <a:pPr>
              <a:lnSpc>
                <a:spcPts val="5500"/>
              </a:lnSpc>
              <a:spcBef>
                <a:spcPts val="0"/>
              </a:spcBef>
              <a:spcAft>
                <a:spcPts val="0"/>
              </a:spcAft>
            </a:pPr>
            <a:r>
              <a:rPr sz="4800" b="1" i="0">
                <a:solidFill>
                  <a:srgbClr val="FFFAF2"/>
                </a:solidFill>
                <a:latin typeface="Arial"/>
              </a:rPr>
              <a:t>into my everyday life.</a:t>
            </a:r>
          </a:p>
        </p:txBody>
      </p:sp>
      <p:sp>
        <p:nvSpPr>
          <p:cNvPr id="8" name="Rectangle 7"/>
          <p:cNvSpPr/>
          <p:nvPr/>
        </p:nvSpPr>
        <p:spPr>
          <a:xfrm>
            <a:off x="584200" y="4178300"/>
            <a:ext cx="3454400" cy="63500"/>
          </a:xfrm>
          <a:prstGeom prst="rect">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42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Meaning</a:t>
            </a:r>
          </a:p>
        </p:txBody>
      </p:sp>
      <p:sp>
        <p:nvSpPr>
          <p:cNvPr id="10" name="TextBox 9"/>
          <p:cNvSpPr txBox="1"/>
          <p:nvPr/>
        </p:nvSpPr>
        <p:spPr>
          <a:xfrm>
            <a:off x="5842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reference I recognise.</a:t>
            </a:r>
          </a:p>
        </p:txBody>
      </p:sp>
      <p:sp>
        <p:nvSpPr>
          <p:cNvPr id="11" name="Rectangle 10"/>
          <p:cNvSpPr/>
          <p:nvPr/>
        </p:nvSpPr>
        <p:spPr>
          <a:xfrm>
            <a:off x="4368800" y="4178300"/>
            <a:ext cx="3454400" cy="63500"/>
          </a:xfrm>
          <a:prstGeom prst="rect">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688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Choice</a:t>
            </a:r>
          </a:p>
        </p:txBody>
      </p:sp>
      <p:sp>
        <p:nvSpPr>
          <p:cNvPr id="13" name="TextBox 12"/>
          <p:cNvSpPr txBox="1"/>
          <p:nvPr/>
        </p:nvSpPr>
        <p:spPr>
          <a:xfrm>
            <a:off x="43688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Details I can make my own.</a:t>
            </a:r>
          </a:p>
        </p:txBody>
      </p:sp>
      <p:sp>
        <p:nvSpPr>
          <p:cNvPr id="14" name="Rectangle 13"/>
          <p:cNvSpPr/>
          <p:nvPr/>
        </p:nvSpPr>
        <p:spPr>
          <a:xfrm>
            <a:off x="8153400" y="4178300"/>
            <a:ext cx="3454400" cy="63500"/>
          </a:xfrm>
          <a:prstGeom prst="rect">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53400" y="4508500"/>
            <a:ext cx="3479800" cy="519938"/>
          </a:xfrm>
          <a:prstGeom prst="rect">
            <a:avLst/>
          </a:prstGeom>
          <a:noFill/>
        </p:spPr>
        <p:txBody>
          <a:bodyPr wrap="none" lIns="0" rIns="0" tIns="0" bIns="0" anchor="t">
            <a:spAutoFit/>
          </a:bodyPr>
          <a:lstStyle/>
          <a:p>
            <a:pPr>
              <a:lnSpc>
                <a:spcPts val="3294"/>
              </a:lnSpc>
              <a:spcBef>
                <a:spcPts val="0"/>
              </a:spcBef>
              <a:spcAft>
                <a:spcPts val="0"/>
              </a:spcAft>
            </a:pPr>
            <a:r>
              <a:rPr sz="2700" b="1" i="0">
                <a:solidFill>
                  <a:srgbClr val="FFFAF2"/>
                </a:solidFill>
                <a:latin typeface="Arial"/>
              </a:rPr>
              <a:t>Confidence</a:t>
            </a:r>
          </a:p>
        </p:txBody>
      </p:sp>
      <p:sp>
        <p:nvSpPr>
          <p:cNvPr id="16" name="TextBox 15"/>
          <p:cNvSpPr txBox="1"/>
          <p:nvPr/>
        </p:nvSpPr>
        <p:spPr>
          <a:xfrm>
            <a:off x="8153400" y="5105400"/>
            <a:ext cx="34798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 clear sample, price and terms.</a:t>
            </a:r>
          </a:p>
        </p:txBody>
      </p:sp>
      <p:cxnSp>
        <p:nvCxnSpPr>
          <p:cNvPr id="17" name="Connector 16"/>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Proposed value to test with working adults. Personal meaning does not establish willingness to pay.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09</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63320"/>
          </a:xfrm>
          <a:prstGeom prst="rect">
            <a:avLst/>
          </a:prstGeom>
          <a:noFill/>
        </p:spPr>
        <p:txBody>
          <a:bodyPr wrap="none" lIns="0" rIns="0" tIns="0" bIns="0" anchor="t">
            <a:spAutoFit/>
          </a:bodyPr>
          <a:lstStyle/>
          <a:p>
            <a:pPr>
              <a:lnSpc>
                <a:spcPts val="4180"/>
              </a:lnSpc>
              <a:spcBef>
                <a:spcPts val="0"/>
              </a:spcBef>
              <a:spcAft>
                <a:spcPts val="0"/>
              </a:spcAft>
            </a:pPr>
            <a:r>
              <a:rPr sz="3800" b="1" i="0">
                <a:solidFill>
                  <a:srgbClr val="392C42"/>
                </a:solidFill>
                <a:latin typeface="Arial"/>
              </a:rPr>
              <a:t>A shared memory.</a:t>
            </a:r>
          </a:p>
          <a:p>
            <a:pPr>
              <a:lnSpc>
                <a:spcPts val="4180"/>
              </a:lnSpc>
              <a:spcBef>
                <a:spcPts val="0"/>
              </a:spcBef>
              <a:spcAft>
                <a:spcPts val="0"/>
              </a:spcAft>
            </a:pPr>
            <a:r>
              <a:rPr sz="3800" b="1" i="0">
                <a:solidFill>
                  <a:srgbClr val="392C42"/>
                </a:solidFill>
                <a:latin typeface="Arial"/>
              </a:rPr>
              <a:t>A personal object.</a:t>
            </a:r>
          </a:p>
        </p:txBody>
      </p:sp>
      <p:sp>
        <p:nvSpPr>
          <p:cNvPr id="7" name="TextBox 6"/>
          <p:cNvSpPr txBox="1"/>
          <p:nvPr/>
        </p:nvSpPr>
        <p:spPr>
          <a:xfrm>
            <a:off x="6477000" y="1358900"/>
            <a:ext cx="5105400" cy="838200"/>
          </a:xfrm>
          <a:prstGeom prst="rect">
            <a:avLst/>
          </a:prstGeom>
          <a:noFill/>
        </p:spPr>
        <p:txBody>
          <a:bodyPr wrap="none" lIns="0" rIns="0" tIns="0" bIns="0" anchor="t">
            <a:spAutoFit/>
          </a:bodyPr>
          <a:lstStyle/>
          <a:p>
            <a:pPr>
              <a:lnSpc>
                <a:spcPts val="2900"/>
              </a:lnSpc>
              <a:spcBef>
                <a:spcPts val="0"/>
              </a:spcBef>
              <a:spcAft>
                <a:spcPts val="0"/>
              </a:spcAft>
            </a:pPr>
            <a:r>
              <a:rPr sz="2000" b="0" i="0">
                <a:solidFill>
                  <a:srgbClr val="776C7B"/>
                </a:solidFill>
                <a:latin typeface="Arial"/>
              </a:rPr>
              <a:t>Choose a familiar shape.</a:t>
            </a:r>
          </a:p>
          <a:p>
            <a:pPr>
              <a:lnSpc>
                <a:spcPts val="2900"/>
              </a:lnSpc>
              <a:spcBef>
                <a:spcPts val="0"/>
              </a:spcBef>
              <a:spcAft>
                <a:spcPts val="0"/>
              </a:spcAft>
            </a:pPr>
            <a:r>
              <a:rPr sz="2000" b="0" i="0">
                <a:solidFill>
                  <a:srgbClr val="776C7B"/>
                </a:solidFill>
                <a:latin typeface="Arial"/>
              </a:rPr>
              <a:t>Make the colours, feel and story your own.</a:t>
            </a:r>
          </a:p>
        </p:txBody>
      </p:sp>
      <p:sp>
        <p:nvSpPr>
          <p:cNvPr id="8" name="Rounded Rectangle 7"/>
          <p:cNvSpPr/>
          <p:nvPr/>
        </p:nvSpPr>
        <p:spPr>
          <a:xfrm>
            <a:off x="584200" y="2768600"/>
            <a:ext cx="3454400" cy="2794000"/>
          </a:xfrm>
          <a:prstGeom prst="roundRect">
            <a:avLst>
              <a:gd name="adj" fmla="val 227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28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01 / AFTER SCHOOL</a:t>
            </a:r>
          </a:p>
        </p:txBody>
      </p:sp>
      <p:pic>
        <p:nvPicPr>
          <p:cNvPr id="10" name="Picture 9" descr="product_case.png"/>
          <p:cNvPicPr>
            <a:picLocks noChangeAspect="1"/>
          </p:cNvPicPr>
          <p:nvPr/>
        </p:nvPicPr>
        <p:blipFill>
          <a:blip r:embed="rId2"/>
          <a:srcRect/>
          <a:stretch>
            <a:fillRect/>
          </a:stretch>
        </p:blipFill>
        <p:spPr>
          <a:xfrm>
            <a:off x="922866" y="3086100"/>
            <a:ext cx="2777066" cy="2082800"/>
          </a:xfrm>
          <a:prstGeom prst="rect">
            <a:avLst/>
          </a:prstGeom>
        </p:spPr>
      </p:pic>
      <p:sp>
        <p:nvSpPr>
          <p:cNvPr id="11" name="TextBox 10"/>
          <p:cNvSpPr txBox="1"/>
          <p:nvPr/>
        </p:nvSpPr>
        <p:spPr>
          <a:xfrm>
            <a:off x="8128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Pencil-case squishy</a:t>
            </a:r>
          </a:p>
        </p:txBody>
      </p:sp>
      <p:sp>
        <p:nvSpPr>
          <p:cNvPr id="12" name="Rounded Rectangle 11"/>
          <p:cNvSpPr/>
          <p:nvPr/>
        </p:nvSpPr>
        <p:spPr>
          <a:xfrm>
            <a:off x="4368800" y="2768600"/>
            <a:ext cx="3454400" cy="2794000"/>
          </a:xfrm>
          <a:prstGeom prst="roundRect">
            <a:avLst>
              <a:gd name="adj" fmla="val 227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74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02 / SATURDAY MORNING</a:t>
            </a:r>
          </a:p>
        </p:txBody>
      </p:sp>
      <p:pic>
        <p:nvPicPr>
          <p:cNvPr id="14" name="Picture 13" descr="product_gamepad.png"/>
          <p:cNvPicPr>
            <a:picLocks noChangeAspect="1"/>
          </p:cNvPicPr>
          <p:nvPr/>
        </p:nvPicPr>
        <p:blipFill>
          <a:blip r:embed="rId3"/>
          <a:srcRect/>
          <a:stretch>
            <a:fillRect/>
          </a:stretch>
        </p:blipFill>
        <p:spPr>
          <a:xfrm>
            <a:off x="4707466" y="3086100"/>
            <a:ext cx="2777066" cy="2082800"/>
          </a:xfrm>
          <a:prstGeom prst="rect">
            <a:avLst/>
          </a:prstGeom>
        </p:spPr>
      </p:pic>
      <p:sp>
        <p:nvSpPr>
          <p:cNvPr id="15" name="TextBox 14"/>
          <p:cNvSpPr txBox="1"/>
          <p:nvPr/>
        </p:nvSpPr>
        <p:spPr>
          <a:xfrm>
            <a:off x="45974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Gamepad squishy</a:t>
            </a:r>
          </a:p>
        </p:txBody>
      </p:sp>
      <p:sp>
        <p:nvSpPr>
          <p:cNvPr id="16" name="Rounded Rectangle 15"/>
          <p:cNvSpPr/>
          <p:nvPr/>
        </p:nvSpPr>
        <p:spPr>
          <a:xfrm>
            <a:off x="8153400" y="2768600"/>
            <a:ext cx="3454400" cy="2794000"/>
          </a:xfrm>
          <a:prstGeom prst="roundRect">
            <a:avLst>
              <a:gd name="adj" fmla="val 227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82000" y="3009900"/>
            <a:ext cx="3073400" cy="215900"/>
          </a:xfrm>
          <a:prstGeom prst="rect">
            <a:avLst/>
          </a:prstGeom>
          <a:noFill/>
        </p:spPr>
        <p:txBody>
          <a:bodyPr wrap="none" lIns="0" rIns="0" tIns="0" bIns="0" anchor="t">
            <a:spAutoFit/>
          </a:bodyPr>
          <a:lstStyle/>
          <a:p>
            <a:pPr>
              <a:lnSpc>
                <a:spcPts val="900"/>
              </a:lnSpc>
              <a:spcBef>
                <a:spcPts val="0"/>
              </a:spcBef>
              <a:spcAft>
                <a:spcPts val="0"/>
              </a:spcAft>
            </a:pPr>
            <a:r>
              <a:rPr sz="600" b="0" i="0">
                <a:solidFill>
                  <a:srgbClr val="392C42"/>
                </a:solidFill>
                <a:latin typeface="Press Start 2P"/>
              </a:rPr>
              <a:t>03 / THE CORNER SHOP</a:t>
            </a:r>
          </a:p>
        </p:txBody>
      </p:sp>
      <p:pic>
        <p:nvPicPr>
          <p:cNvPr id="18" name="Picture 17" descr="product_slime.png"/>
          <p:cNvPicPr>
            <a:picLocks noChangeAspect="1"/>
          </p:cNvPicPr>
          <p:nvPr/>
        </p:nvPicPr>
        <p:blipFill>
          <a:blip r:embed="rId4"/>
          <a:srcRect/>
          <a:stretch>
            <a:fillRect/>
          </a:stretch>
        </p:blipFill>
        <p:spPr>
          <a:xfrm>
            <a:off x="8492066" y="3086100"/>
            <a:ext cx="2777066" cy="2082800"/>
          </a:xfrm>
          <a:prstGeom prst="rect">
            <a:avLst/>
          </a:prstGeom>
        </p:spPr>
      </p:pic>
      <p:sp>
        <p:nvSpPr>
          <p:cNvPr id="19" name="TextBox 18"/>
          <p:cNvSpPr txBox="1"/>
          <p:nvPr/>
        </p:nvSpPr>
        <p:spPr>
          <a:xfrm>
            <a:off x="8382000" y="5219700"/>
            <a:ext cx="30734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Cloud slime</a:t>
            </a:r>
          </a:p>
        </p:txBody>
      </p:sp>
      <p:sp>
        <p:nvSpPr>
          <p:cNvPr id="20" name="TextBox 19"/>
          <p:cNvSpPr txBox="1"/>
          <p:nvPr/>
        </p:nvSpPr>
        <p:spPr>
          <a:xfrm>
            <a:off x="584200" y="59055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Start with a small range of shared shapes to keep production manageable.</a:t>
            </a:r>
          </a:p>
        </p:txBody>
      </p:sp>
      <p:cxnSp>
        <p:nvCxnSpPr>
          <p:cNvPr id="21" name="Connector 20"/>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5"/>
              </a:rPr>
              <a:t>S2 / Sensory product context. These are proposed collection themes, not observed customer preferences.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DESIGN STUDIO</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10</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Four choices. One personal object.</a:t>
            </a:r>
          </a:p>
        </p:txBody>
      </p:sp>
      <p:sp>
        <p:nvSpPr>
          <p:cNvPr id="7" name="Rounded Rectangle 6"/>
          <p:cNvSpPr/>
          <p:nvPr/>
        </p:nvSpPr>
        <p:spPr>
          <a:xfrm>
            <a:off x="584200" y="2641600"/>
            <a:ext cx="2527300" cy="2984500"/>
          </a:xfrm>
          <a:prstGeom prst="roundRect">
            <a:avLst>
              <a:gd name="adj" fmla="val 2512"/>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01</a:t>
            </a:r>
          </a:p>
        </p:txBody>
      </p:sp>
      <p:sp>
        <p:nvSpPr>
          <p:cNvPr id="9" name="TextBox 8"/>
          <p:cNvSpPr txBox="1"/>
          <p:nvPr/>
        </p:nvSpPr>
        <p:spPr>
          <a:xfrm>
            <a:off x="8128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Shape</a:t>
            </a:r>
          </a:p>
        </p:txBody>
      </p:sp>
      <p:sp>
        <p:nvSpPr>
          <p:cNvPr id="10" name="TextBox 9"/>
          <p:cNvSpPr txBox="1"/>
          <p:nvPr/>
        </p:nvSpPr>
        <p:spPr>
          <a:xfrm>
            <a:off x="812800" y="4457700"/>
            <a:ext cx="2095500" cy="10160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Squishy or slime.</a:t>
            </a:r>
          </a:p>
          <a:p>
            <a:pPr>
              <a:lnSpc>
                <a:spcPts val="2400"/>
              </a:lnSpc>
              <a:spcBef>
                <a:spcPts val="0"/>
              </a:spcBef>
              <a:spcAft>
                <a:spcPts val="0"/>
              </a:spcAft>
            </a:pPr>
            <a:r>
              <a:rPr sz="1600" b="0" i="0">
                <a:solidFill>
                  <a:srgbClr val="392C42"/>
                </a:solidFill>
                <a:latin typeface="Arial"/>
              </a:rPr>
              <a:t>A shared starting</a:t>
            </a:r>
          </a:p>
          <a:p>
            <a:pPr>
              <a:lnSpc>
                <a:spcPts val="2400"/>
              </a:lnSpc>
              <a:spcBef>
                <a:spcPts val="0"/>
              </a:spcBef>
              <a:spcAft>
                <a:spcPts val="0"/>
              </a:spcAft>
            </a:pPr>
            <a:r>
              <a:rPr sz="1600" b="0" i="0">
                <a:solidFill>
                  <a:srgbClr val="392C42"/>
                </a:solidFill>
                <a:latin typeface="Arial"/>
              </a:rPr>
              <a:t>shape.</a:t>
            </a:r>
          </a:p>
        </p:txBody>
      </p:sp>
      <p:sp>
        <p:nvSpPr>
          <p:cNvPr id="11" name="Rounded Rectangle 10"/>
          <p:cNvSpPr/>
          <p:nvPr/>
        </p:nvSpPr>
        <p:spPr>
          <a:xfrm>
            <a:off x="3416300" y="2641600"/>
            <a:ext cx="2527300" cy="2984500"/>
          </a:xfrm>
          <a:prstGeom prst="roundRect">
            <a:avLst>
              <a:gd name="adj" fmla="val 2512"/>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449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02</a:t>
            </a:r>
          </a:p>
        </p:txBody>
      </p:sp>
      <p:sp>
        <p:nvSpPr>
          <p:cNvPr id="13" name="TextBox 12"/>
          <p:cNvSpPr txBox="1"/>
          <p:nvPr/>
        </p:nvSpPr>
        <p:spPr>
          <a:xfrm>
            <a:off x="36449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Colour</a:t>
            </a:r>
          </a:p>
        </p:txBody>
      </p:sp>
      <p:sp>
        <p:nvSpPr>
          <p:cNvPr id="14" name="TextBox 13"/>
          <p:cNvSpPr txBox="1"/>
          <p:nvPr/>
        </p:nvSpPr>
        <p:spPr>
          <a:xfrm>
            <a:off x="36449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Main and accent</a:t>
            </a:r>
          </a:p>
          <a:p>
            <a:pPr>
              <a:lnSpc>
                <a:spcPts val="2400"/>
              </a:lnSpc>
              <a:spcBef>
                <a:spcPts val="0"/>
              </a:spcBef>
              <a:spcAft>
                <a:spcPts val="0"/>
              </a:spcAft>
            </a:pPr>
            <a:r>
              <a:rPr sz="1600" b="0" i="0">
                <a:solidFill>
                  <a:srgbClr val="392C42"/>
                </a:solidFill>
                <a:latin typeface="Arial"/>
              </a:rPr>
              <a:t>colours.</a:t>
            </a:r>
          </a:p>
          <a:p>
            <a:pPr>
              <a:lnSpc>
                <a:spcPts val="2400"/>
              </a:lnSpc>
              <a:spcBef>
                <a:spcPts val="0"/>
              </a:spcBef>
              <a:spcAft>
                <a:spcPts val="0"/>
              </a:spcAft>
            </a:pPr>
            <a:r>
              <a:rPr sz="1600" b="0" i="0">
                <a:solidFill>
                  <a:srgbClr val="392C42"/>
                </a:solidFill>
                <a:latin typeface="Arial"/>
              </a:rPr>
              <a:t>A pattern that feels</a:t>
            </a:r>
          </a:p>
          <a:p>
            <a:pPr>
              <a:lnSpc>
                <a:spcPts val="2400"/>
              </a:lnSpc>
              <a:spcBef>
                <a:spcPts val="0"/>
              </a:spcBef>
              <a:spcAft>
                <a:spcPts val="0"/>
              </a:spcAft>
            </a:pPr>
            <a:r>
              <a:rPr sz="1600" b="0" i="0">
                <a:solidFill>
                  <a:srgbClr val="392C42"/>
                </a:solidFill>
                <a:latin typeface="Arial"/>
              </a:rPr>
              <a:t>yours.</a:t>
            </a:r>
          </a:p>
        </p:txBody>
      </p:sp>
      <p:sp>
        <p:nvSpPr>
          <p:cNvPr id="15" name="Rounded Rectangle 14"/>
          <p:cNvSpPr/>
          <p:nvPr/>
        </p:nvSpPr>
        <p:spPr>
          <a:xfrm>
            <a:off x="6248400" y="2641600"/>
            <a:ext cx="2527300" cy="2984500"/>
          </a:xfrm>
          <a:prstGeom prst="roundRect">
            <a:avLst>
              <a:gd name="adj" fmla="val 2512"/>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70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03</a:t>
            </a:r>
          </a:p>
        </p:txBody>
      </p:sp>
      <p:sp>
        <p:nvSpPr>
          <p:cNvPr id="17" name="TextBox 16"/>
          <p:cNvSpPr txBox="1"/>
          <p:nvPr/>
        </p:nvSpPr>
        <p:spPr>
          <a:xfrm>
            <a:off x="64770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Feel</a:t>
            </a:r>
          </a:p>
        </p:txBody>
      </p:sp>
      <p:sp>
        <p:nvSpPr>
          <p:cNvPr id="18" name="TextBox 17"/>
          <p:cNvSpPr txBox="1"/>
          <p:nvPr/>
        </p:nvSpPr>
        <p:spPr>
          <a:xfrm>
            <a:off x="6477000" y="4457700"/>
            <a:ext cx="2095500" cy="13208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Texture, scent and</a:t>
            </a:r>
          </a:p>
          <a:p>
            <a:pPr>
              <a:lnSpc>
                <a:spcPts val="2400"/>
              </a:lnSpc>
              <a:spcBef>
                <a:spcPts val="0"/>
              </a:spcBef>
              <a:spcAft>
                <a:spcPts val="0"/>
              </a:spcAft>
            </a:pPr>
            <a:r>
              <a:rPr sz="1600" b="0" i="0">
                <a:solidFill>
                  <a:srgbClr val="392C42"/>
                </a:solidFill>
                <a:latin typeface="Arial"/>
              </a:rPr>
              <a:t>sound.</a:t>
            </a:r>
          </a:p>
          <a:p>
            <a:pPr>
              <a:lnSpc>
                <a:spcPts val="2400"/>
              </a:lnSpc>
              <a:spcBef>
                <a:spcPts val="0"/>
              </a:spcBef>
              <a:spcAft>
                <a:spcPts val="0"/>
              </a:spcAft>
            </a:pPr>
            <a:r>
              <a:rPr sz="1600" b="0" i="0">
                <a:solidFill>
                  <a:srgbClr val="392C42"/>
                </a:solidFill>
                <a:latin typeface="Arial"/>
              </a:rPr>
              <a:t>A quiet, unscented</a:t>
            </a:r>
          </a:p>
          <a:p>
            <a:pPr>
              <a:lnSpc>
                <a:spcPts val="2400"/>
              </a:lnSpc>
              <a:spcBef>
                <a:spcPts val="0"/>
              </a:spcBef>
              <a:spcAft>
                <a:spcPts val="0"/>
              </a:spcAft>
            </a:pPr>
            <a:r>
              <a:rPr sz="1600" b="0" i="0">
                <a:solidFill>
                  <a:srgbClr val="392C42"/>
                </a:solidFill>
                <a:latin typeface="Arial"/>
              </a:rPr>
              <a:t>option.</a:t>
            </a:r>
          </a:p>
        </p:txBody>
      </p:sp>
      <p:sp>
        <p:nvSpPr>
          <p:cNvPr id="19" name="Rounded Rectangle 18"/>
          <p:cNvSpPr/>
          <p:nvPr/>
        </p:nvSpPr>
        <p:spPr>
          <a:xfrm>
            <a:off x="9080500" y="2641600"/>
            <a:ext cx="2527300" cy="2984500"/>
          </a:xfrm>
          <a:prstGeom prst="roundRect">
            <a:avLst>
              <a:gd name="adj" fmla="val 2512"/>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09100" y="2959100"/>
            <a:ext cx="20955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392C42"/>
                </a:solidFill>
                <a:latin typeface="Press Start 2P"/>
              </a:rPr>
              <a:t>04</a:t>
            </a:r>
          </a:p>
        </p:txBody>
      </p:sp>
      <p:sp>
        <p:nvSpPr>
          <p:cNvPr id="21" name="TextBox 20"/>
          <p:cNvSpPr txBox="1"/>
          <p:nvPr/>
        </p:nvSpPr>
        <p:spPr>
          <a:xfrm>
            <a:off x="9309100" y="3695700"/>
            <a:ext cx="20955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Story</a:t>
            </a:r>
          </a:p>
        </p:txBody>
      </p:sp>
      <p:sp>
        <p:nvSpPr>
          <p:cNvPr id="22" name="TextBox 21"/>
          <p:cNvSpPr txBox="1"/>
          <p:nvPr/>
        </p:nvSpPr>
        <p:spPr>
          <a:xfrm>
            <a:off x="9309100" y="4457700"/>
            <a:ext cx="2095500" cy="711200"/>
          </a:xfrm>
          <a:prstGeom prst="rect">
            <a:avLst/>
          </a:prstGeom>
          <a:noFill/>
        </p:spPr>
        <p:txBody>
          <a:bodyPr wrap="none" lIns="0" rIns="0" tIns="0" bIns="0" anchor="t">
            <a:spAutoFit/>
          </a:bodyPr>
          <a:lstStyle/>
          <a:p>
            <a:pPr>
              <a:lnSpc>
                <a:spcPts val="2400"/>
              </a:lnSpc>
              <a:spcBef>
                <a:spcPts val="0"/>
              </a:spcBef>
              <a:spcAft>
                <a:spcPts val="0"/>
              </a:spcAft>
            </a:pPr>
            <a:r>
              <a:rPr sz="1600" b="0" i="0">
                <a:solidFill>
                  <a:srgbClr val="392C42"/>
                </a:solidFill>
                <a:latin typeface="Arial"/>
              </a:rPr>
              <a:t>A name and memory.</a:t>
            </a:r>
          </a:p>
          <a:p>
            <a:pPr>
              <a:lnSpc>
                <a:spcPts val="2400"/>
              </a:lnSpc>
              <a:spcBef>
                <a:spcPts val="0"/>
              </a:spcBef>
              <a:spcAft>
                <a:spcPts val="0"/>
              </a:spcAft>
            </a:pPr>
            <a:r>
              <a:rPr sz="1600" b="0" i="0">
                <a:solidFill>
                  <a:srgbClr val="392C42"/>
                </a:solidFill>
                <a:latin typeface="Arial"/>
              </a:rPr>
              <a:t>Save, share or export.</a:t>
            </a:r>
          </a:p>
        </p:txBody>
      </p:sp>
      <p:sp>
        <p:nvSpPr>
          <p:cNvPr id="23" name="TextBox 22"/>
          <p:cNvSpPr txBox="1"/>
          <p:nvPr/>
        </p:nvSpPr>
        <p:spPr>
          <a:xfrm>
            <a:off x="584200" y="5892800"/>
            <a:ext cx="11049000" cy="334010"/>
          </a:xfrm>
          <a:prstGeom prst="rect">
            <a:avLst/>
          </a:prstGeom>
          <a:noFill/>
        </p:spPr>
        <p:txBody>
          <a:bodyPr wrap="none" lIns="0" rIns="0" tIns="0" bIns="0" anchor="t">
            <a:spAutoFit/>
          </a:bodyPr>
          <a:lstStyle/>
          <a:p>
            <a:pPr>
              <a:lnSpc>
                <a:spcPts val="1830"/>
              </a:lnSpc>
              <a:spcBef>
                <a:spcPts val="0"/>
              </a:spcBef>
              <a:spcAft>
                <a:spcPts val="0"/>
              </a:spcAft>
            </a:pPr>
            <a:r>
              <a:rPr sz="1500" b="0" i="0">
                <a:solidFill>
                  <a:srgbClr val="776C7B"/>
                </a:solidFill>
                <a:latin typeface="Arial"/>
              </a:rPr>
              <a:t>The web preview shows design intent. Physical materials still need supplier samples.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Working prototype / Appearance can be shared; private memory text is excluded from shared links.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CUSTOMER JOURNEY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11</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From a memory to a viable batch.</a:t>
            </a:r>
          </a:p>
        </p:txBody>
      </p:sp>
      <p:sp>
        <p:nvSpPr>
          <p:cNvPr id="7" name="Rounded Rectangle 6"/>
          <p:cNvSpPr/>
          <p:nvPr/>
        </p:nvSpPr>
        <p:spPr>
          <a:xfrm>
            <a:off x="584200" y="2019300"/>
            <a:ext cx="7137400" cy="3975100"/>
          </a:xfrm>
          <a:prstGeom prst="roundRect">
            <a:avLst>
              <a:gd name="adj" fmla="val 1597"/>
            </a:avLst>
          </a:prstGeom>
          <a:solidFill>
            <a:srgbClr val="EEE7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8000" y="22479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686800" y="21971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Design</a:t>
            </a:r>
          </a:p>
        </p:txBody>
      </p:sp>
      <p:sp>
        <p:nvSpPr>
          <p:cNvPr id="10" name="TextBox 9"/>
          <p:cNvSpPr txBox="1"/>
          <p:nvPr/>
        </p:nvSpPr>
        <p:spPr>
          <a:xfrm>
            <a:off x="8686800" y="2565400"/>
            <a:ext cx="2946400" cy="3429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Choose type, colour, feel and story.</a:t>
            </a:r>
          </a:p>
        </p:txBody>
      </p:sp>
      <p:sp>
        <p:nvSpPr>
          <p:cNvPr id="11" name="TextBox 10"/>
          <p:cNvSpPr txBox="1"/>
          <p:nvPr/>
        </p:nvSpPr>
        <p:spPr>
          <a:xfrm>
            <a:off x="8128000" y="31877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2" name="TextBox 11"/>
          <p:cNvSpPr txBox="1"/>
          <p:nvPr/>
        </p:nvSpPr>
        <p:spPr>
          <a:xfrm>
            <a:off x="8686800" y="31369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Save &amp; share</a:t>
            </a:r>
          </a:p>
        </p:txBody>
      </p:sp>
      <p:sp>
        <p:nvSpPr>
          <p:cNvPr id="13" name="TextBox 12"/>
          <p:cNvSpPr txBox="1"/>
          <p:nvPr/>
        </p:nvSpPr>
        <p:spPr>
          <a:xfrm>
            <a:off x="8686800" y="35052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Keep the design. Share its</a:t>
            </a:r>
          </a:p>
          <a:p>
            <a:pPr>
              <a:lnSpc>
                <a:spcPts val="1900"/>
              </a:lnSpc>
              <a:spcBef>
                <a:spcPts val="0"/>
              </a:spcBef>
              <a:spcAft>
                <a:spcPts val="0"/>
              </a:spcAft>
            </a:pPr>
            <a:r>
              <a:rPr sz="1400" b="0" i="0">
                <a:solidFill>
                  <a:srgbClr val="776C7B"/>
                </a:solidFill>
                <a:latin typeface="Arial"/>
              </a:rPr>
              <a:t>appearance.</a:t>
            </a:r>
          </a:p>
        </p:txBody>
      </p:sp>
      <p:sp>
        <p:nvSpPr>
          <p:cNvPr id="14" name="TextBox 13"/>
          <p:cNvSpPr txBox="1"/>
          <p:nvPr/>
        </p:nvSpPr>
        <p:spPr>
          <a:xfrm>
            <a:off x="8128000" y="41275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5" name="TextBox 14"/>
          <p:cNvSpPr txBox="1"/>
          <p:nvPr/>
        </p:nvSpPr>
        <p:spPr>
          <a:xfrm>
            <a:off x="8686800" y="40767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Validate the batch</a:t>
            </a:r>
          </a:p>
        </p:txBody>
      </p:sp>
      <p:sp>
        <p:nvSpPr>
          <p:cNvPr id="16" name="TextBox 15"/>
          <p:cNvSpPr txBox="1"/>
          <p:nvPr/>
        </p:nvSpPr>
        <p:spPr>
          <a:xfrm>
            <a:off x="8686800" y="44450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Check samples, supplier costs and</a:t>
            </a:r>
          </a:p>
          <a:p>
            <a:pPr>
              <a:lnSpc>
                <a:spcPts val="1900"/>
              </a:lnSpc>
              <a:spcBef>
                <a:spcPts val="0"/>
              </a:spcBef>
              <a:spcAft>
                <a:spcPts val="0"/>
              </a:spcAft>
            </a:pPr>
            <a:r>
              <a:rPr sz="1400" b="0" i="0">
                <a:solidFill>
                  <a:srgbClr val="776C7B"/>
                </a:solidFill>
                <a:latin typeface="Arial"/>
              </a:rPr>
              <a:t>orders.</a:t>
            </a:r>
          </a:p>
        </p:txBody>
      </p:sp>
      <p:sp>
        <p:nvSpPr>
          <p:cNvPr id="17" name="TextBox 16"/>
          <p:cNvSpPr txBox="1"/>
          <p:nvPr/>
        </p:nvSpPr>
        <p:spPr>
          <a:xfrm>
            <a:off x="8128000" y="5067300"/>
            <a:ext cx="4445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04</a:t>
            </a:r>
          </a:p>
        </p:txBody>
      </p:sp>
      <p:sp>
        <p:nvSpPr>
          <p:cNvPr id="18" name="TextBox 17"/>
          <p:cNvSpPr txBox="1"/>
          <p:nvPr/>
        </p:nvSpPr>
        <p:spPr>
          <a:xfrm>
            <a:off x="8686800" y="5016500"/>
            <a:ext cx="29464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Produce or refund</a:t>
            </a:r>
          </a:p>
        </p:txBody>
      </p:sp>
      <p:sp>
        <p:nvSpPr>
          <p:cNvPr id="19" name="TextBox 18"/>
          <p:cNvSpPr txBox="1"/>
          <p:nvPr/>
        </p:nvSpPr>
        <p:spPr>
          <a:xfrm>
            <a:off x="8686800" y="5384800"/>
            <a:ext cx="2946400" cy="584200"/>
          </a:xfrm>
          <a:prstGeom prst="rect">
            <a:avLst/>
          </a:prstGeom>
          <a:noFill/>
        </p:spPr>
        <p:txBody>
          <a:bodyPr wrap="none" lIns="0" rIns="0" tIns="0" bIns="0" anchor="t">
            <a:spAutoFit/>
          </a:bodyPr>
          <a:lstStyle/>
          <a:p>
            <a:pPr>
              <a:lnSpc>
                <a:spcPts val="1900"/>
              </a:lnSpc>
              <a:spcBef>
                <a:spcPts val="0"/>
              </a:spcBef>
              <a:spcAft>
                <a:spcPts val="0"/>
              </a:spcAft>
            </a:pPr>
            <a:r>
              <a:rPr sz="1400" b="0" i="0">
                <a:solidFill>
                  <a:srgbClr val="776C7B"/>
                </a:solidFill>
                <a:latin typeface="Arial"/>
              </a:rPr>
              <a:t>Proceed only under clear, viable</a:t>
            </a:r>
          </a:p>
          <a:p>
            <a:pPr>
              <a:lnSpc>
                <a:spcPts val="1900"/>
              </a:lnSpc>
              <a:spcBef>
                <a:spcPts val="0"/>
              </a:spcBef>
              <a:spcAft>
                <a:spcPts val="0"/>
              </a:spcAft>
            </a:pPr>
            <a:r>
              <a:rPr sz="1400" b="0" i="0">
                <a:solidFill>
                  <a:srgbClr val="776C7B"/>
                </a:solidFill>
                <a:latin typeface="Arial"/>
              </a:rPr>
              <a:t>terms.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Live prototype: https://blimmy.github.io/replay-lab/ / Local demo only. No real payment or production order.</a:t>
            </a:r>
          </a:p>
        </p:txBody>
      </p:sp>
      <p:pic>
        <p:nvPicPr>
          <p:cNvPr id="22" name="Picture 21" descr="demo-poster.png"/>
          <p:cNvPicPr>
            <a:picLocks noChangeAspect="1"/>
          </p:cNvPicPr>
          <p:nvPr/>
        </p:nvPicPr>
        <p:blipFill>
          <a:blip r:embed="rId3"/>
          <a:srcRect/>
          <a:stretch>
            <a:fillRect/>
          </a:stretch>
        </p:blipFill>
        <p:spPr>
          <a:xfrm>
            <a:off x="1473708" y="2146300"/>
            <a:ext cx="5358383" cy="3721100"/>
          </a:xfrm>
          <a:prstGeom prst="rect">
            <a:avLst/>
          </a:prstGeom>
        </p:spPr>
      </p:pic>
      <p:sp>
        <p:nvSpPr>
          <p:cNvPr id="23" name="TextBox 22"/>
          <p:cNvSpPr txBox="1"/>
          <p:nvPr/>
        </p:nvSpPr>
        <p:spPr>
          <a:xfrm>
            <a:off x="711200" y="6096000"/>
            <a:ext cx="7035800" cy="241046"/>
          </a:xfrm>
          <a:prstGeom prst="rect">
            <a:avLst/>
          </a:prstGeom>
          <a:noFill/>
        </p:spPr>
        <p:txBody>
          <a:bodyPr wrap="none" lIns="0" rIns="0" tIns="0" bIns="0" anchor="t">
            <a:spAutoFit/>
          </a:bodyPr>
          <a:lstStyle/>
          <a:p>
            <a:pPr>
              <a:lnSpc>
                <a:spcPts val="1098"/>
              </a:lnSpc>
              <a:spcBef>
                <a:spcPts val="0"/>
              </a:spcBef>
              <a:spcAft>
                <a:spcPts val="0"/>
              </a:spcAft>
            </a:pPr>
            <a:r>
              <a:rPr sz="900" b="1" i="0">
                <a:solidFill>
                  <a:srgbClr val="392C42"/>
                </a:solidFill>
                <a:latin typeface="Arial"/>
                <a:hlinkClick r:id="rId4"/>
              </a:rPr>
              <a:t>PLAY 25-SECOND ORDER DEMO</a:t>
            </a:r>
          </a:p>
        </p:txBody>
      </p:sp>
      <p:pic>
        <p:nvPicPr>
          <p:cNvPr id="24" name="REPLAY_LAB_Order_Demo.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3"/>
          <a:stretch>
            <a:fillRect/>
          </a:stretch>
        </p:blipFill>
        <p:spPr>
          <a:xfrm>
            <a:off x="1473200" y="2146300"/>
            <a:ext cx="5359400" cy="37211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4"/>
                </p:tgtEl>
              </p:cMediaNode>
            </p:video>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THE BUSINESS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12</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Personal meaning.</a:t>
            </a:r>
          </a:p>
          <a:p>
            <a:pPr>
              <a:lnSpc>
                <a:spcPts val="4070"/>
              </a:lnSpc>
              <a:spcBef>
                <a:spcPts val="0"/>
              </a:spcBef>
              <a:spcAft>
                <a:spcPts val="0"/>
              </a:spcAft>
            </a:pPr>
            <a:r>
              <a:rPr sz="3700" b="1" i="0">
                <a:solidFill>
                  <a:srgbClr val="392C42"/>
                </a:solidFill>
                <a:latin typeface="Arial"/>
              </a:rPr>
              <a:t>Manageable production.</a:t>
            </a:r>
          </a:p>
        </p:txBody>
      </p:sp>
      <p:sp>
        <p:nvSpPr>
          <p:cNvPr id="7" name="Rounded Rectangle 6"/>
          <p:cNvSpPr/>
          <p:nvPr/>
        </p:nvSpPr>
        <p:spPr>
          <a:xfrm>
            <a:off x="584200" y="2781300"/>
            <a:ext cx="5334000" cy="2692400"/>
          </a:xfrm>
          <a:prstGeom prst="roundRect">
            <a:avLst>
              <a:gd name="adj" fmla="val 2358"/>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3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SHARED BY THE COLLECTION</a:t>
            </a:r>
          </a:p>
        </p:txBody>
      </p:sp>
      <p:sp>
        <p:nvSpPr>
          <p:cNvPr id="9" name="TextBox 8"/>
          <p:cNvSpPr txBox="1"/>
          <p:nvPr/>
        </p:nvSpPr>
        <p:spPr>
          <a:xfrm>
            <a:off x="8763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One core recipe</a:t>
            </a:r>
          </a:p>
        </p:txBody>
      </p:sp>
      <p:sp>
        <p:nvSpPr>
          <p:cNvPr id="10" name="TextBox 9"/>
          <p:cNvSpPr txBox="1"/>
          <p:nvPr/>
        </p:nvSpPr>
        <p:spPr>
          <a:xfrm>
            <a:off x="8763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Childhood theme</a:t>
            </a:r>
          </a:p>
          <a:p>
            <a:pPr>
              <a:lnSpc>
                <a:spcPts val="2800"/>
              </a:lnSpc>
              <a:spcBef>
                <a:spcPts val="0"/>
              </a:spcBef>
              <a:spcAft>
                <a:spcPts val="0"/>
              </a:spcAft>
            </a:pPr>
            <a:r>
              <a:rPr sz="1900" b="0" i="0">
                <a:solidFill>
                  <a:srgbClr val="392C42"/>
                </a:solidFill>
                <a:latin typeface="Arial"/>
              </a:rPr>
              <a:t>A small set of shapes</a:t>
            </a:r>
          </a:p>
          <a:p>
            <a:pPr>
              <a:lnSpc>
                <a:spcPts val="2800"/>
              </a:lnSpc>
              <a:spcBef>
                <a:spcPts val="0"/>
              </a:spcBef>
              <a:spcAft>
                <a:spcPts val="0"/>
              </a:spcAft>
            </a:pPr>
            <a:r>
              <a:rPr sz="1900" b="0" i="0">
                <a:solidFill>
                  <a:srgbClr val="392C42"/>
                </a:solidFill>
                <a:latin typeface="Arial"/>
              </a:rPr>
              <a:t>A checked supplier process</a:t>
            </a:r>
          </a:p>
        </p:txBody>
      </p:sp>
      <p:sp>
        <p:nvSpPr>
          <p:cNvPr id="11" name="Rounded Rectangle 10"/>
          <p:cNvSpPr/>
          <p:nvPr/>
        </p:nvSpPr>
        <p:spPr>
          <a:xfrm>
            <a:off x="6273800" y="2781300"/>
            <a:ext cx="5334000" cy="2692400"/>
          </a:xfrm>
          <a:prstGeom prst="roundRect">
            <a:avLst>
              <a:gd name="adj" fmla="val 2358"/>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65900" y="3060700"/>
            <a:ext cx="4775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CHOSEN BY THE CUSTOMER</a:t>
            </a:r>
          </a:p>
        </p:txBody>
      </p:sp>
      <p:sp>
        <p:nvSpPr>
          <p:cNvPr id="13" name="TextBox 12"/>
          <p:cNvSpPr txBox="1"/>
          <p:nvPr/>
        </p:nvSpPr>
        <p:spPr>
          <a:xfrm>
            <a:off x="6565900" y="3543300"/>
            <a:ext cx="4775200" cy="535432"/>
          </a:xfrm>
          <a:prstGeom prst="rect">
            <a:avLst/>
          </a:prstGeom>
          <a:noFill/>
        </p:spPr>
        <p:txBody>
          <a:bodyPr wrap="none" lIns="0" rIns="0" tIns="0" bIns="0" anchor="t">
            <a:spAutoFit/>
          </a:bodyPr>
          <a:lstStyle/>
          <a:p>
            <a:pPr>
              <a:lnSpc>
                <a:spcPts val="3415"/>
              </a:lnSpc>
              <a:spcBef>
                <a:spcPts val="0"/>
              </a:spcBef>
              <a:spcAft>
                <a:spcPts val="0"/>
              </a:spcAft>
            </a:pPr>
            <a:r>
              <a:rPr sz="2800" b="1" i="0">
                <a:solidFill>
                  <a:srgbClr val="392C42"/>
                </a:solidFill>
                <a:latin typeface="Arial"/>
              </a:rPr>
              <a:t>Your personal details</a:t>
            </a:r>
          </a:p>
        </p:txBody>
      </p:sp>
      <p:sp>
        <p:nvSpPr>
          <p:cNvPr id="14" name="TextBox 13"/>
          <p:cNvSpPr txBox="1"/>
          <p:nvPr/>
        </p:nvSpPr>
        <p:spPr>
          <a:xfrm>
            <a:off x="6565900" y="4178300"/>
            <a:ext cx="4775200" cy="1168400"/>
          </a:xfrm>
          <a:prstGeom prst="rect">
            <a:avLst/>
          </a:prstGeom>
          <a:noFill/>
        </p:spPr>
        <p:txBody>
          <a:bodyPr wrap="none" lIns="0" rIns="0" tIns="0" bIns="0" anchor="t">
            <a:spAutoFit/>
          </a:bodyPr>
          <a:lstStyle/>
          <a:p>
            <a:pPr>
              <a:lnSpc>
                <a:spcPts val="2800"/>
              </a:lnSpc>
              <a:spcBef>
                <a:spcPts val="0"/>
              </a:spcBef>
              <a:spcAft>
                <a:spcPts val="0"/>
              </a:spcAft>
            </a:pPr>
            <a:r>
              <a:rPr sz="1900" b="0" i="0">
                <a:solidFill>
                  <a:srgbClr val="392C42"/>
                </a:solidFill>
                <a:latin typeface="Arial"/>
              </a:rPr>
              <a:t>Colour and texture</a:t>
            </a:r>
          </a:p>
          <a:p>
            <a:pPr>
              <a:lnSpc>
                <a:spcPts val="2800"/>
              </a:lnSpc>
              <a:spcBef>
                <a:spcPts val="0"/>
              </a:spcBef>
              <a:spcAft>
                <a:spcPts val="0"/>
              </a:spcAft>
            </a:pPr>
            <a:r>
              <a:rPr sz="1900" b="0" i="0">
                <a:solidFill>
                  <a:srgbClr val="392C42"/>
                </a:solidFill>
                <a:latin typeface="Arial"/>
              </a:rPr>
              <a:t>Name and memory card</a:t>
            </a:r>
          </a:p>
          <a:p>
            <a:pPr>
              <a:lnSpc>
                <a:spcPts val="2800"/>
              </a:lnSpc>
              <a:spcBef>
                <a:spcPts val="0"/>
              </a:spcBef>
              <a:spcAft>
                <a:spcPts val="0"/>
              </a:spcAft>
            </a:pPr>
            <a:r>
              <a:rPr sz="1900" b="0" i="0">
                <a:solidFill>
                  <a:srgbClr val="392C42"/>
                </a:solidFill>
                <a:latin typeface="Arial"/>
              </a:rPr>
              <a:t>The story behind the object</a:t>
            </a:r>
          </a:p>
        </p:txBody>
      </p:sp>
      <p:sp>
        <p:nvSpPr>
          <p:cNvPr id="15" name="TextBox 14"/>
          <p:cNvSpPr txBox="1"/>
          <p:nvPr/>
        </p:nvSpPr>
        <p:spPr>
          <a:xfrm>
            <a:off x="584200" y="5816600"/>
            <a:ext cx="110490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392C42"/>
                </a:solidFill>
                <a:latin typeface="Arial"/>
              </a:rPr>
              <a:t>Revenue: product sales. Launch with one collection before adding complexity.</a:t>
            </a:r>
          </a:p>
        </p:txBody>
      </p:sp>
      <p:cxnSp>
        <p:nvCxnSpPr>
          <p:cNvPr id="16" name="Connector 15"/>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S5 / Custom squishies already exist. Proposed focus: Thai childhood memories, adult use and co-designed batches.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03 / REVENUE MODEL</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13</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113538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Sell the object.</a:t>
            </a:r>
          </a:p>
          <a:p>
            <a:pPr>
              <a:lnSpc>
                <a:spcPts val="4070"/>
              </a:lnSpc>
              <a:spcBef>
                <a:spcPts val="0"/>
              </a:spcBef>
              <a:spcAft>
                <a:spcPts val="0"/>
              </a:spcAft>
            </a:pPr>
            <a:r>
              <a:rPr sz="3700" b="1" i="0">
                <a:solidFill>
                  <a:srgbClr val="392C42"/>
                </a:solidFill>
                <a:latin typeface="Arial"/>
              </a:rPr>
              <a:t>Keep the options focused.</a:t>
            </a:r>
          </a:p>
        </p:txBody>
      </p:sp>
      <p:sp>
        <p:nvSpPr>
          <p:cNvPr id="7" name="Rounded Rectangle 6"/>
          <p:cNvSpPr/>
          <p:nvPr/>
        </p:nvSpPr>
        <p:spPr>
          <a:xfrm>
            <a:off x="584200" y="2781300"/>
            <a:ext cx="3454400" cy="2603500"/>
          </a:xfrm>
          <a:prstGeom prst="roundRect">
            <a:avLst>
              <a:gd name="adj" fmla="val 2439"/>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82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01</a:t>
            </a:r>
          </a:p>
        </p:txBody>
      </p:sp>
      <p:sp>
        <p:nvSpPr>
          <p:cNvPr id="9" name="TextBox 8"/>
          <p:cNvSpPr txBox="1"/>
          <p:nvPr/>
        </p:nvSpPr>
        <p:spPr>
          <a:xfrm>
            <a:off x="8382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Squishy</a:t>
            </a:r>
          </a:p>
        </p:txBody>
      </p:sp>
      <p:sp>
        <p:nvSpPr>
          <p:cNvPr id="10" name="TextBox 9"/>
          <p:cNvSpPr txBox="1"/>
          <p:nvPr/>
        </p:nvSpPr>
        <p:spPr>
          <a:xfrm>
            <a:off x="8382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349</a:t>
            </a:r>
          </a:p>
        </p:txBody>
      </p:sp>
      <p:sp>
        <p:nvSpPr>
          <p:cNvPr id="11" name="Rounded Rectangle 10"/>
          <p:cNvSpPr/>
          <p:nvPr/>
        </p:nvSpPr>
        <p:spPr>
          <a:xfrm>
            <a:off x="4368800" y="2781300"/>
            <a:ext cx="3454400" cy="2603500"/>
          </a:xfrm>
          <a:prstGeom prst="roundRect">
            <a:avLst>
              <a:gd name="adj" fmla="val 2439"/>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228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02</a:t>
            </a:r>
          </a:p>
        </p:txBody>
      </p:sp>
      <p:sp>
        <p:nvSpPr>
          <p:cNvPr id="13" name="TextBox 12"/>
          <p:cNvSpPr txBox="1"/>
          <p:nvPr/>
        </p:nvSpPr>
        <p:spPr>
          <a:xfrm>
            <a:off x="46228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Slime</a:t>
            </a:r>
          </a:p>
        </p:txBody>
      </p:sp>
      <p:sp>
        <p:nvSpPr>
          <p:cNvPr id="14" name="TextBox 13"/>
          <p:cNvSpPr txBox="1"/>
          <p:nvPr/>
        </p:nvSpPr>
        <p:spPr>
          <a:xfrm>
            <a:off x="46228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THB 299</a:t>
            </a:r>
          </a:p>
        </p:txBody>
      </p:sp>
      <p:sp>
        <p:nvSpPr>
          <p:cNvPr id="15" name="Rounded Rectangle 14"/>
          <p:cNvSpPr/>
          <p:nvPr/>
        </p:nvSpPr>
        <p:spPr>
          <a:xfrm>
            <a:off x="8153400" y="2781300"/>
            <a:ext cx="3454400" cy="2603500"/>
          </a:xfrm>
          <a:prstGeom prst="roundRect">
            <a:avLst>
              <a:gd name="adj" fmla="val 2439"/>
            </a:avLst>
          </a:prstGeom>
          <a:solidFill>
            <a:srgbClr val="EFBF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07400" y="3086100"/>
            <a:ext cx="3009900" cy="273050"/>
          </a:xfrm>
          <a:prstGeom prst="rect">
            <a:avLst/>
          </a:prstGeom>
          <a:noFill/>
        </p:spPr>
        <p:txBody>
          <a:bodyPr wrap="none" lIns="0" rIns="0" tIns="0" bIns="0" anchor="t">
            <a:spAutoFit/>
          </a:bodyPr>
          <a:lstStyle/>
          <a:p>
            <a:pPr>
              <a:lnSpc>
                <a:spcPts val="1350"/>
              </a:lnSpc>
              <a:spcBef>
                <a:spcPts val="0"/>
              </a:spcBef>
              <a:spcAft>
                <a:spcPts val="0"/>
              </a:spcAft>
            </a:pPr>
            <a:r>
              <a:rPr sz="900" b="0" i="0">
                <a:solidFill>
                  <a:srgbClr val="392C42"/>
                </a:solidFill>
                <a:latin typeface="Press Start 2P"/>
              </a:rPr>
              <a:t>03</a:t>
            </a:r>
          </a:p>
        </p:txBody>
      </p:sp>
      <p:sp>
        <p:nvSpPr>
          <p:cNvPr id="17" name="TextBox 16"/>
          <p:cNvSpPr txBox="1"/>
          <p:nvPr/>
        </p:nvSpPr>
        <p:spPr>
          <a:xfrm>
            <a:off x="8407400" y="3594100"/>
            <a:ext cx="3009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Optional details</a:t>
            </a:r>
          </a:p>
        </p:txBody>
      </p:sp>
      <p:sp>
        <p:nvSpPr>
          <p:cNvPr id="18" name="TextBox 17"/>
          <p:cNvSpPr txBox="1"/>
          <p:nvPr/>
        </p:nvSpPr>
        <p:spPr>
          <a:xfrm>
            <a:off x="8407400" y="4432300"/>
            <a:ext cx="3009900" cy="504444"/>
          </a:xfrm>
          <a:prstGeom prst="rect">
            <a:avLst/>
          </a:prstGeom>
          <a:noFill/>
        </p:spPr>
        <p:txBody>
          <a:bodyPr wrap="none" lIns="0" rIns="0" tIns="0" bIns="0" anchor="t">
            <a:spAutoFit/>
          </a:bodyPr>
          <a:lstStyle/>
          <a:p>
            <a:pPr>
              <a:lnSpc>
                <a:spcPts val="3172"/>
              </a:lnSpc>
              <a:spcBef>
                <a:spcPts val="0"/>
              </a:spcBef>
              <a:spcAft>
                <a:spcPts val="0"/>
              </a:spcAft>
            </a:pPr>
            <a:r>
              <a:rPr sz="2600" b="1" i="0">
                <a:solidFill>
                  <a:srgbClr val="392C42"/>
                </a:solidFill>
                <a:latin typeface="Arial"/>
              </a:rPr>
              <a:t>+ THB 20–100</a:t>
            </a:r>
          </a:p>
        </p:txBody>
      </p:sp>
      <p:sp>
        <p:nvSpPr>
          <p:cNvPr id="19" name="TextBox 18"/>
          <p:cNvSpPr txBox="1"/>
          <p:nvPr/>
        </p:nvSpPr>
        <p:spPr>
          <a:xfrm>
            <a:off x="584200" y="5740400"/>
            <a:ext cx="11049000" cy="349504"/>
          </a:xfrm>
          <a:prstGeom prst="rect">
            <a:avLst/>
          </a:prstGeom>
          <a:noFill/>
        </p:spPr>
        <p:txBody>
          <a:bodyPr wrap="none" lIns="0" rIns="0" tIns="0" bIns="0" anchor="t">
            <a:spAutoFit/>
          </a:bodyPr>
          <a:lstStyle/>
          <a:p>
            <a:pPr>
              <a:lnSpc>
                <a:spcPts val="1952"/>
              </a:lnSpc>
              <a:spcBef>
                <a:spcPts val="0"/>
              </a:spcBef>
              <a:spcAft>
                <a:spcPts val="0"/>
              </a:spcAft>
            </a:pPr>
            <a:r>
              <a:rPr sz="1600" b="0" i="0">
                <a:solidFill>
                  <a:srgbClr val="392C42"/>
                </a:solidFill>
                <a:latin typeface="Arial"/>
              </a:rPr>
              <a:t>Illustrative website prices. Revenue comes from product sales, including chosen upgrades.</a:t>
            </a:r>
          </a:p>
        </p:txBody>
      </p:sp>
      <p:cxnSp>
        <p:nvCxnSpPr>
          <p:cNvPr id="20" name="Connector 19"/>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Size +50/+100 · Finishing touch +20 · Gift sleeve +40. Demo assumptions; actual price and delivery costs need validation.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EVALUATE THE OPPORTUNITY</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14</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590550"/>
          </a:xfrm>
          <a:prstGeom prst="rect">
            <a:avLst/>
          </a:prstGeom>
          <a:noFill/>
        </p:spPr>
        <p:txBody>
          <a:bodyPr wrap="none" lIns="0" rIns="0" tIns="0" bIns="0" anchor="t">
            <a:spAutoFit/>
          </a:bodyPr>
          <a:lstStyle/>
          <a:p>
            <a:pPr>
              <a:lnSpc>
                <a:spcPts val="3850"/>
              </a:lnSpc>
              <a:spcBef>
                <a:spcPts val="0"/>
              </a:spcBef>
              <a:spcAft>
                <a:spcPts val="0"/>
              </a:spcAft>
            </a:pPr>
            <a:r>
              <a:rPr sz="3500" b="1" i="0">
                <a:solidFill>
                  <a:srgbClr val="392C42"/>
                </a:solidFill>
                <a:latin typeface="Arial"/>
              </a:rPr>
              <a:t>Three risks. Three practical tests.</a:t>
            </a:r>
          </a:p>
        </p:txBody>
      </p:sp>
      <p:sp>
        <p:nvSpPr>
          <p:cNvPr id="7" name="TextBox 6"/>
          <p:cNvSpPr txBox="1"/>
          <p:nvPr/>
        </p:nvSpPr>
        <p:spPr>
          <a:xfrm>
            <a:off x="584200" y="2209800"/>
            <a:ext cx="33274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RISK</a:t>
            </a:r>
          </a:p>
        </p:txBody>
      </p:sp>
      <p:sp>
        <p:nvSpPr>
          <p:cNvPr id="8" name="TextBox 7"/>
          <p:cNvSpPr txBox="1"/>
          <p:nvPr/>
        </p:nvSpPr>
        <p:spPr>
          <a:xfrm>
            <a:off x="4368800" y="2209800"/>
            <a:ext cx="42799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TEST BEFORE LAUNCH</a:t>
            </a:r>
          </a:p>
        </p:txBody>
      </p:sp>
      <p:sp>
        <p:nvSpPr>
          <p:cNvPr id="9" name="TextBox 8"/>
          <p:cNvSpPr txBox="1"/>
          <p:nvPr/>
        </p:nvSpPr>
        <p:spPr>
          <a:xfrm>
            <a:off x="9017000" y="2209800"/>
            <a:ext cx="2616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LOOK FOR</a:t>
            </a:r>
          </a:p>
        </p:txBody>
      </p:sp>
      <p:cxnSp>
        <p:nvCxnSpPr>
          <p:cNvPr id="10" name="Connector 9"/>
          <p:cNvCxnSpPr/>
          <p:nvPr/>
        </p:nvCxnSpPr>
        <p:spPr>
          <a:xfrm>
            <a:off x="584200" y="2489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679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Price resistance</a:t>
            </a:r>
          </a:p>
        </p:txBody>
      </p:sp>
      <p:sp>
        <p:nvSpPr>
          <p:cNvPr id="12" name="TextBox 11"/>
          <p:cNvSpPr txBox="1"/>
          <p:nvPr/>
        </p:nvSpPr>
        <p:spPr>
          <a:xfrm>
            <a:off x="4368800" y="2679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Compare a prototype</a:t>
            </a:r>
          </a:p>
          <a:p>
            <a:pPr>
              <a:lnSpc>
                <a:spcPts val="2500"/>
              </a:lnSpc>
              <a:spcBef>
                <a:spcPts val="0"/>
              </a:spcBef>
              <a:spcAft>
                <a:spcPts val="0"/>
              </a:spcAft>
            </a:pPr>
            <a:r>
              <a:rPr sz="1800" b="0" i="0">
                <a:solidFill>
                  <a:srgbClr val="392C42"/>
                </a:solidFill>
                <a:latin typeface="Arial"/>
              </a:rPr>
              <a:t>at the proposed price.</a:t>
            </a:r>
          </a:p>
        </p:txBody>
      </p:sp>
      <p:sp>
        <p:nvSpPr>
          <p:cNvPr id="13" name="TextBox 12"/>
          <p:cNvSpPr txBox="1"/>
          <p:nvPr/>
        </p:nvSpPr>
        <p:spPr>
          <a:xfrm>
            <a:off x="9017000" y="2679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Preference at</a:t>
            </a:r>
          </a:p>
          <a:p>
            <a:pPr>
              <a:lnSpc>
                <a:spcPts val="2400"/>
              </a:lnSpc>
              <a:spcBef>
                <a:spcPts val="0"/>
              </a:spcBef>
              <a:spcAft>
                <a:spcPts val="0"/>
              </a:spcAft>
            </a:pPr>
            <a:r>
              <a:rPr sz="1700" b="0" i="0">
                <a:solidFill>
                  <a:srgbClr val="776C7B"/>
                </a:solidFill>
                <a:latin typeface="Arial"/>
              </a:rPr>
              <a:t>a viable price.</a:t>
            </a:r>
          </a:p>
        </p:txBody>
      </p:sp>
      <p:cxnSp>
        <p:nvCxnSpPr>
          <p:cNvPr id="14" name="Connector 13"/>
          <p:cNvCxnSpPr/>
          <p:nvPr/>
        </p:nvCxnSpPr>
        <p:spPr>
          <a:xfrm>
            <a:off x="584200" y="3505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84200" y="3695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Production complexity</a:t>
            </a:r>
          </a:p>
        </p:txBody>
      </p:sp>
      <p:sp>
        <p:nvSpPr>
          <p:cNvPr id="16" name="TextBox 15"/>
          <p:cNvSpPr txBox="1"/>
          <p:nvPr/>
        </p:nvSpPr>
        <p:spPr>
          <a:xfrm>
            <a:off x="4368800" y="3695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Limit options; check</a:t>
            </a:r>
          </a:p>
          <a:p>
            <a:pPr>
              <a:lnSpc>
                <a:spcPts val="2500"/>
              </a:lnSpc>
              <a:spcBef>
                <a:spcPts val="0"/>
              </a:spcBef>
              <a:spcAft>
                <a:spcPts val="0"/>
              </a:spcAft>
            </a:pPr>
            <a:r>
              <a:rPr sz="1800" b="0" i="0">
                <a:solidFill>
                  <a:srgbClr val="392C42"/>
                </a:solidFill>
                <a:latin typeface="Arial"/>
              </a:rPr>
              <a:t>a supplier-made sample.</a:t>
            </a:r>
          </a:p>
        </p:txBody>
      </p:sp>
      <p:sp>
        <p:nvSpPr>
          <p:cNvPr id="17" name="TextBox 16"/>
          <p:cNvSpPr txBox="1"/>
          <p:nvPr/>
        </p:nvSpPr>
        <p:spPr>
          <a:xfrm>
            <a:off x="9017000" y="3695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Consistent quality</a:t>
            </a:r>
          </a:p>
          <a:p>
            <a:pPr>
              <a:lnSpc>
                <a:spcPts val="2400"/>
              </a:lnSpc>
              <a:spcBef>
                <a:spcPts val="0"/>
              </a:spcBef>
              <a:spcAft>
                <a:spcPts val="0"/>
              </a:spcAft>
            </a:pPr>
            <a:r>
              <a:rPr sz="1700" b="0" i="0">
                <a:solidFill>
                  <a:srgbClr val="776C7B"/>
                </a:solidFill>
                <a:latin typeface="Arial"/>
              </a:rPr>
              <a:t>and realistic lead time.</a:t>
            </a:r>
          </a:p>
        </p:txBody>
      </p:sp>
      <p:cxnSp>
        <p:nvCxnSpPr>
          <p:cNvPr id="18" name="Connector 17"/>
          <p:cNvCxnSpPr/>
          <p:nvPr/>
        </p:nvCxnSpPr>
        <p:spPr>
          <a:xfrm>
            <a:off x="584200" y="45212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84200" y="4711700"/>
            <a:ext cx="3416300" cy="426974"/>
          </a:xfrm>
          <a:prstGeom prst="rect">
            <a:avLst/>
          </a:prstGeom>
          <a:noFill/>
        </p:spPr>
        <p:txBody>
          <a:bodyPr wrap="none" lIns="0" rIns="0" tIns="0" bIns="0" anchor="t">
            <a:spAutoFit/>
          </a:bodyPr>
          <a:lstStyle/>
          <a:p>
            <a:pPr>
              <a:lnSpc>
                <a:spcPts val="2562"/>
              </a:lnSpc>
              <a:spcBef>
                <a:spcPts val="0"/>
              </a:spcBef>
              <a:spcAft>
                <a:spcPts val="0"/>
              </a:spcAft>
            </a:pPr>
            <a:r>
              <a:rPr sz="2100" b="1" i="0">
                <a:solidFill>
                  <a:srgbClr val="392C42"/>
                </a:solidFill>
                <a:latin typeface="Arial"/>
              </a:rPr>
              <a:t>One-time nostalgia</a:t>
            </a:r>
          </a:p>
        </p:txBody>
      </p:sp>
      <p:sp>
        <p:nvSpPr>
          <p:cNvPr id="20" name="TextBox 19"/>
          <p:cNvSpPr txBox="1"/>
          <p:nvPr/>
        </p:nvSpPr>
        <p:spPr>
          <a:xfrm>
            <a:off x="4368800" y="4711700"/>
            <a:ext cx="4267200" cy="736600"/>
          </a:xfrm>
          <a:prstGeom prst="rect">
            <a:avLst/>
          </a:prstGeom>
          <a:noFill/>
        </p:spPr>
        <p:txBody>
          <a:bodyPr wrap="none" lIns="0" rIns="0" tIns="0" bIns="0" anchor="t">
            <a:spAutoFit/>
          </a:bodyPr>
          <a:lstStyle/>
          <a:p>
            <a:pPr>
              <a:lnSpc>
                <a:spcPts val="2500"/>
              </a:lnSpc>
              <a:spcBef>
                <a:spcPts val="0"/>
              </a:spcBef>
              <a:spcAft>
                <a:spcPts val="0"/>
              </a:spcAft>
            </a:pPr>
            <a:r>
              <a:rPr sz="1800" b="0" i="0">
                <a:solidFill>
                  <a:srgbClr val="392C42"/>
                </a:solidFill>
                <a:latin typeface="Arial"/>
              </a:rPr>
              <a:t>Ask about future use</a:t>
            </a:r>
          </a:p>
          <a:p>
            <a:pPr>
              <a:lnSpc>
                <a:spcPts val="2500"/>
              </a:lnSpc>
              <a:spcBef>
                <a:spcPts val="0"/>
              </a:spcBef>
              <a:spcAft>
                <a:spcPts val="0"/>
              </a:spcAft>
            </a:pPr>
            <a:r>
              <a:rPr sz="1800" b="0" i="0">
                <a:solidFill>
                  <a:srgbClr val="392C42"/>
                </a:solidFill>
                <a:latin typeface="Arial"/>
              </a:rPr>
              <a:t>and reasons to buy again.</a:t>
            </a:r>
          </a:p>
        </p:txBody>
      </p:sp>
      <p:sp>
        <p:nvSpPr>
          <p:cNvPr id="21" name="TextBox 20"/>
          <p:cNvSpPr txBox="1"/>
          <p:nvPr/>
        </p:nvSpPr>
        <p:spPr>
          <a:xfrm>
            <a:off x="9017000" y="4711700"/>
            <a:ext cx="26162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776C7B"/>
                </a:solidFill>
                <a:latin typeface="Arial"/>
              </a:rPr>
              <a:t>A credible reason</a:t>
            </a:r>
          </a:p>
          <a:p>
            <a:pPr>
              <a:lnSpc>
                <a:spcPts val="2400"/>
              </a:lnSpc>
              <a:spcBef>
                <a:spcPts val="0"/>
              </a:spcBef>
              <a:spcAft>
                <a:spcPts val="0"/>
              </a:spcAft>
            </a:pPr>
            <a:r>
              <a:rPr sz="1700" b="0" i="0">
                <a:solidFill>
                  <a:srgbClr val="776C7B"/>
                </a:solidFill>
                <a:latin typeface="Arial"/>
              </a:rPr>
              <a:t>for repeat interest.</a:t>
            </a:r>
          </a:p>
        </p:txBody>
      </p:sp>
      <p:sp>
        <p:nvSpPr>
          <p:cNvPr id="22" name="Rounded Rectangle 21"/>
          <p:cNvSpPr/>
          <p:nvPr/>
        </p:nvSpPr>
        <p:spPr>
          <a:xfrm>
            <a:off x="584200" y="5753100"/>
            <a:ext cx="11023600" cy="381000"/>
          </a:xfrm>
          <a:prstGeom prst="roundRect">
            <a:avLst>
              <a:gd name="adj" fmla="val 10000"/>
            </a:avLst>
          </a:prstGeom>
          <a:solidFill>
            <a:srgbClr val="F3E2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900" y="5867400"/>
            <a:ext cx="10756900" cy="287528"/>
          </a:xfrm>
          <a:prstGeom prst="rect">
            <a:avLst/>
          </a:prstGeom>
          <a:noFill/>
        </p:spPr>
        <p:txBody>
          <a:bodyPr wrap="none" lIns="0" rIns="0" tIns="0" bIns="0" anchor="t">
            <a:spAutoFit/>
          </a:bodyPr>
          <a:lstStyle/>
          <a:p>
            <a:pPr>
              <a:lnSpc>
                <a:spcPts val="1464"/>
              </a:lnSpc>
              <a:spcBef>
                <a:spcPts val="0"/>
              </a:spcBef>
              <a:spcAft>
                <a:spcPts val="0"/>
              </a:spcAft>
            </a:pPr>
            <a:r>
              <a:rPr sz="1200" b="0" i="0">
                <a:solidFill>
                  <a:srgbClr val="392C42"/>
                </a:solidFill>
                <a:latin typeface="Arial"/>
              </a:rPr>
              <a:t>Quality context: OCPB reported incomplete labels at some Mega Plaza sellers in June 2026.</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hlinkClick r:id="rId2"/>
              </a:rPr>
              <a:t>S4 / Product and supplier information need checking. The report concerns some sellers, not every squishy.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ILLUSTRATIVE ECONOMICS</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15</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18490"/>
          </a:xfrm>
          <a:prstGeom prst="rect">
            <a:avLst/>
          </a:prstGeom>
          <a:noFill/>
        </p:spPr>
        <p:txBody>
          <a:bodyPr wrap="none" lIns="0" rIns="0" tIns="0" bIns="0" anchor="t">
            <a:spAutoFit/>
          </a:bodyPr>
          <a:lstStyle/>
          <a:p>
            <a:pPr>
              <a:lnSpc>
                <a:spcPts val="4070"/>
              </a:lnSpc>
              <a:spcBef>
                <a:spcPts val="0"/>
              </a:spcBef>
              <a:spcAft>
                <a:spcPts val="0"/>
              </a:spcAft>
            </a:pPr>
            <a:r>
              <a:rPr sz="3700" b="1" i="0">
                <a:solidFill>
                  <a:srgbClr val="392C42"/>
                </a:solidFill>
                <a:latin typeface="Arial"/>
              </a:rPr>
              <a:t>Make the batch pay for itself.</a:t>
            </a:r>
          </a:p>
        </p:txBody>
      </p:sp>
      <p:sp>
        <p:nvSpPr>
          <p:cNvPr id="7" name="TextBox 6"/>
          <p:cNvSpPr txBox="1"/>
          <p:nvPr/>
        </p:nvSpPr>
        <p:spPr>
          <a:xfrm>
            <a:off x="584200" y="2146300"/>
            <a:ext cx="67691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PER SQUISHY / PLANNING ASSUMPTIONS</a:t>
            </a:r>
          </a:p>
        </p:txBody>
      </p:sp>
      <p:sp>
        <p:nvSpPr>
          <p:cNvPr id="8" name="TextBox 7"/>
          <p:cNvSpPr txBox="1"/>
          <p:nvPr/>
        </p:nvSpPr>
        <p:spPr>
          <a:xfrm>
            <a:off x="584200" y="2603500"/>
            <a:ext cx="6502400" cy="674878"/>
          </a:xfrm>
          <a:prstGeom prst="rect">
            <a:avLst/>
          </a:prstGeom>
          <a:noFill/>
        </p:spPr>
        <p:txBody>
          <a:bodyPr wrap="none" lIns="0" rIns="0" tIns="0" bIns="0" anchor="t">
            <a:spAutoFit/>
          </a:bodyPr>
          <a:lstStyle/>
          <a:p>
            <a:pPr>
              <a:lnSpc>
                <a:spcPts val="4514"/>
              </a:lnSpc>
              <a:spcBef>
                <a:spcPts val="0"/>
              </a:spcBef>
              <a:spcAft>
                <a:spcPts val="0"/>
              </a:spcAft>
            </a:pPr>
            <a:r>
              <a:rPr sz="3700" b="1" i="0">
                <a:solidFill>
                  <a:srgbClr val="392C42"/>
                </a:solidFill>
                <a:latin typeface="Arial"/>
              </a:rPr>
              <a:t>THB 349</a:t>
            </a:r>
          </a:p>
        </p:txBody>
      </p:sp>
      <p:sp>
        <p:nvSpPr>
          <p:cNvPr id="9" name="TextBox 8"/>
          <p:cNvSpPr txBox="1"/>
          <p:nvPr/>
        </p:nvSpPr>
        <p:spPr>
          <a:xfrm>
            <a:off x="584200" y="3238500"/>
            <a:ext cx="6502400" cy="364998"/>
          </a:xfrm>
          <a:prstGeom prst="rect">
            <a:avLst/>
          </a:prstGeom>
          <a:noFill/>
        </p:spPr>
        <p:txBody>
          <a:bodyPr wrap="none" lIns="0" rIns="0" tIns="0" bIns="0" anchor="t">
            <a:spAutoFit/>
          </a:bodyPr>
          <a:lstStyle/>
          <a:p>
            <a:pPr>
              <a:lnSpc>
                <a:spcPts val="2074"/>
              </a:lnSpc>
              <a:spcBef>
                <a:spcPts val="0"/>
              </a:spcBef>
              <a:spcAft>
                <a:spcPts val="0"/>
              </a:spcAft>
            </a:pPr>
            <a:r>
              <a:rPr sz="1700" b="0" i="0">
                <a:solidFill>
                  <a:srgbClr val="776C7B"/>
                </a:solidFill>
                <a:latin typeface="Arial"/>
              </a:rPr>
              <a:t>Illustrative selling price</a:t>
            </a:r>
          </a:p>
        </p:txBody>
      </p:sp>
      <p:sp>
        <p:nvSpPr>
          <p:cNvPr id="10" name="Rounded Rectangle 9"/>
          <p:cNvSpPr/>
          <p:nvPr/>
        </p:nvSpPr>
        <p:spPr>
          <a:xfrm>
            <a:off x="584200" y="3822700"/>
            <a:ext cx="3771900" cy="685800"/>
          </a:xfrm>
          <a:prstGeom prst="roundRect">
            <a:avLst>
              <a:gd name="adj" fmla="val 5555"/>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6100" y="3822700"/>
            <a:ext cx="2844800" cy="685800"/>
          </a:xfrm>
          <a:prstGeom prst="roundRect">
            <a:avLst>
              <a:gd name="adj" fmla="val 5555"/>
            </a:avLst>
          </a:prstGeom>
          <a:solidFill>
            <a:srgbClr val="D4E7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2800" y="4013200"/>
            <a:ext cx="3136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199</a:t>
            </a:r>
          </a:p>
        </p:txBody>
      </p:sp>
      <p:sp>
        <p:nvSpPr>
          <p:cNvPr id="13" name="TextBox 12"/>
          <p:cNvSpPr txBox="1"/>
          <p:nvPr/>
        </p:nvSpPr>
        <p:spPr>
          <a:xfrm>
            <a:off x="4584700" y="4013200"/>
            <a:ext cx="2374900" cy="473456"/>
          </a:xfrm>
          <a:prstGeom prst="rect">
            <a:avLst/>
          </a:prstGeom>
          <a:noFill/>
        </p:spPr>
        <p:txBody>
          <a:bodyPr wrap="none" lIns="0" rIns="0" tIns="0" bIns="0" anchor="t">
            <a:spAutoFit/>
          </a:bodyPr>
          <a:lstStyle/>
          <a:p>
            <a:pPr>
              <a:lnSpc>
                <a:spcPts val="2928"/>
              </a:lnSpc>
              <a:spcBef>
                <a:spcPts val="0"/>
              </a:spcBef>
              <a:spcAft>
                <a:spcPts val="0"/>
              </a:spcAft>
            </a:pPr>
            <a:r>
              <a:rPr sz="2400" b="1" i="0">
                <a:solidFill>
                  <a:srgbClr val="392C42"/>
                </a:solidFill>
                <a:latin typeface="Arial"/>
              </a:rPr>
              <a:t>150</a:t>
            </a:r>
          </a:p>
        </p:txBody>
      </p:sp>
      <p:sp>
        <p:nvSpPr>
          <p:cNvPr id="14" name="TextBox 13"/>
          <p:cNvSpPr txBox="1"/>
          <p:nvPr/>
        </p:nvSpPr>
        <p:spPr>
          <a:xfrm>
            <a:off x="584200" y="4711700"/>
            <a:ext cx="36068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Variable cost</a:t>
            </a:r>
          </a:p>
        </p:txBody>
      </p:sp>
      <p:sp>
        <p:nvSpPr>
          <p:cNvPr id="15" name="TextBox 14"/>
          <p:cNvSpPr txBox="1"/>
          <p:nvPr/>
        </p:nvSpPr>
        <p:spPr>
          <a:xfrm>
            <a:off x="4356100" y="4711700"/>
            <a:ext cx="2882900" cy="380492"/>
          </a:xfrm>
          <a:prstGeom prst="rect">
            <a:avLst/>
          </a:prstGeom>
          <a:noFill/>
        </p:spPr>
        <p:txBody>
          <a:bodyPr wrap="none" lIns="0" rIns="0" tIns="0" bIns="0" anchor="t">
            <a:spAutoFit/>
          </a:bodyPr>
          <a:lstStyle/>
          <a:p>
            <a:pPr>
              <a:lnSpc>
                <a:spcPts val="2196"/>
              </a:lnSpc>
              <a:spcBef>
                <a:spcPts val="0"/>
              </a:spcBef>
              <a:spcAft>
                <a:spcPts val="0"/>
              </a:spcAft>
            </a:pPr>
            <a:r>
              <a:rPr sz="1800" b="1" i="0">
                <a:solidFill>
                  <a:srgbClr val="392C42"/>
                </a:solidFill>
                <a:latin typeface="Arial"/>
              </a:rPr>
              <a:t>Contribution</a:t>
            </a:r>
          </a:p>
        </p:txBody>
      </p:sp>
      <p:sp>
        <p:nvSpPr>
          <p:cNvPr id="16" name="TextBox 15"/>
          <p:cNvSpPr txBox="1"/>
          <p:nvPr/>
        </p:nvSpPr>
        <p:spPr>
          <a:xfrm>
            <a:off x="584200" y="5130800"/>
            <a:ext cx="36068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Materials, making and</a:t>
            </a:r>
          </a:p>
          <a:p>
            <a:pPr>
              <a:lnSpc>
                <a:spcPts val="2100"/>
              </a:lnSpc>
              <a:spcBef>
                <a:spcPts val="0"/>
              </a:spcBef>
              <a:spcAft>
                <a:spcPts val="0"/>
              </a:spcAft>
            </a:pPr>
            <a:r>
              <a:rPr sz="1500" b="0" i="0">
                <a:solidFill>
                  <a:srgbClr val="776C7B"/>
                </a:solidFill>
                <a:latin typeface="Arial"/>
              </a:rPr>
              <a:t>other per-unit costs.</a:t>
            </a:r>
          </a:p>
        </p:txBody>
      </p:sp>
      <p:sp>
        <p:nvSpPr>
          <p:cNvPr id="17" name="TextBox 16"/>
          <p:cNvSpPr txBox="1"/>
          <p:nvPr/>
        </p:nvSpPr>
        <p:spPr>
          <a:xfrm>
            <a:off x="4356100" y="5130800"/>
            <a:ext cx="2882900" cy="635000"/>
          </a:xfrm>
          <a:prstGeom prst="rect">
            <a:avLst/>
          </a:prstGeom>
          <a:noFill/>
        </p:spPr>
        <p:txBody>
          <a:bodyPr wrap="none" lIns="0" rIns="0" tIns="0" bIns="0" anchor="t">
            <a:spAutoFit/>
          </a:bodyPr>
          <a:lstStyle/>
          <a:p>
            <a:pPr>
              <a:lnSpc>
                <a:spcPts val="2100"/>
              </a:lnSpc>
              <a:spcBef>
                <a:spcPts val="0"/>
              </a:spcBef>
              <a:spcAft>
                <a:spcPts val="0"/>
              </a:spcAft>
            </a:pPr>
            <a:r>
              <a:rPr sz="1500" b="0" i="0">
                <a:solidFill>
                  <a:srgbClr val="776C7B"/>
                </a:solidFill>
                <a:latin typeface="Arial"/>
              </a:rPr>
              <a:t>Amount left to cover</a:t>
            </a:r>
          </a:p>
          <a:p>
            <a:pPr>
              <a:lnSpc>
                <a:spcPts val="2100"/>
              </a:lnSpc>
              <a:spcBef>
                <a:spcPts val="0"/>
              </a:spcBef>
              <a:spcAft>
                <a:spcPts val="0"/>
              </a:spcAft>
            </a:pPr>
            <a:r>
              <a:rPr sz="1500" b="0" i="0">
                <a:solidFill>
                  <a:srgbClr val="776C7B"/>
                </a:solidFill>
                <a:latin typeface="Arial"/>
              </a:rPr>
              <a:t>fixed setup costs.</a:t>
            </a:r>
          </a:p>
        </p:txBody>
      </p:sp>
      <p:sp>
        <p:nvSpPr>
          <p:cNvPr id="18" name="Rounded Rectangle 17"/>
          <p:cNvSpPr/>
          <p:nvPr/>
        </p:nvSpPr>
        <p:spPr>
          <a:xfrm>
            <a:off x="7810500" y="2070100"/>
            <a:ext cx="3797300" cy="3911600"/>
          </a:xfrm>
          <a:prstGeom prst="roundRect">
            <a:avLst>
              <a:gd name="adj" fmla="val 1672"/>
            </a:avLst>
          </a:prstGeom>
          <a:solidFill>
            <a:srgbClr val="392C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2600" y="2374900"/>
            <a:ext cx="32258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D9CDF2"/>
                </a:solidFill>
                <a:latin typeface="Press Start 2P"/>
              </a:rPr>
              <a:t>ILLUSTRATIVE BATCH</a:t>
            </a:r>
          </a:p>
        </p:txBody>
      </p:sp>
      <p:sp>
        <p:nvSpPr>
          <p:cNvPr id="20" name="TextBox 19"/>
          <p:cNvSpPr txBox="1"/>
          <p:nvPr/>
        </p:nvSpPr>
        <p:spPr>
          <a:xfrm>
            <a:off x="8102600" y="2832100"/>
            <a:ext cx="3225800" cy="1496060"/>
          </a:xfrm>
          <a:prstGeom prst="rect">
            <a:avLst/>
          </a:prstGeom>
          <a:noFill/>
        </p:spPr>
        <p:txBody>
          <a:bodyPr wrap="none" lIns="0" rIns="0" tIns="0" bIns="0" anchor="t">
            <a:spAutoFit/>
          </a:bodyPr>
          <a:lstStyle/>
          <a:p>
            <a:pPr>
              <a:lnSpc>
                <a:spcPts val="10980"/>
              </a:lnSpc>
              <a:spcBef>
                <a:spcPts val="0"/>
              </a:spcBef>
              <a:spcAft>
                <a:spcPts val="0"/>
              </a:spcAft>
            </a:pPr>
            <a:r>
              <a:rPr sz="9000" b="1" i="0">
                <a:solidFill>
                  <a:srgbClr val="FFFAF2"/>
                </a:solidFill>
                <a:latin typeface="Arial"/>
              </a:rPr>
              <a:t>30</a:t>
            </a:r>
          </a:p>
        </p:txBody>
      </p:sp>
      <p:sp>
        <p:nvSpPr>
          <p:cNvPr id="21" name="TextBox 20"/>
          <p:cNvSpPr txBox="1"/>
          <p:nvPr/>
        </p:nvSpPr>
        <p:spPr>
          <a:xfrm>
            <a:off x="8128000" y="4152900"/>
            <a:ext cx="3200400" cy="395986"/>
          </a:xfrm>
          <a:prstGeom prst="rect">
            <a:avLst/>
          </a:prstGeom>
          <a:noFill/>
        </p:spPr>
        <p:txBody>
          <a:bodyPr wrap="none" lIns="0" rIns="0" tIns="0" bIns="0" anchor="t">
            <a:spAutoFit/>
          </a:bodyPr>
          <a:lstStyle/>
          <a:p>
            <a:pPr>
              <a:lnSpc>
                <a:spcPts val="2318"/>
              </a:lnSpc>
              <a:spcBef>
                <a:spcPts val="0"/>
              </a:spcBef>
              <a:spcAft>
                <a:spcPts val="0"/>
              </a:spcAft>
            </a:pPr>
            <a:r>
              <a:rPr sz="1900" b="0" i="0">
                <a:solidFill>
                  <a:srgbClr val="FFFAF2"/>
                </a:solidFill>
                <a:latin typeface="Arial"/>
              </a:rPr>
              <a:t>units to cover setup</a:t>
            </a:r>
          </a:p>
        </p:txBody>
      </p:sp>
      <p:sp>
        <p:nvSpPr>
          <p:cNvPr id="22" name="TextBox 21"/>
          <p:cNvSpPr txBox="1"/>
          <p:nvPr/>
        </p:nvSpPr>
        <p:spPr>
          <a:xfrm>
            <a:off x="8128000" y="4737100"/>
            <a:ext cx="32004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D9CDF2"/>
                </a:solidFill>
                <a:latin typeface="Arial"/>
              </a:rPr>
              <a:t>THB 4,500 ÷ THB 150</a:t>
            </a:r>
          </a:p>
        </p:txBody>
      </p:sp>
      <p:sp>
        <p:nvSpPr>
          <p:cNvPr id="23" name="TextBox 22"/>
          <p:cNvSpPr txBox="1"/>
          <p:nvPr/>
        </p:nvSpPr>
        <p:spPr>
          <a:xfrm>
            <a:off x="8128000" y="5232400"/>
            <a:ext cx="3200400" cy="609600"/>
          </a:xfrm>
          <a:prstGeom prst="rect">
            <a:avLst/>
          </a:prstGeom>
          <a:noFill/>
        </p:spPr>
        <p:txBody>
          <a:bodyPr wrap="none" lIns="0" rIns="0" tIns="0" bIns="0" anchor="t">
            <a:spAutoFit/>
          </a:bodyPr>
          <a:lstStyle/>
          <a:p>
            <a:pPr>
              <a:lnSpc>
                <a:spcPts val="2000"/>
              </a:lnSpc>
              <a:spcBef>
                <a:spcPts val="0"/>
              </a:spcBef>
              <a:spcAft>
                <a:spcPts val="0"/>
              </a:spcAft>
            </a:pPr>
            <a:r>
              <a:rPr sz="1400" b="0" i="0">
                <a:solidFill>
                  <a:srgbClr val="D8CBDD"/>
                </a:solidFill>
                <a:latin typeface="Arial"/>
              </a:rPr>
              <a:t>The actual threshold must also</a:t>
            </a:r>
          </a:p>
          <a:p>
            <a:pPr>
              <a:lnSpc>
                <a:spcPts val="2000"/>
              </a:lnSpc>
              <a:spcBef>
                <a:spcPts val="0"/>
              </a:spcBef>
              <a:spcAft>
                <a:spcPts val="0"/>
              </a:spcAft>
            </a:pPr>
            <a:r>
              <a:rPr sz="1400" b="0" i="0">
                <a:solidFill>
                  <a:srgbClr val="D8CBDD"/>
                </a:solidFill>
                <a:latin typeface="Arial"/>
              </a:rPr>
              <a:t>meet supplier minimums.</a:t>
            </a:r>
          </a:p>
        </p:txBody>
      </p:sp>
      <p:cxnSp>
        <p:nvCxnSpPr>
          <p:cNvPr id="24" name="Connector 23"/>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All figures are assumptions. Verify every cost, supplier MOQ and willingness to pay before real pre-orders.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04 / VALIDATION PLAN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16</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46430"/>
          </a:xfrm>
          <a:prstGeom prst="rect">
            <a:avLst/>
          </a:prstGeom>
          <a:noFill/>
        </p:spPr>
        <p:txBody>
          <a:bodyPr wrap="none" lIns="0" rIns="0" tIns="0" bIns="0" anchor="t">
            <a:spAutoFit/>
          </a:bodyPr>
          <a:lstStyle/>
          <a:p>
            <a:pPr>
              <a:lnSpc>
                <a:spcPts val="4290"/>
              </a:lnSpc>
              <a:spcBef>
                <a:spcPts val="0"/>
              </a:spcBef>
              <a:spcAft>
                <a:spcPts val="0"/>
              </a:spcAft>
            </a:pPr>
            <a:r>
              <a:rPr sz="3900" b="1" i="0">
                <a:solidFill>
                  <a:srgbClr val="392C42"/>
                </a:solidFill>
                <a:latin typeface="Arial"/>
              </a:rPr>
              <a:t>Ask. Observe. Then commit.</a:t>
            </a:r>
          </a:p>
        </p:txBody>
      </p:sp>
      <p:sp>
        <p:nvSpPr>
          <p:cNvPr id="7" name="TextBox 6"/>
          <p:cNvSpPr txBox="1"/>
          <p:nvPr/>
        </p:nvSpPr>
        <p:spPr>
          <a:xfrm>
            <a:off x="584200" y="25273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01</a:t>
            </a:r>
          </a:p>
        </p:txBody>
      </p:sp>
      <p:sp>
        <p:nvSpPr>
          <p:cNvPr id="8" name="TextBox 7"/>
          <p:cNvSpPr txBox="1"/>
          <p:nvPr/>
        </p:nvSpPr>
        <p:spPr>
          <a:xfrm>
            <a:off x="1358900" y="24638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Buyer interviews</a:t>
            </a:r>
          </a:p>
        </p:txBody>
      </p:sp>
      <p:sp>
        <p:nvSpPr>
          <p:cNvPr id="9" name="TextBox 8"/>
          <p:cNvSpPr txBox="1"/>
          <p:nvPr/>
        </p:nvSpPr>
        <p:spPr>
          <a:xfrm>
            <a:off x="4749800" y="24638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Ask about the last actual purchase,</a:t>
            </a:r>
          </a:p>
          <a:p>
            <a:pPr>
              <a:lnSpc>
                <a:spcPts val="2400"/>
              </a:lnSpc>
              <a:spcBef>
                <a:spcPts val="0"/>
              </a:spcBef>
              <a:spcAft>
                <a:spcPts val="0"/>
              </a:spcAft>
            </a:pPr>
            <a:r>
              <a:rPr sz="1700" b="0" i="0">
                <a:solidFill>
                  <a:srgbClr val="392C42"/>
                </a:solidFill>
                <a:latin typeface="Arial"/>
              </a:rPr>
              <a:t>then memory and discovery.</a:t>
            </a:r>
          </a:p>
        </p:txBody>
      </p:sp>
      <p:sp>
        <p:nvSpPr>
          <p:cNvPr id="10" name="TextBox 9"/>
          <p:cNvSpPr txBox="1"/>
          <p:nvPr/>
        </p:nvSpPr>
        <p:spPr>
          <a:xfrm>
            <a:off x="9321800" y="24638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A grounded consumer</a:t>
            </a:r>
          </a:p>
          <a:p>
            <a:pPr>
              <a:lnSpc>
                <a:spcPts val="2300"/>
              </a:lnSpc>
              <a:spcBef>
                <a:spcPts val="0"/>
              </a:spcBef>
              <a:spcAft>
                <a:spcPts val="0"/>
              </a:spcAft>
            </a:pPr>
            <a:r>
              <a:rPr sz="1600" b="0" i="0">
                <a:solidFill>
                  <a:srgbClr val="776C7B"/>
                </a:solidFill>
                <a:latin typeface="Arial"/>
              </a:rPr>
              <a:t>explanation.</a:t>
            </a:r>
          </a:p>
        </p:txBody>
      </p:sp>
      <p:cxnSp>
        <p:nvCxnSpPr>
          <p:cNvPr id="11" name="Connector 10"/>
          <p:cNvCxnSpPr/>
          <p:nvPr/>
        </p:nvCxnSpPr>
        <p:spPr>
          <a:xfrm>
            <a:off x="584200" y="34163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84200" y="37465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02</a:t>
            </a:r>
          </a:p>
        </p:txBody>
      </p:sp>
      <p:sp>
        <p:nvSpPr>
          <p:cNvPr id="13" name="TextBox 12"/>
          <p:cNvSpPr txBox="1"/>
          <p:nvPr/>
        </p:nvSpPr>
        <p:spPr>
          <a:xfrm>
            <a:off x="1358900" y="3683000"/>
            <a:ext cx="3124200" cy="457962"/>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Concept &amp; prototype</a:t>
            </a:r>
          </a:p>
        </p:txBody>
      </p:sp>
      <p:sp>
        <p:nvSpPr>
          <p:cNvPr id="14" name="TextBox 13"/>
          <p:cNvSpPr txBox="1"/>
          <p:nvPr/>
        </p:nvSpPr>
        <p:spPr>
          <a:xfrm>
            <a:off x="4749800" y="36830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Show the idea after behaviour questions.</a:t>
            </a:r>
          </a:p>
          <a:p>
            <a:pPr>
              <a:lnSpc>
                <a:spcPts val="2400"/>
              </a:lnSpc>
              <a:spcBef>
                <a:spcPts val="0"/>
              </a:spcBef>
              <a:spcAft>
                <a:spcPts val="0"/>
              </a:spcAft>
            </a:pPr>
            <a:r>
              <a:rPr sz="1700" b="0" i="0">
                <a:solidFill>
                  <a:srgbClr val="392C42"/>
                </a:solidFill>
                <a:latin typeface="Arial"/>
              </a:rPr>
              <a:t>Compare the design at a viable price.</a:t>
            </a:r>
          </a:p>
        </p:txBody>
      </p:sp>
      <p:sp>
        <p:nvSpPr>
          <p:cNvPr id="15" name="TextBox 14"/>
          <p:cNvSpPr txBox="1"/>
          <p:nvPr/>
        </p:nvSpPr>
        <p:spPr>
          <a:xfrm>
            <a:off x="9321800" y="36830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Preference, concerns</a:t>
            </a:r>
          </a:p>
          <a:p>
            <a:pPr>
              <a:lnSpc>
                <a:spcPts val="2300"/>
              </a:lnSpc>
              <a:spcBef>
                <a:spcPts val="0"/>
              </a:spcBef>
              <a:spcAft>
                <a:spcPts val="0"/>
              </a:spcAft>
            </a:pPr>
            <a:r>
              <a:rPr sz="1600" b="0" i="0">
                <a:solidFill>
                  <a:srgbClr val="776C7B"/>
                </a:solidFill>
                <a:latin typeface="Arial"/>
              </a:rPr>
              <a:t>and usability.</a:t>
            </a:r>
          </a:p>
        </p:txBody>
      </p:sp>
      <p:cxnSp>
        <p:nvCxnSpPr>
          <p:cNvPr id="16" name="Connector 15"/>
          <p:cNvCxnSpPr/>
          <p:nvPr/>
        </p:nvCxnSpPr>
        <p:spPr>
          <a:xfrm>
            <a:off x="584200" y="46355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965700"/>
            <a:ext cx="5842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03</a:t>
            </a:r>
          </a:p>
        </p:txBody>
      </p:sp>
      <p:sp>
        <p:nvSpPr>
          <p:cNvPr id="18" name="TextBox 17"/>
          <p:cNvSpPr txBox="1"/>
          <p:nvPr/>
        </p:nvSpPr>
        <p:spPr>
          <a:xfrm>
            <a:off x="1358900" y="4902200"/>
            <a:ext cx="3124200" cy="814324"/>
          </a:xfrm>
          <a:prstGeom prst="rect">
            <a:avLst/>
          </a:prstGeom>
          <a:noFill/>
        </p:spPr>
        <p:txBody>
          <a:bodyPr wrap="none" lIns="0" rIns="0" tIns="0" bIns="0" anchor="t">
            <a:spAutoFit/>
          </a:bodyPr>
          <a:lstStyle/>
          <a:p>
            <a:pPr>
              <a:lnSpc>
                <a:spcPts val="2806"/>
              </a:lnSpc>
              <a:spcBef>
                <a:spcPts val="0"/>
              </a:spcBef>
              <a:spcAft>
                <a:spcPts val="0"/>
              </a:spcAft>
            </a:pPr>
            <a:r>
              <a:rPr sz="2300" b="1" i="0">
                <a:solidFill>
                  <a:srgbClr val="392C42"/>
                </a:solidFill>
                <a:latin typeface="Arial"/>
              </a:rPr>
              <a:t>Supplier &amp; purchase</a:t>
            </a:r>
          </a:p>
          <a:p>
            <a:pPr>
              <a:lnSpc>
                <a:spcPts val="2806"/>
              </a:lnSpc>
              <a:spcBef>
                <a:spcPts val="0"/>
              </a:spcBef>
              <a:spcAft>
                <a:spcPts val="0"/>
              </a:spcAft>
            </a:pPr>
            <a:r>
              <a:rPr sz="2300" b="1" i="0">
                <a:solidFill>
                  <a:srgbClr val="392C42"/>
                </a:solidFill>
                <a:latin typeface="Arial"/>
              </a:rPr>
              <a:t>test</a:t>
            </a:r>
          </a:p>
        </p:txBody>
      </p:sp>
      <p:sp>
        <p:nvSpPr>
          <p:cNvPr id="19" name="TextBox 18"/>
          <p:cNvSpPr txBox="1"/>
          <p:nvPr/>
        </p:nvSpPr>
        <p:spPr>
          <a:xfrm>
            <a:off x="4749800" y="4902200"/>
            <a:ext cx="40894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392C42"/>
                </a:solidFill>
                <a:latin typeface="Arial"/>
              </a:rPr>
              <a:t>Confirm samples, costs and terms</a:t>
            </a:r>
          </a:p>
          <a:p>
            <a:pPr>
              <a:lnSpc>
                <a:spcPts val="2400"/>
              </a:lnSpc>
              <a:spcBef>
                <a:spcPts val="0"/>
              </a:spcBef>
              <a:spcAft>
                <a:spcPts val="0"/>
              </a:spcAft>
            </a:pPr>
            <a:r>
              <a:rPr sz="1700" b="0" i="0">
                <a:solidFill>
                  <a:srgbClr val="392C42"/>
                </a:solidFill>
                <a:latin typeface="Arial"/>
              </a:rPr>
              <a:t>before accepting real pre-orders.</a:t>
            </a:r>
          </a:p>
        </p:txBody>
      </p:sp>
      <p:sp>
        <p:nvSpPr>
          <p:cNvPr id="20" name="TextBox 19"/>
          <p:cNvSpPr txBox="1"/>
          <p:nvPr/>
        </p:nvSpPr>
        <p:spPr>
          <a:xfrm>
            <a:off x="9321800" y="4902200"/>
            <a:ext cx="2311400" cy="685800"/>
          </a:xfrm>
          <a:prstGeom prst="rect">
            <a:avLst/>
          </a:prstGeom>
          <a:noFill/>
        </p:spPr>
        <p:txBody>
          <a:bodyPr wrap="none" lIns="0" rIns="0" tIns="0" bIns="0" anchor="t">
            <a:spAutoFit/>
          </a:bodyPr>
          <a:lstStyle/>
          <a:p>
            <a:pPr>
              <a:lnSpc>
                <a:spcPts val="2300"/>
              </a:lnSpc>
              <a:spcBef>
                <a:spcPts val="0"/>
              </a:spcBef>
              <a:spcAft>
                <a:spcPts val="0"/>
              </a:spcAft>
            </a:pPr>
            <a:r>
              <a:rPr sz="1600" b="0" i="0">
                <a:solidFill>
                  <a:srgbClr val="776C7B"/>
                </a:solidFill>
                <a:latin typeface="Arial"/>
              </a:rPr>
              <a:t>Quality and credible paid</a:t>
            </a:r>
          </a:p>
          <a:p>
            <a:pPr>
              <a:lnSpc>
                <a:spcPts val="2300"/>
              </a:lnSpc>
              <a:spcBef>
                <a:spcPts val="0"/>
              </a:spcBef>
              <a:spcAft>
                <a:spcPts val="0"/>
              </a:spcAft>
            </a:pPr>
            <a:r>
              <a:rPr sz="1600" b="0" i="0">
                <a:solidFill>
                  <a:srgbClr val="776C7B"/>
                </a:solidFill>
                <a:latin typeface="Arial"/>
              </a:rPr>
              <a:t>demand.</a:t>
            </a:r>
          </a:p>
        </p:txBody>
      </p:sp>
      <p:cxnSp>
        <p:nvCxnSpPr>
          <p:cNvPr id="21" name="Connector 20"/>
          <p:cNvCxnSpPr/>
          <p:nvPr/>
        </p:nvCxnSpPr>
        <p:spPr>
          <a:xfrm>
            <a:off x="584200" y="5854700"/>
            <a:ext cx="110236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Convenience interviews and stated intention are exploratory. Demo reservations are not real sales.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392C4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FFFAF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D8CBDD"/>
                </a:solidFill>
                <a:latin typeface="Arial"/>
              </a:rPr>
              <a:t>04 / RECOMMENDATION</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FFFAF2"/>
                </a:solidFill>
                <a:latin typeface="Arial"/>
              </a:rPr>
              <a:t>17</a:t>
            </a:r>
          </a:p>
        </p:txBody>
      </p:sp>
      <p:cxnSp>
        <p:nvCxnSpPr>
          <p:cNvPr id="5" name="Connector 4"/>
          <p:cNvCxnSpPr/>
          <p:nvPr/>
        </p:nvCxnSpPr>
        <p:spPr>
          <a:xfrm>
            <a:off x="584200" y="7366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346200"/>
            <a:ext cx="6172200" cy="2273300"/>
          </a:xfrm>
          <a:prstGeom prst="rect">
            <a:avLst/>
          </a:prstGeom>
          <a:noFill/>
        </p:spPr>
        <p:txBody>
          <a:bodyPr wrap="none" lIns="0" rIns="0" tIns="0" bIns="0" anchor="t">
            <a:spAutoFit/>
          </a:bodyPr>
          <a:lstStyle/>
          <a:p>
            <a:pPr>
              <a:lnSpc>
                <a:spcPts val="5700"/>
              </a:lnSpc>
              <a:spcBef>
                <a:spcPts val="0"/>
              </a:spcBef>
              <a:spcAft>
                <a:spcPts val="0"/>
              </a:spcAft>
            </a:pPr>
            <a:r>
              <a:rPr sz="5100" b="1" i="0">
                <a:solidFill>
                  <a:srgbClr val="FFFAF2"/>
                </a:solidFill>
                <a:latin typeface="Arial"/>
              </a:rPr>
              <a:t>Start small.</a:t>
            </a:r>
          </a:p>
          <a:p>
            <a:pPr>
              <a:lnSpc>
                <a:spcPts val="5700"/>
              </a:lnSpc>
              <a:spcBef>
                <a:spcPts val="0"/>
              </a:spcBef>
              <a:spcAft>
                <a:spcPts val="0"/>
              </a:spcAft>
            </a:pPr>
            <a:r>
              <a:rPr sz="5100" b="1" i="0">
                <a:solidFill>
                  <a:srgbClr val="FFFAF2"/>
                </a:solidFill>
                <a:latin typeface="Arial"/>
              </a:rPr>
              <a:t>Earn the</a:t>
            </a:r>
          </a:p>
          <a:p>
            <a:pPr>
              <a:lnSpc>
                <a:spcPts val="5700"/>
              </a:lnSpc>
              <a:spcBef>
                <a:spcPts val="0"/>
              </a:spcBef>
              <a:spcAft>
                <a:spcPts val="0"/>
              </a:spcAft>
            </a:pPr>
            <a:r>
              <a:rPr sz="5100" b="1" i="0">
                <a:solidFill>
                  <a:srgbClr val="FFFAF2"/>
                </a:solidFill>
                <a:latin typeface="Arial"/>
              </a:rPr>
              <a:t>next batch.</a:t>
            </a:r>
          </a:p>
        </p:txBody>
      </p:sp>
      <p:sp>
        <p:nvSpPr>
          <p:cNvPr id="7" name="TextBox 6"/>
          <p:cNvSpPr txBox="1"/>
          <p:nvPr/>
        </p:nvSpPr>
        <p:spPr>
          <a:xfrm>
            <a:off x="609600" y="4267200"/>
            <a:ext cx="5740400" cy="863600"/>
          </a:xfrm>
          <a:prstGeom prst="rect">
            <a:avLst/>
          </a:prstGeom>
          <a:noFill/>
        </p:spPr>
        <p:txBody>
          <a:bodyPr wrap="none" lIns="0" rIns="0" tIns="0" bIns="0" anchor="t">
            <a:spAutoFit/>
          </a:bodyPr>
          <a:lstStyle/>
          <a:p>
            <a:pPr>
              <a:lnSpc>
                <a:spcPts val="3000"/>
              </a:lnSpc>
              <a:spcBef>
                <a:spcPts val="0"/>
              </a:spcBef>
              <a:spcAft>
                <a:spcPts val="0"/>
              </a:spcAft>
            </a:pPr>
            <a:r>
              <a:rPr sz="2100" b="0" i="0">
                <a:solidFill>
                  <a:srgbClr val="D8CBDD"/>
                </a:solidFill>
                <a:latin typeface="Arial"/>
              </a:rPr>
              <a:t>Test one collection with working adults.</a:t>
            </a:r>
          </a:p>
          <a:p>
            <a:pPr>
              <a:lnSpc>
                <a:spcPts val="3000"/>
              </a:lnSpc>
              <a:spcBef>
                <a:spcPts val="0"/>
              </a:spcBef>
              <a:spcAft>
                <a:spcPts val="0"/>
              </a:spcAft>
            </a:pPr>
            <a:r>
              <a:rPr sz="2100" b="0" i="0">
                <a:solidFill>
                  <a:srgbClr val="D8CBDD"/>
                </a:solidFill>
                <a:latin typeface="Arial"/>
              </a:rPr>
              <a:t>Let weak results change the idea.</a:t>
            </a:r>
          </a:p>
        </p:txBody>
      </p:sp>
      <p:sp>
        <p:nvSpPr>
          <p:cNvPr id="8" name="TextBox 7"/>
          <p:cNvSpPr txBox="1"/>
          <p:nvPr/>
        </p:nvSpPr>
        <p:spPr>
          <a:xfrm>
            <a:off x="609600" y="5562600"/>
            <a:ext cx="5740400" cy="349504"/>
          </a:xfrm>
          <a:prstGeom prst="rect">
            <a:avLst/>
          </a:prstGeom>
          <a:noFill/>
        </p:spPr>
        <p:txBody>
          <a:bodyPr wrap="none" lIns="0" rIns="0" tIns="0" bIns="0" anchor="t">
            <a:spAutoFit/>
          </a:bodyPr>
          <a:lstStyle/>
          <a:p>
            <a:pPr>
              <a:lnSpc>
                <a:spcPts val="1952"/>
              </a:lnSpc>
              <a:spcBef>
                <a:spcPts val="0"/>
              </a:spcBef>
              <a:spcAft>
                <a:spcPts val="0"/>
              </a:spcAft>
            </a:pPr>
            <a:r>
              <a:rPr sz="1600" b="1" i="0">
                <a:solidFill>
                  <a:srgbClr val="D9CDF2"/>
                </a:solidFill>
                <a:latin typeface="Arial"/>
                <a:hlinkClick r:id="rId2"/>
              </a:rPr>
              <a:t>Explore the prototype →</a:t>
            </a:r>
          </a:p>
        </p:txBody>
      </p:sp>
      <p:sp>
        <p:nvSpPr>
          <p:cNvPr id="9" name="TextBox 8"/>
          <p:cNvSpPr txBox="1"/>
          <p:nvPr/>
        </p:nvSpPr>
        <p:spPr>
          <a:xfrm>
            <a:off x="7200900" y="14986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EFBFD0"/>
                </a:solidFill>
                <a:latin typeface="Press Start 2P"/>
              </a:rPr>
              <a:t>01</a:t>
            </a:r>
          </a:p>
        </p:txBody>
      </p:sp>
      <p:sp>
        <p:nvSpPr>
          <p:cNvPr id="10" name="TextBox 9"/>
          <p:cNvSpPr txBox="1"/>
          <p:nvPr/>
        </p:nvSpPr>
        <p:spPr>
          <a:xfrm>
            <a:off x="7924800" y="14605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People choose it.</a:t>
            </a:r>
          </a:p>
        </p:txBody>
      </p:sp>
      <p:sp>
        <p:nvSpPr>
          <p:cNvPr id="11" name="TextBox 10"/>
          <p:cNvSpPr txBox="1"/>
          <p:nvPr/>
        </p:nvSpPr>
        <p:spPr>
          <a:xfrm>
            <a:off x="7924800" y="19939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At a price the business can sustain.</a:t>
            </a:r>
          </a:p>
        </p:txBody>
      </p:sp>
      <p:cxnSp>
        <p:nvCxnSpPr>
          <p:cNvPr id="12" name="Connector 11"/>
          <p:cNvCxnSpPr/>
          <p:nvPr/>
        </p:nvCxnSpPr>
        <p:spPr>
          <a:xfrm>
            <a:off x="7200900" y="26543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200900" y="29972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9CDF2"/>
                </a:solidFill>
                <a:latin typeface="Press Start 2P"/>
              </a:rPr>
              <a:t>02</a:t>
            </a:r>
          </a:p>
        </p:txBody>
      </p:sp>
      <p:sp>
        <p:nvSpPr>
          <p:cNvPr id="14" name="TextBox 13"/>
          <p:cNvSpPr txBox="1"/>
          <p:nvPr/>
        </p:nvSpPr>
        <p:spPr>
          <a:xfrm>
            <a:off x="7924800" y="29591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Quality is consistent.</a:t>
            </a:r>
          </a:p>
        </p:txBody>
      </p:sp>
      <p:sp>
        <p:nvSpPr>
          <p:cNvPr id="15" name="TextBox 14"/>
          <p:cNvSpPr txBox="1"/>
          <p:nvPr/>
        </p:nvSpPr>
        <p:spPr>
          <a:xfrm>
            <a:off x="7924800" y="3492500"/>
            <a:ext cx="3695700" cy="4064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The sample matches the promise.</a:t>
            </a:r>
          </a:p>
        </p:txBody>
      </p:sp>
      <p:cxnSp>
        <p:nvCxnSpPr>
          <p:cNvPr id="16" name="Connector 15"/>
          <p:cNvCxnSpPr/>
          <p:nvPr/>
        </p:nvCxnSpPr>
        <p:spPr>
          <a:xfrm>
            <a:off x="7200900" y="41529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00900" y="4495800"/>
            <a:ext cx="609600" cy="311150"/>
          </a:xfrm>
          <a:prstGeom prst="rect">
            <a:avLst/>
          </a:prstGeom>
          <a:noFill/>
        </p:spPr>
        <p:txBody>
          <a:bodyPr wrap="none" lIns="0" rIns="0" tIns="0" bIns="0" anchor="t">
            <a:spAutoFit/>
          </a:bodyPr>
          <a:lstStyle/>
          <a:p>
            <a:pPr>
              <a:lnSpc>
                <a:spcPts val="1650"/>
              </a:lnSpc>
              <a:spcBef>
                <a:spcPts val="0"/>
              </a:spcBef>
              <a:spcAft>
                <a:spcPts val="0"/>
              </a:spcAft>
            </a:pPr>
            <a:r>
              <a:rPr sz="1100" b="0" i="0">
                <a:solidFill>
                  <a:srgbClr val="D4E7D9"/>
                </a:solidFill>
                <a:latin typeface="Press Start 2P"/>
              </a:rPr>
              <a:t>03</a:t>
            </a:r>
          </a:p>
        </p:txBody>
      </p:sp>
      <p:sp>
        <p:nvSpPr>
          <p:cNvPr id="18" name="TextBox 17"/>
          <p:cNvSpPr txBox="1"/>
          <p:nvPr/>
        </p:nvSpPr>
        <p:spPr>
          <a:xfrm>
            <a:off x="7924800" y="4457700"/>
            <a:ext cx="3695700" cy="488950"/>
          </a:xfrm>
          <a:prstGeom prst="rect">
            <a:avLst/>
          </a:prstGeom>
          <a:noFill/>
        </p:spPr>
        <p:txBody>
          <a:bodyPr wrap="none" lIns="0" rIns="0" tIns="0" bIns="0" anchor="t">
            <a:spAutoFit/>
          </a:bodyPr>
          <a:lstStyle/>
          <a:p>
            <a:pPr>
              <a:lnSpc>
                <a:spcPts val="3050"/>
              </a:lnSpc>
              <a:spcBef>
                <a:spcPts val="0"/>
              </a:spcBef>
              <a:spcAft>
                <a:spcPts val="0"/>
              </a:spcAft>
            </a:pPr>
            <a:r>
              <a:rPr sz="2500" b="1" i="0">
                <a:solidFill>
                  <a:srgbClr val="FFFAF2"/>
                </a:solidFill>
                <a:latin typeface="Arial"/>
              </a:rPr>
              <a:t>The batch pays.</a:t>
            </a:r>
          </a:p>
        </p:txBody>
      </p:sp>
      <p:sp>
        <p:nvSpPr>
          <p:cNvPr id="19" name="TextBox 18"/>
          <p:cNvSpPr txBox="1"/>
          <p:nvPr/>
        </p:nvSpPr>
        <p:spPr>
          <a:xfrm>
            <a:off x="7924800" y="4991100"/>
            <a:ext cx="3695700" cy="711200"/>
          </a:xfrm>
          <a:prstGeom prst="rect">
            <a:avLst/>
          </a:prstGeom>
          <a:noFill/>
        </p:spPr>
        <p:txBody>
          <a:bodyPr wrap="none" lIns="0" rIns="0" tIns="0" bIns="0" anchor="t">
            <a:spAutoFit/>
          </a:bodyPr>
          <a:lstStyle/>
          <a:p>
            <a:pPr>
              <a:lnSpc>
                <a:spcPts val="2400"/>
              </a:lnSpc>
              <a:spcBef>
                <a:spcPts val="0"/>
              </a:spcBef>
              <a:spcAft>
                <a:spcPts val="0"/>
              </a:spcAft>
            </a:pPr>
            <a:r>
              <a:rPr sz="1700" b="0" i="0">
                <a:solidFill>
                  <a:srgbClr val="D8CBDD"/>
                </a:solidFill>
                <a:latin typeface="Arial"/>
              </a:rPr>
              <a:t>Confirmed orders cover the viable</a:t>
            </a:r>
          </a:p>
          <a:p>
            <a:pPr>
              <a:lnSpc>
                <a:spcPts val="2400"/>
              </a:lnSpc>
              <a:spcBef>
                <a:spcPts val="0"/>
              </a:spcBef>
              <a:spcAft>
                <a:spcPts val="0"/>
              </a:spcAft>
            </a:pPr>
            <a:r>
              <a:rPr sz="1700" b="0" i="0">
                <a:solidFill>
                  <a:srgbClr val="D8CBDD"/>
                </a:solidFill>
                <a:latin typeface="Arial"/>
              </a:rPr>
              <a:t>minimum.</a:t>
            </a:r>
          </a:p>
        </p:txBody>
      </p:sp>
      <p:cxnSp>
        <p:nvCxnSpPr>
          <p:cNvPr id="20" name="Connector 19"/>
          <p:cNvCxnSpPr/>
          <p:nvPr/>
        </p:nvCxnSpPr>
        <p:spPr>
          <a:xfrm>
            <a:off x="7200900" y="5651500"/>
            <a:ext cx="4406900" cy="0"/>
          </a:xfrm>
          <a:prstGeom prst="line">
            <a:avLst/>
          </a:prstGeom>
          <a:ln w="12700">
            <a:solidFill>
              <a:srgbClr val="6A557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4200" y="6388100"/>
            <a:ext cx="11023600" cy="0"/>
          </a:xfrm>
          <a:prstGeom prst="line">
            <a:avLst/>
          </a:prstGeom>
          <a:ln w="8890">
            <a:solidFill>
              <a:srgbClr val="6A557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D8CBDD"/>
                </a:solidFill>
                <a:latin typeface="Arial"/>
              </a:rPr>
              <a:t>Next step / Collect original buyer evidence, test the concept and confirm supplier economics.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2"/>
        </a:solidFill>
        <a:effectLst/>
      </p:bgPr>
    </p:bg>
    <p:spTree>
      <p:nvGrpSpPr>
        <p:cNvPr id="1" name=""/>
        <p:cNvGrpSpPr/>
        <p:nvPr/>
      </p:nvGrpSpPr>
      <p:grpSpPr/>
      <p:sp>
        <p:nvSpPr>
          <p:cNvPr id="2" name="TextBox 1"/>
          <p:cNvSpPr txBox="1"/>
          <p:nvPr/>
        </p:nvSpPr>
        <p:spPr>
          <a:xfrm>
            <a:off x="584200" y="342900"/>
            <a:ext cx="3327400" cy="292100"/>
          </a:xfrm>
          <a:prstGeom prst="rect">
            <a:avLst/>
          </a:prstGeom>
          <a:noFill/>
        </p:spPr>
        <p:txBody>
          <a:bodyPr wrap="none" lIns="0" rIns="0" tIns="0" bIns="0" anchor="t">
            <a:spAutoFit/>
          </a:bodyPr>
          <a:lstStyle/>
          <a:p>
            <a:pPr>
              <a:lnSpc>
                <a:spcPts val="1500"/>
              </a:lnSpc>
              <a:spcBef>
                <a:spcPts val="0"/>
              </a:spcBef>
              <a:spcAft>
                <a:spcPts val="0"/>
              </a:spcAft>
            </a:pPr>
            <a:r>
              <a:rPr sz="1000" b="0" i="0">
                <a:solidFill>
                  <a:srgbClr val="392C42"/>
                </a:solidFill>
                <a:latin typeface="Press Start 2P"/>
              </a:rPr>
              <a:t>REPLAY LAB</a:t>
            </a:r>
          </a:p>
        </p:txBody>
      </p:sp>
      <p:sp>
        <p:nvSpPr>
          <p:cNvPr id="3" name="TextBox 2"/>
          <p:cNvSpPr txBox="1"/>
          <p:nvPr/>
        </p:nvSpPr>
        <p:spPr>
          <a:xfrm>
            <a:off x="4953000" y="342900"/>
            <a:ext cx="5930900" cy="256540"/>
          </a:xfrm>
          <a:prstGeom prst="rect">
            <a:avLst/>
          </a:prstGeom>
          <a:noFill/>
        </p:spPr>
        <p:txBody>
          <a:bodyPr wrap="none" lIns="0" rIns="0" tIns="0" bIns="0" anchor="t">
            <a:spAutoFit/>
          </a:bodyPr>
          <a:lstStyle/>
          <a:p>
            <a:pPr>
              <a:lnSpc>
                <a:spcPts val="1220"/>
              </a:lnSpc>
              <a:spcBef>
                <a:spcPts val="0"/>
              </a:spcBef>
              <a:spcAft>
                <a:spcPts val="0"/>
              </a:spcAft>
            </a:pPr>
            <a:r>
              <a:rPr sz="1000" b="1" i="0">
                <a:solidFill>
                  <a:srgbClr val="776C7B"/>
                </a:solidFill>
                <a:latin typeface="Arial"/>
              </a:rPr>
              <a:t>CREDITS / 4:45–4:50</a:t>
            </a:r>
          </a:p>
        </p:txBody>
      </p:sp>
      <p:sp>
        <p:nvSpPr>
          <p:cNvPr id="4" name="TextBox 3"/>
          <p:cNvSpPr txBox="1"/>
          <p:nvPr/>
        </p:nvSpPr>
        <p:spPr>
          <a:xfrm>
            <a:off x="11226800" y="317500"/>
            <a:ext cx="406400" cy="287528"/>
          </a:xfrm>
          <a:prstGeom prst="rect">
            <a:avLst/>
          </a:prstGeom>
          <a:noFill/>
        </p:spPr>
        <p:txBody>
          <a:bodyPr wrap="none" lIns="0" rIns="0" tIns="0" bIns="0" anchor="t">
            <a:spAutoFit/>
          </a:bodyPr>
          <a:lstStyle/>
          <a:p>
            <a:pPr>
              <a:lnSpc>
                <a:spcPts val="1464"/>
              </a:lnSpc>
              <a:spcBef>
                <a:spcPts val="0"/>
              </a:spcBef>
              <a:spcAft>
                <a:spcPts val="0"/>
              </a:spcAft>
            </a:pPr>
            <a:r>
              <a:rPr sz="1200" b="1" i="0">
                <a:solidFill>
                  <a:srgbClr val="392C42"/>
                </a:solidFill>
                <a:latin typeface="Arial"/>
              </a:rPr>
              <a:t>18</a:t>
            </a:r>
          </a:p>
        </p:txBody>
      </p:sp>
      <p:cxnSp>
        <p:nvCxnSpPr>
          <p:cNvPr id="5" name="Connector 4"/>
          <p:cNvCxnSpPr/>
          <p:nvPr/>
        </p:nvCxnSpPr>
        <p:spPr>
          <a:xfrm>
            <a:off x="584200" y="7366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6100" y="1155700"/>
            <a:ext cx="11074400" cy="660400"/>
          </a:xfrm>
          <a:prstGeom prst="rect">
            <a:avLst/>
          </a:prstGeom>
          <a:noFill/>
        </p:spPr>
        <p:txBody>
          <a:bodyPr wrap="none" lIns="0" rIns="0" tIns="0" bIns="0" anchor="t">
            <a:spAutoFit/>
          </a:bodyPr>
          <a:lstStyle/>
          <a:p>
            <a:pPr>
              <a:lnSpc>
                <a:spcPts val="4400"/>
              </a:lnSpc>
              <a:spcBef>
                <a:spcPts val="0"/>
              </a:spcBef>
              <a:spcAft>
                <a:spcPts val="0"/>
              </a:spcAft>
            </a:pPr>
            <a:r>
              <a:rPr sz="4000" b="1" i="0">
                <a:solidFill>
                  <a:srgbClr val="392C42"/>
                </a:solidFill>
                <a:latin typeface="Arial"/>
              </a:rPr>
              <a:t>Sources &amp; prototype</a:t>
            </a:r>
          </a:p>
        </p:txBody>
      </p:sp>
      <p:cxnSp>
        <p:nvCxnSpPr>
          <p:cNvPr id="7" name="Connector 6"/>
          <p:cNvCxnSpPr/>
          <p:nvPr/>
        </p:nvCxnSpPr>
        <p:spPr>
          <a:xfrm>
            <a:off x="584200" y="20447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84200" y="22479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S1</a:t>
            </a:r>
          </a:p>
        </p:txBody>
      </p:sp>
      <p:sp>
        <p:nvSpPr>
          <p:cNvPr id="9" name="TextBox 8"/>
          <p:cNvSpPr txBox="1"/>
          <p:nvPr/>
        </p:nvSpPr>
        <p:spPr>
          <a:xfrm>
            <a:off x="1295400" y="21971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2"/>
              </a:rPr>
              <a:t>Thai PBS World | 25 Jun 2026</a:t>
            </a:r>
          </a:p>
        </p:txBody>
      </p:sp>
      <p:cxnSp>
        <p:nvCxnSpPr>
          <p:cNvPr id="10" name="Connector 9"/>
          <p:cNvCxnSpPr/>
          <p:nvPr/>
        </p:nvCxnSpPr>
        <p:spPr>
          <a:xfrm>
            <a:off x="584200" y="26924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84200" y="28956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S2</a:t>
            </a:r>
          </a:p>
        </p:txBody>
      </p:sp>
      <p:sp>
        <p:nvSpPr>
          <p:cNvPr id="12" name="TextBox 11"/>
          <p:cNvSpPr txBox="1"/>
          <p:nvPr/>
        </p:nvSpPr>
        <p:spPr>
          <a:xfrm>
            <a:off x="1295400" y="28448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3"/>
              </a:rPr>
              <a:t>Thairath English | 19 Jun 2026</a:t>
            </a:r>
          </a:p>
        </p:txBody>
      </p:sp>
      <p:cxnSp>
        <p:nvCxnSpPr>
          <p:cNvPr id="13" name="Connector 12"/>
          <p:cNvCxnSpPr/>
          <p:nvPr/>
        </p:nvCxnSpPr>
        <p:spPr>
          <a:xfrm>
            <a:off x="584200" y="33401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84200" y="35433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S3</a:t>
            </a:r>
          </a:p>
        </p:txBody>
      </p:sp>
      <p:sp>
        <p:nvSpPr>
          <p:cNvPr id="15" name="TextBox 14"/>
          <p:cNvSpPr txBox="1"/>
          <p:nvPr/>
        </p:nvSpPr>
        <p:spPr>
          <a:xfrm>
            <a:off x="1295400" y="34925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4"/>
              </a:rPr>
              <a:t>TrendWatching | Consumer Trend Canvas</a:t>
            </a:r>
          </a:p>
        </p:txBody>
      </p:sp>
      <p:cxnSp>
        <p:nvCxnSpPr>
          <p:cNvPr id="16" name="Connector 15"/>
          <p:cNvCxnSpPr/>
          <p:nvPr/>
        </p:nvCxnSpPr>
        <p:spPr>
          <a:xfrm>
            <a:off x="584200" y="39878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84200" y="41910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S4</a:t>
            </a:r>
          </a:p>
        </p:txBody>
      </p:sp>
      <p:sp>
        <p:nvSpPr>
          <p:cNvPr id="18" name="TextBox 17"/>
          <p:cNvSpPr txBox="1"/>
          <p:nvPr/>
        </p:nvSpPr>
        <p:spPr>
          <a:xfrm>
            <a:off x="1295400" y="41402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5"/>
              </a:rPr>
              <a:t>OCPB | 30 Jun 2026</a:t>
            </a:r>
          </a:p>
        </p:txBody>
      </p:sp>
      <p:cxnSp>
        <p:nvCxnSpPr>
          <p:cNvPr id="19" name="Connector 18"/>
          <p:cNvCxnSpPr/>
          <p:nvPr/>
        </p:nvCxnSpPr>
        <p:spPr>
          <a:xfrm>
            <a:off x="584200" y="4635500"/>
            <a:ext cx="6934200" cy="0"/>
          </a:xfrm>
          <a:prstGeom prst="line">
            <a:avLst/>
          </a:prstGeom>
          <a:ln w="12700">
            <a:solidFill>
              <a:srgbClr val="DDD4D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84200" y="4838700"/>
            <a:ext cx="5715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S5</a:t>
            </a:r>
          </a:p>
        </p:txBody>
      </p:sp>
      <p:sp>
        <p:nvSpPr>
          <p:cNvPr id="21" name="TextBox 20"/>
          <p:cNvSpPr txBox="1"/>
          <p:nvPr/>
        </p:nvSpPr>
        <p:spPr>
          <a:xfrm>
            <a:off x="1295400" y="4787900"/>
            <a:ext cx="6210300" cy="364998"/>
          </a:xfrm>
          <a:prstGeom prst="rect">
            <a:avLst/>
          </a:prstGeom>
          <a:noFill/>
        </p:spPr>
        <p:txBody>
          <a:bodyPr wrap="none" lIns="0" rIns="0" tIns="0" bIns="0" anchor="t">
            <a:spAutoFit/>
          </a:bodyPr>
          <a:lstStyle/>
          <a:p>
            <a:pPr>
              <a:lnSpc>
                <a:spcPts val="2074"/>
              </a:lnSpc>
              <a:spcBef>
                <a:spcPts val="0"/>
              </a:spcBef>
              <a:spcAft>
                <a:spcPts val="0"/>
              </a:spcAft>
            </a:pPr>
            <a:r>
              <a:rPr sz="1700" b="1" i="0">
                <a:solidFill>
                  <a:srgbClr val="392C42"/>
                </a:solidFill>
                <a:latin typeface="Arial"/>
                <a:hlinkClick r:id="rId6"/>
              </a:rPr>
              <a:t>SquishTide | custom squishies</a:t>
            </a:r>
          </a:p>
        </p:txBody>
      </p:sp>
      <p:sp>
        <p:nvSpPr>
          <p:cNvPr id="22" name="Rounded Rectangle 21"/>
          <p:cNvSpPr/>
          <p:nvPr/>
        </p:nvSpPr>
        <p:spPr>
          <a:xfrm>
            <a:off x="8001000" y="2070100"/>
            <a:ext cx="3606800" cy="3467100"/>
          </a:xfrm>
          <a:prstGeom prst="roundRect">
            <a:avLst>
              <a:gd name="adj" fmla="val 1831"/>
            </a:avLst>
          </a:prstGeom>
          <a:solidFill>
            <a:srgbClr val="D9C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5000" y="2362200"/>
            <a:ext cx="3124200" cy="254000"/>
          </a:xfrm>
          <a:prstGeom prst="rect">
            <a:avLst/>
          </a:prstGeom>
          <a:noFill/>
        </p:spPr>
        <p:txBody>
          <a:bodyPr wrap="none" lIns="0" rIns="0" tIns="0" bIns="0" anchor="t">
            <a:spAutoFit/>
          </a:bodyPr>
          <a:lstStyle/>
          <a:p>
            <a:pPr>
              <a:lnSpc>
                <a:spcPts val="1200"/>
              </a:lnSpc>
              <a:spcBef>
                <a:spcPts val="0"/>
              </a:spcBef>
              <a:spcAft>
                <a:spcPts val="0"/>
              </a:spcAft>
            </a:pPr>
            <a:r>
              <a:rPr sz="800" b="0" i="0">
                <a:solidFill>
                  <a:srgbClr val="392C42"/>
                </a:solidFill>
                <a:latin typeface="Press Start 2P"/>
              </a:rPr>
              <a:t>TRY THE CONCEPT</a:t>
            </a:r>
          </a:p>
        </p:txBody>
      </p:sp>
      <p:pic>
        <p:nvPicPr>
          <p:cNvPr id="24" name="Picture 23" descr="product_gamepad.png"/>
          <p:cNvPicPr>
            <a:picLocks noChangeAspect="1"/>
          </p:cNvPicPr>
          <p:nvPr/>
        </p:nvPicPr>
        <p:blipFill>
          <a:blip r:embed="rId7"/>
          <a:srcRect t="0" b="0"/>
          <a:stretch>
            <a:fillRect/>
          </a:stretch>
        </p:blipFill>
        <p:spPr>
          <a:xfrm>
            <a:off x="8593666" y="2667000"/>
            <a:ext cx="2421466" cy="1816100"/>
          </a:xfrm>
          <a:prstGeom prst="rect">
            <a:avLst/>
          </a:prstGeom>
        </p:spPr>
      </p:pic>
      <p:sp>
        <p:nvSpPr>
          <p:cNvPr id="25" name="TextBox 24"/>
          <p:cNvSpPr txBox="1"/>
          <p:nvPr/>
        </p:nvSpPr>
        <p:spPr>
          <a:xfrm>
            <a:off x="8255000" y="4635500"/>
            <a:ext cx="3124200" cy="787400"/>
          </a:xfrm>
          <a:prstGeom prst="rect">
            <a:avLst/>
          </a:prstGeom>
          <a:noFill/>
        </p:spPr>
        <p:txBody>
          <a:bodyPr wrap="none" lIns="0" rIns="0" tIns="0" bIns="0" anchor="t">
            <a:spAutoFit/>
          </a:bodyPr>
          <a:lstStyle/>
          <a:p>
            <a:pPr>
              <a:lnSpc>
                <a:spcPts val="2700"/>
              </a:lnSpc>
              <a:spcBef>
                <a:spcPts val="0"/>
              </a:spcBef>
              <a:spcAft>
                <a:spcPts val="0"/>
              </a:spcAft>
            </a:pPr>
            <a:r>
              <a:rPr sz="2100" b="1" i="0">
                <a:solidFill>
                  <a:srgbClr val="392C42"/>
                </a:solidFill>
                <a:latin typeface="Arial"/>
                <a:hlinkClick r:id="rId8"/>
              </a:rPr>
              <a:t>blimmy.github.io/</a:t>
            </a:r>
          </a:p>
          <a:p>
            <a:pPr>
              <a:lnSpc>
                <a:spcPts val="2700"/>
              </a:lnSpc>
              <a:spcBef>
                <a:spcPts val="0"/>
              </a:spcBef>
              <a:spcAft>
                <a:spcPts val="0"/>
              </a:spcAft>
            </a:pPr>
            <a:r>
              <a:rPr sz="2100" b="1" i="0">
                <a:solidFill>
                  <a:srgbClr val="392C42"/>
                </a:solidFill>
                <a:latin typeface="Arial"/>
                <a:hlinkClick r:id="rId8"/>
              </a:rPr>
              <a:t>replay-lab/</a:t>
            </a:r>
          </a:p>
        </p:txBody>
      </p:sp>
      <p:sp>
        <p:nvSpPr>
          <p:cNvPr id="26" name="TextBox 25"/>
          <p:cNvSpPr txBox="1"/>
          <p:nvPr/>
        </p:nvSpPr>
        <p:spPr>
          <a:xfrm>
            <a:off x="584200" y="5918200"/>
            <a:ext cx="11049000" cy="303022"/>
          </a:xfrm>
          <a:prstGeom prst="rect">
            <a:avLst/>
          </a:prstGeom>
          <a:noFill/>
        </p:spPr>
        <p:txBody>
          <a:bodyPr wrap="none" lIns="0" rIns="0" tIns="0" bIns="0" anchor="t">
            <a:spAutoFit/>
          </a:bodyPr>
          <a:lstStyle/>
          <a:p>
            <a:pPr>
              <a:lnSpc>
                <a:spcPts val="1586"/>
              </a:lnSpc>
              <a:spcBef>
                <a:spcPts val="0"/>
              </a:spcBef>
              <a:spcAft>
                <a:spcPts val="0"/>
              </a:spcAft>
            </a:pPr>
            <a:r>
              <a:rPr sz="1300" b="0" i="0">
                <a:solidFill>
                  <a:srgbClr val="776C7B"/>
                </a:solidFill>
                <a:latin typeface="Arial"/>
              </a:rPr>
              <a:t>Original pixel artwork. Source links are clickable. Full evidence notes accompany the deck.</a:t>
            </a:r>
          </a:p>
        </p:txBody>
      </p:sp>
      <p:cxnSp>
        <p:nvCxnSpPr>
          <p:cNvPr id="27" name="Connector 26"/>
          <p:cNvCxnSpPr/>
          <p:nvPr/>
        </p:nvCxnSpPr>
        <p:spPr>
          <a:xfrm>
            <a:off x="584200" y="6388100"/>
            <a:ext cx="11023600" cy="0"/>
          </a:xfrm>
          <a:prstGeom prst="line">
            <a:avLst/>
          </a:prstGeom>
          <a:ln w="8890">
            <a:solidFill>
              <a:srgbClr val="DDD4DD"/>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84200" y="6578600"/>
            <a:ext cx="11049000" cy="225551"/>
          </a:xfrm>
          <a:prstGeom prst="rect">
            <a:avLst/>
          </a:prstGeom>
          <a:noFill/>
        </p:spPr>
        <p:txBody>
          <a:bodyPr wrap="none" lIns="0" rIns="0" tIns="0" bIns="0" anchor="t">
            <a:spAutoFit/>
          </a:bodyPr>
          <a:lstStyle/>
          <a:p>
            <a:pPr>
              <a:lnSpc>
                <a:spcPts val="976"/>
              </a:lnSpc>
              <a:spcBef>
                <a:spcPts val="0"/>
              </a:spcBef>
              <a:spcAft>
                <a:spcPts val="0"/>
              </a:spcAft>
            </a:pPr>
            <a:r>
              <a:rPr sz="800" b="0" i="0">
                <a:solidFill>
                  <a:srgbClr val="776C7B"/>
                </a:solidFill>
                <a:latin typeface="Arial"/>
              </a:rPr>
              <a:t>Prototype activity is simulated. Original fieldwork is pending. The order-demo video is embedded on slide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REPLAY LAB — Childhood, remade.</dc:title>
  <dc:subject>Consumer in the Wild: Thailand Trend Watch</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