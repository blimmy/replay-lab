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 Spot the change</a:t>
            </a:r>
          </a:p>
          <a:p/>
          <a:p>
            <a:r>
              <a:t>NARRATION</a:t>
            </a:r>
          </a:p>
          <a:p>
            <a:r>
              <a:t>Hello everyone. Think about a toy you wanted as a child but never bought. What would it mean to buy it today, with your own money? That question is the starting point for REPLAY LAB: a proposed business connecting childhood memories with personalised squishies and slime.</a:t>
            </a:r>
          </a:p>
          <a:p/>
          <a:p>
            <a:r>
              <a:t>VISUAL CUE</a:t>
            </a:r>
          </a:p>
          <a:p>
            <a:r>
              <a:t>Open on the original product artwork and brand promise. It is concept art, not fieldwork.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0:20–0:45 | Spot the change</a:t>
            </a:r>
          </a:p>
          <a:p/>
          <a:p>
            <a:r>
              <a:t>NARRATION</a:t>
            </a:r>
          </a:p>
          <a:p>
            <a:r>
              <a:t>First, let us look at the signal behind this idea. Thai PBS World reported renewed interest in squishies and slime at Sampheng in June twenty twenty-six. Thairath also covered a revival at Mega Plaza. These reports give us a reason to investigate. However, they describe particular places and moments, rather than proving the size or future growth of the whole market.</a:t>
            </a:r>
          </a:p>
          <a:p/>
          <a:p>
            <a:r>
              <a:t>VISUAL CUE</a:t>
            </a:r>
          </a:p>
          <a:p>
            <a:r>
              <a:t>Compare the two dated sources. S1 supports the reported adult-return account; S2 supports the broader sensory-toy revival.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0:45–1:10 | Spot the change</a:t>
            </a:r>
          </a:p>
          <a:p/>
          <a:p>
            <a:r>
              <a:t>NARRATION</a:t>
            </a:r>
          </a:p>
          <a:p>
            <a:r>
              <a:t>The interesting change is not simply that toys are popular again. It is that some buyers now have a different relationship with them. The Sampheng report includes a vendor’s account of working adults buying toys they wanted when they were younger. A childhood wish that once depended on their parents can now become a purchase they choose for themselves.</a:t>
            </a:r>
          </a:p>
          <a:p/>
          <a:p>
            <a:r>
              <a:t>VISUAL CUE</a:t>
            </a:r>
          </a:p>
          <a:p>
            <a:r>
              <a:t>Show the before/after buying context. These are analytical labels, not participant quotations. Cite S1.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1:10–1:35 | Spot the change</a:t>
            </a:r>
          </a:p>
          <a:p/>
          <a:p>
            <a:r>
              <a:t>NARRATION</a:t>
            </a:r>
          </a:p>
          <a:p>
            <a:r>
              <a:t>For my own evidence, I interviewed someone at a market near my internship. They told me that working adults also often come to squeeze and play with these toys. This suggests interest in the hands-on experience. However, it is an interview account, not a count of customers. It does not establish purchases, childhood nostalgia or growth over time.</a:t>
            </a:r>
          </a:p>
          <a:p/>
          <a:p>
            <a:r>
              <a:t>VISUAL CUE</a:t>
            </a:r>
          </a:p>
          <a:p>
            <a:r>
              <a:t>Present S6 as an English paraphrase of the informal interview you described, not a verbatim quotation or direct observation. The market name, interview date and interviewee role have not yet been supplied. Add these only when confirmed. Do not turn the description of many adults into a numerical result.</a:t>
            </a:r>
          </a:p>
          <a:p/>
          <a:p>
            <a:r>
              <a:t>SOURCE LIMIT: Interviewee role, market name and interview date are not yet supplied. Add only confirmed details. This account is not a direct quote or a measured customer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1:35–2:00 | Explain the consumer</a:t>
            </a:r>
          </a:p>
          <a:p/>
          <a:p>
            <a:r>
              <a:t>NARRATION</a:t>
            </a:r>
          </a:p>
          <a:p>
            <a:r>
              <a:t>Based on that signal, my proposed target is early-career Thai adults who buy toys for themselves, rather than for children. They might keep a small object on a desk, display it at home, or enjoy using it during a break. These are possible use situations to test. The key question is which memories and product features matter to this specific group.</a:t>
            </a:r>
          </a:p>
          <a:p/>
          <a:p>
            <a:r>
              <a:t>VISUAL CUE</a:t>
            </a:r>
          </a:p>
          <a:p>
            <a:r>
              <a:t>Identify the proposed target and use context. Do not describe this as a researched persona.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2:00–2:30 | Explain the consumer</a:t>
            </a:r>
          </a:p>
          <a:p/>
          <a:p>
            <a:r>
              <a:t>NARRATION</a:t>
            </a:r>
          </a:p>
          <a:p>
            <a:r>
              <a:t>The first consumer behaviour concept is emotional motivation. My interview account points to the appeal of touching and playing with the toys. The published report adds a possible link to childhood wishes. I interpret these as two possible benefits: sensory enjoyment and personal meaning. However, the interview did not establish nostalgia or willingness to pay. Those explanations still need direct questions to adult buyers.</a:t>
            </a:r>
          </a:p>
          <a:p/>
          <a:p>
            <a:r>
              <a:t>VISUAL CUE</a:t>
            </a:r>
          </a:p>
          <a:p>
            <a:r>
              <a:t>Separate S6, which reports adult squeezing and playing, from S1, which supplies the childhood-wish account. Sensory enjoyment and nostalgia are interpretations, not motives confirmed by the local interview.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2:30–3:00 | Explain the consumer</a:t>
            </a:r>
          </a:p>
          <a:p/>
          <a:p>
            <a:r>
              <a:t>NARRATION</a:t>
            </a:r>
          </a:p>
          <a:p>
            <a:r>
              <a:t>The second concept is social influence. Online reviews can bring an old toy back into someone’s attention. Seeing other adults enjoy it may also make the purchase feel more acceptable. But discovery and motivation are different. A review could make someone notice a squishy, while a personal memory gives them a reason to choose it. We therefore need to ask both how they discovered the toy and why they actually bought it.</a:t>
            </a:r>
          </a:p>
          <a:p/>
          <a:p>
            <a:r>
              <a:t>VISUAL CUE</a:t>
            </a:r>
          </a:p>
          <a:p>
            <a:r>
              <a:t>Follow reported discovery, interpreted relevance and a real choice still to test. S1 supports the first stage.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3:00–3:25 | Find the opportunity</a:t>
            </a:r>
          </a:p>
          <a:p/>
          <a:p>
            <a:r>
              <a:t>NARRATION</a:t>
            </a:r>
          </a:p>
          <a:p>
            <a:r>
              <a:t>These ideas lead to the proposed value: bring a familiar memory into everyday life. REPLAY LAB combines three benefits. Meaning comes from a childhood reference. Choice comes from personal details. Confidence would come from clear samples, prices and order terms. The business needs to test whether customers value this combination enough to choose it over an ordinary toy.</a:t>
            </a:r>
          </a:p>
          <a:p/>
          <a:p>
            <a:r>
              <a:t>VISUAL CUE</a:t>
            </a:r>
          </a:p>
          <a:p>
            <a:r>
              <a:t>Present the proposed customer job and the three benefits. This is a value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3:25–3:50 | Find the opportunity</a:t>
            </a:r>
          </a:p>
          <a:p/>
          <a:p>
            <a:r>
              <a:t>NARRATION</a:t>
            </a:r>
          </a:p>
          <a:p>
            <a:r>
              <a:t>Here are three starting concepts: a pencil-case squishy, a gamepad squishy and cloud slime. Each suggests a different childhood moment, such as school supplies, weekend games or a treat after school. These are proposed themes, not proven customer preferences. Starting with a small selection would let us test which theme connects with buyers before spending money on more designs.</a:t>
            </a:r>
          </a:p>
          <a:p/>
          <a:p>
            <a:r>
              <a:t>VISUAL CUE</a:t>
            </a:r>
          </a:p>
          <a:p>
            <a:r>
              <a:t>Show actual prototype artwork. The themes are proposed, not observed customer preferences. S2 supplies sensory-product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3:50–4:15 | Find the opportunity</a:t>
            </a:r>
          </a:p>
          <a:p/>
          <a:p>
            <a:r>
              <a:t>NARRATION</a:t>
            </a:r>
          </a:p>
          <a:p>
            <a:r>
              <a:t>The website turns that idea into four design steps: shape, colour, feel and story. A customer chooses the product, changes its appearance, selects sensory preferences and adds a name or memory. For a desk, they might prefer quiet and unscented options. The screen demonstrates those choices, but it cannot prove the real texture or smell. Physical samples would still be essential.</a:t>
            </a:r>
          </a:p>
          <a:p/>
          <a:p>
            <a:r>
              <a:t>VISUAL CUE</a:t>
            </a:r>
          </a:p>
          <a:p>
            <a:r>
              <a:t>Follow the four studio steps. Explain that real textures and scents need supplier-made samples.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4:15–4:55 | Find the opportunity</a:t>
            </a:r>
          </a:p>
          <a:p/>
          <a:p>
            <a:r>
              <a:t>NARRATION</a:t>
            </a:r>
          </a:p>
          <a:p>
            <a:r>
              <a:t>Let me show how the prototype works, from design to a saved reservation.</a:t>
            </a:r>
          </a:p>
          <a:p/>
          <a:p>
            <a:r>
              <a:t>First, choose a gamepad shape. Change its colour, then name it Saturday Save Point. Save the design and add it to the demo bag. Review the illustrative price and confirm that this is a simulation. After confirming, the reservation appears in the notebook. No payment is taken and no product is ordered.</a:t>
            </a:r>
          </a:p>
          <a:p/>
          <a:p>
            <a:r>
              <a:t>A real launch would also need supplier checks and clear production or refund terms.</a:t>
            </a:r>
          </a:p>
          <a:p/>
          <a:p>
            <a:r>
              <a:t>VISUAL CUE</a:t>
            </a:r>
          </a:p>
          <a:p>
            <a:r>
              <a:t>0–7 seconds: read the introduction with the poster visible. At 7 seconds, click the embedded 25-second MP4 and read the middle paragraph over it. Use the final 8 seconds for the closing paragraph. The full 40-second slide slot already includes the demo; do not add another 25 seconds. Use the standalone MP4 if your presentation application cannot play the embedded clip.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4:55–5:20 | Find the opportunity</a:t>
            </a:r>
          </a:p>
          <a:p/>
          <a:p>
            <a:r>
              <a:t>NARRATION</a:t>
            </a:r>
          </a:p>
          <a:p>
            <a:r>
              <a:t>This raises an important business question: how can we offer personal meaning without making every item completely from scratch? My proposal uses shared shapes within a collection, while customers choose selected details and memory cards. Custom squishies already exist, so I am not claiming global originality. The proposed difference is the combination of Thai childhood memories, adult use and customer participation.</a:t>
            </a:r>
          </a:p>
          <a:p/>
          <a:p>
            <a:r>
              <a:t>VISUAL CUE</a:t>
            </a:r>
          </a:p>
          <a:p>
            <a:r>
              <a:t>Compare shared recipe and personal details. S5 demonstrates existing custom squishies; do not claim global novelty.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5:20–5:45 | Find the opportunity</a:t>
            </a:r>
          </a:p>
          <a:p/>
          <a:p>
            <a:r>
              <a:t>NARRATION</a:t>
            </a:r>
          </a:p>
          <a:p>
            <a:r>
              <a:t>Revenue would come from selling the products and a limited range of upgrades. In the demo, squishies start at three hundred forty-nine baht and slime at two hundred ninety-nine baht. Larger sizes, finishing details or gift sleeves add to the price. These are illustrative amounts. We still need supplier quotes and customer testing to find a price that works for both sides.</a:t>
            </a:r>
          </a:p>
          <a:p/>
          <a:p>
            <a:r>
              <a:t>VISUAL CUE</a:t>
            </a:r>
          </a:p>
          <a:p>
            <a:r>
              <a:t>Present sample catalogue prices and optional upgrades as assumptions. Actual delivery costs and product terms remain unconfirmed.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5:45–6:20 | Evaluate the opportunity</a:t>
            </a:r>
          </a:p>
          <a:p/>
          <a:p>
            <a:r>
              <a:t>NARRATION</a:t>
            </a:r>
          </a:p>
          <a:p>
            <a:r>
              <a:t>There are three main risks. First, customers may like the idea but choose a cheaper toy. We should compare prototypes at realistic prices. Second, too many options could create production problems, so we should limit the range and check samples. Third, nostalgia may lead to only one purchase. We need to understand repeat-use or gifting reasons. The OCPB report also highlights product-information concerns at some sellers, making supplier and label checks part of the proposed launch process.</a:t>
            </a:r>
          </a:p>
          <a:p/>
          <a:p>
            <a:r>
              <a:t>VISUAL CUE</a:t>
            </a:r>
          </a:p>
          <a:p>
            <a:r>
              <a:t>Use the risk/test/result table. S4 reports incomplete labels at some sellers; avoid generalising to all toys.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6:20–7:00 | Evaluate the opportunity</a:t>
            </a:r>
          </a:p>
          <a:p/>
          <a:p>
            <a:r>
              <a:t>NARRATION</a:t>
            </a:r>
          </a:p>
          <a:p>
            <a:r>
              <a:t>Now let us look at the illustrative economics. If a squishy sells for three hundred forty-nine baht and its variable cost is one hundred ninety-nine, the contribution is one hundred fifty baht per unit. This is the amount available to cover fixed costs, not final profit. With four thousand five hundred baht in setup costs, thirty units would cover that setup amount. The actual threshold must also meet the supplier’s minimum and account for all relevant costs, including fees, defects and delivery.</a:t>
            </a:r>
          </a:p>
          <a:p/>
          <a:p>
            <a:r>
              <a:t>VISUAL CUE</a:t>
            </a:r>
          </a:p>
          <a:p>
            <a:r>
              <a:t>Follow the proportional price bar, then the setup/contribution calculation. All numbers require real quotes and demand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7:00–7:25 | Evaluate the opportunity</a:t>
            </a:r>
          </a:p>
          <a:p/>
          <a:p>
            <a:r>
              <a:t>NARRATION</a:t>
            </a:r>
          </a:p>
          <a:p>
            <a:r>
              <a:t>To develop this initial interview, I would follow three stages. First, ask adult buyers about their recent purchases and reasons for trying the toys. Second, compare reactions to the concept at a viable price. Third, confirm supplier samples, costs and terms before testing real orders. The questionnaire supports this process, but positive answers and website demo reservations do not prove real demand.</a:t>
            </a:r>
          </a:p>
          <a:p/>
          <a:p>
            <a:r>
              <a:t>VISUAL CUE</a:t>
            </a:r>
          </a:p>
          <a:p>
            <a:r>
              <a:t>Show the sequence of behaviour research, concept testing and supplier/purchase validation. Keep demo clicks separate from fieldwork.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7:25–7:50 | Evaluate the opportunity</a:t>
            </a:r>
          </a:p>
          <a:p/>
          <a:p>
            <a:r>
              <a:t>NARRATION</a:t>
            </a:r>
          </a:p>
          <a:p>
            <a:r>
              <a:t>My recommendation is to begin with one collection and three decision rules. Customers must choose it at a viable price, product quality must be consistent, and confirmed orders must cover the batch. If those conditions fail, we should change the idea before expanding. REPLAY LAB offers a way to explore a childhood memory as a product, with evidence guiding what happens next.</a:t>
            </a:r>
          </a:p>
          <a:p/>
          <a:p>
            <a:r>
              <a:t>VISUAL CUE</a:t>
            </a:r>
          </a:p>
          <a:p>
            <a:r>
              <a:t>End with three pilot gates and the clickable prototype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7:50–8:00 | Credits</a:t>
            </a:r>
          </a:p>
          <a:p/>
          <a:p>
            <a:r>
              <a:t>NARRATION</a:t>
            </a:r>
          </a:p>
          <a:p>
            <a:r>
              <a:t>These are the sources and prototype behind the proposal. The supporting files include the questionnaire and assumptions. Thank you for listening.</a:t>
            </a:r>
          </a:p>
          <a:p/>
          <a:p>
            <a:r>
              <a:t>VISUAL CUE</a:t>
            </a:r>
          </a:p>
          <a:p>
            <a:r>
              <a:t>Keep the source card visible while saying the closing lines. No extra silent credit interval is needed; this ten-second slide is included in the eight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https://en.thairath.co.th/scoop/interview/2940686"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image" Target="../media/image5.png"/><Relationship Id="rId4" Type="http://schemas.openxmlformats.org/officeDocument/2006/relationships/hyperlink" Target="https://blimmy.github.io/replay-lab/downloads/REPLAY_LAB_Order_Demo.mp4" TargetMode="External"/><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quishtide.com/"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cpb.go.th/news_view_plan.php?nid=1804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hyperlink" Target="https://en.thairath.co.th/scoop/interview/2940686" TargetMode="External"/><Relationship Id="rId4" Type="http://schemas.openxmlformats.org/officeDocument/2006/relationships/hyperlink" Target="https://www.trendwatching.com/toolbox/consumer-trend-canvas/examples/acclimators" TargetMode="External"/><Relationship Id="rId5" Type="http://schemas.openxmlformats.org/officeDocument/2006/relationships/hyperlink" Target="https://www.ocpb.go.th/news_view_plan.php?nid=18044" TargetMode="External"/><Relationship Id="rId6" Type="http://schemas.openxmlformats.org/officeDocument/2006/relationships/hyperlink" Target="https://squishtide.com/" TargetMode="External"/><Relationship Id="rId7" Type="http://schemas.openxmlformats.org/officeDocument/2006/relationships/image" Target="../media/image3.png"/><Relationship Id="rId8" Type="http://schemas.openxmlformats.org/officeDocument/2006/relationships/hyperlink" Target="https://blimmy.github.io/replay-lab/" TargetMode="External"/><Relationship Id="rId9"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CONSUMER IN THE WILD / THAILAND 2026</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01</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55700"/>
            <a:ext cx="62484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A CONSUMER INSIGHT. A BUSINESS TO TEST.</a:t>
            </a:r>
          </a:p>
        </p:txBody>
      </p:sp>
      <p:sp>
        <p:nvSpPr>
          <p:cNvPr id="7" name="TextBox 6"/>
          <p:cNvSpPr txBox="1"/>
          <p:nvPr/>
        </p:nvSpPr>
        <p:spPr>
          <a:xfrm>
            <a:off x="584200" y="1816100"/>
            <a:ext cx="6629400" cy="1524000"/>
          </a:xfrm>
          <a:prstGeom prst="rect">
            <a:avLst/>
          </a:prstGeom>
          <a:noFill/>
        </p:spPr>
        <p:txBody>
          <a:bodyPr wrap="none" lIns="0" rIns="0" tIns="0" bIns="0" anchor="t">
            <a:spAutoFit/>
          </a:bodyPr>
          <a:lstStyle/>
          <a:p>
            <a:pPr>
              <a:lnSpc>
                <a:spcPts val="5600"/>
              </a:lnSpc>
              <a:spcBef>
                <a:spcPts val="0"/>
              </a:spcBef>
              <a:spcAft>
                <a:spcPts val="0"/>
              </a:spcAft>
            </a:pPr>
            <a:r>
              <a:rPr sz="5100" b="1" i="0">
                <a:solidFill>
                  <a:srgbClr val="392C42"/>
                </a:solidFill>
                <a:latin typeface="Arial"/>
              </a:rPr>
              <a:t>Good memories.</a:t>
            </a:r>
          </a:p>
          <a:p>
            <a:pPr>
              <a:lnSpc>
                <a:spcPts val="5600"/>
              </a:lnSpc>
              <a:spcBef>
                <a:spcPts val="0"/>
              </a:spcBef>
              <a:spcAft>
                <a:spcPts val="0"/>
              </a:spcAft>
            </a:pPr>
            <a:r>
              <a:rPr sz="5100" b="1" i="0">
                <a:solidFill>
                  <a:srgbClr val="392C42"/>
                </a:solidFill>
                <a:latin typeface="Arial"/>
              </a:rPr>
              <a:t>Made tangible.</a:t>
            </a:r>
          </a:p>
        </p:txBody>
      </p:sp>
      <p:sp>
        <p:nvSpPr>
          <p:cNvPr id="8" name="TextBox 7"/>
          <p:cNvSpPr txBox="1"/>
          <p:nvPr/>
        </p:nvSpPr>
        <p:spPr>
          <a:xfrm>
            <a:off x="609600" y="3606800"/>
            <a:ext cx="6311900" cy="863600"/>
          </a:xfrm>
          <a:prstGeom prst="rect">
            <a:avLst/>
          </a:prstGeom>
          <a:noFill/>
        </p:spPr>
        <p:txBody>
          <a:bodyPr wrap="none" lIns="0" rIns="0" tIns="0" bIns="0" anchor="t">
            <a:spAutoFit/>
          </a:bodyPr>
          <a:lstStyle/>
          <a:p>
            <a:pPr>
              <a:lnSpc>
                <a:spcPts val="3000"/>
              </a:lnSpc>
              <a:spcBef>
                <a:spcPts val="0"/>
              </a:spcBef>
              <a:spcAft>
                <a:spcPts val="0"/>
              </a:spcAft>
            </a:pPr>
            <a:r>
              <a:rPr sz="2200" b="0" i="0">
                <a:solidFill>
                  <a:srgbClr val="392C42"/>
                </a:solidFill>
                <a:latin typeface="Arial"/>
              </a:rPr>
              <a:t>Squishies, slime and the working adults</a:t>
            </a:r>
          </a:p>
          <a:p>
            <a:pPr>
              <a:lnSpc>
                <a:spcPts val="3000"/>
              </a:lnSpc>
              <a:spcBef>
                <a:spcPts val="0"/>
              </a:spcBef>
              <a:spcAft>
                <a:spcPts val="0"/>
              </a:spcAft>
            </a:pPr>
            <a:r>
              <a:rPr sz="2200" b="0" i="0">
                <a:solidFill>
                  <a:srgbClr val="392C42"/>
                </a:solidFill>
                <a:latin typeface="Arial"/>
              </a:rPr>
              <a:t>rediscovering their childhood wishes.</a:t>
            </a:r>
          </a:p>
        </p:txBody>
      </p:sp>
      <p:sp>
        <p:nvSpPr>
          <p:cNvPr id="9" name="TextBox 8"/>
          <p:cNvSpPr txBox="1"/>
          <p:nvPr/>
        </p:nvSpPr>
        <p:spPr>
          <a:xfrm>
            <a:off x="609600" y="5143500"/>
            <a:ext cx="5232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REPLAY LAB</a:t>
            </a:r>
          </a:p>
        </p:txBody>
      </p:sp>
      <p:sp>
        <p:nvSpPr>
          <p:cNvPr id="10" name="TextBox 9"/>
          <p:cNvSpPr txBox="1"/>
          <p:nvPr/>
        </p:nvSpPr>
        <p:spPr>
          <a:xfrm>
            <a:off x="609600" y="5537200"/>
            <a:ext cx="61849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776C7B"/>
                </a:solidFill>
                <a:latin typeface="Arial"/>
              </a:rPr>
              <a:t>Co-designed objects. Personal meaning. Viable small batches.</a:t>
            </a:r>
          </a:p>
        </p:txBody>
      </p:sp>
      <p:sp>
        <p:nvSpPr>
          <p:cNvPr id="11" name="Rounded Rectangle 10"/>
          <p:cNvSpPr/>
          <p:nvPr/>
        </p:nvSpPr>
        <p:spPr>
          <a:xfrm>
            <a:off x="7378700" y="1130300"/>
            <a:ext cx="4229100" cy="4699000"/>
          </a:xfrm>
          <a:prstGeom prst="roundRect">
            <a:avLst>
              <a:gd name="adj" fmla="val 210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45400" y="1409700"/>
            <a:ext cx="3644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THE MEMORY ARCHIVE</a:t>
            </a:r>
          </a:p>
        </p:txBody>
      </p:sp>
      <p:pic>
        <p:nvPicPr>
          <p:cNvPr id="13" name="Picture 12" descr="product_peach.png"/>
          <p:cNvPicPr>
            <a:picLocks noChangeAspect="1"/>
          </p:cNvPicPr>
          <p:nvPr/>
        </p:nvPicPr>
        <p:blipFill>
          <a:blip r:embed="rId2"/>
          <a:srcRect/>
          <a:stretch>
            <a:fillRect/>
          </a:stretch>
        </p:blipFill>
        <p:spPr>
          <a:xfrm>
            <a:off x="6985000" y="1819275"/>
            <a:ext cx="4953000" cy="3714750"/>
          </a:xfrm>
          <a:prstGeom prst="rect">
            <a:avLst/>
          </a:prstGeom>
        </p:spPr>
      </p:pic>
      <p:sp>
        <p:nvSpPr>
          <p:cNvPr id="14" name="TextBox 13"/>
          <p:cNvSpPr txBox="1"/>
          <p:nvPr/>
        </p:nvSpPr>
        <p:spPr>
          <a:xfrm>
            <a:off x="7696200" y="5372100"/>
            <a:ext cx="35814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392C42"/>
                </a:solidFill>
                <a:latin typeface="Arial"/>
              </a:rPr>
              <a:t>A small object. A familiar feeling.</a:t>
            </a:r>
          </a:p>
        </p:txBody>
      </p:sp>
      <p:cxnSp>
        <p:nvCxnSpPr>
          <p:cNvPr id="15" name="Connector 14"/>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Business proposal / Interactive prototype / Initial informal interview included; further validation needed.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THE REPORTED SIGNAL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02</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3246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A revival worth investigating.</a:t>
            </a:r>
          </a:p>
        </p:txBody>
      </p:sp>
      <p:sp>
        <p:nvSpPr>
          <p:cNvPr id="7" name="Rounded Rectangle 6"/>
          <p:cNvSpPr/>
          <p:nvPr/>
        </p:nvSpPr>
        <p:spPr>
          <a:xfrm>
            <a:off x="584200" y="2514600"/>
            <a:ext cx="5334000" cy="3009900"/>
          </a:xfrm>
          <a:prstGeom prst="roundRect">
            <a:avLst>
              <a:gd name="adj" fmla="val 2109"/>
            </a:avLst>
          </a:prstGeom>
          <a:solidFill>
            <a:srgbClr val="C9E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2819400"/>
            <a:ext cx="4762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25 JUN 2026</a:t>
            </a:r>
          </a:p>
        </p:txBody>
      </p:sp>
      <p:sp>
        <p:nvSpPr>
          <p:cNvPr id="9" name="TextBox 8"/>
          <p:cNvSpPr txBox="1"/>
          <p:nvPr/>
        </p:nvSpPr>
        <p:spPr>
          <a:xfrm>
            <a:off x="876300" y="3340100"/>
            <a:ext cx="4762500" cy="597408"/>
          </a:xfrm>
          <a:prstGeom prst="rect">
            <a:avLst/>
          </a:prstGeom>
          <a:noFill/>
        </p:spPr>
        <p:txBody>
          <a:bodyPr wrap="none" lIns="0" rIns="0" tIns="0" bIns="0" anchor="t">
            <a:spAutoFit/>
          </a:bodyPr>
          <a:lstStyle/>
          <a:p>
            <a:pPr>
              <a:lnSpc>
                <a:spcPts val="3904"/>
              </a:lnSpc>
              <a:spcBef>
                <a:spcPts val="0"/>
              </a:spcBef>
              <a:spcAft>
                <a:spcPts val="0"/>
              </a:spcAft>
            </a:pPr>
            <a:r>
              <a:rPr sz="3200" b="1" i="0">
                <a:solidFill>
                  <a:srgbClr val="392C42"/>
                </a:solidFill>
                <a:latin typeface="Arial"/>
              </a:rPr>
              <a:t>Sampheng</a:t>
            </a:r>
          </a:p>
        </p:txBody>
      </p:sp>
      <p:sp>
        <p:nvSpPr>
          <p:cNvPr id="10" name="TextBox 9"/>
          <p:cNvSpPr txBox="1"/>
          <p:nvPr/>
        </p:nvSpPr>
        <p:spPr>
          <a:xfrm>
            <a:off x="876300" y="4076700"/>
            <a:ext cx="4762500" cy="1130300"/>
          </a:xfrm>
          <a:prstGeom prst="rect">
            <a:avLst/>
          </a:prstGeom>
          <a:noFill/>
        </p:spPr>
        <p:txBody>
          <a:bodyPr wrap="none" lIns="0" rIns="0" tIns="0" bIns="0" anchor="t">
            <a:spAutoFit/>
          </a:bodyPr>
          <a:lstStyle/>
          <a:p>
            <a:pPr>
              <a:lnSpc>
                <a:spcPts val="2700"/>
              </a:lnSpc>
              <a:spcBef>
                <a:spcPts val="0"/>
              </a:spcBef>
              <a:spcAft>
                <a:spcPts val="0"/>
              </a:spcAft>
            </a:pPr>
            <a:r>
              <a:rPr sz="1800" b="0" i="0">
                <a:solidFill>
                  <a:srgbClr val="392C42"/>
                </a:solidFill>
                <a:latin typeface="Arial"/>
              </a:rPr>
              <a:t>A vendor described working adults</a:t>
            </a:r>
          </a:p>
          <a:p>
            <a:pPr>
              <a:lnSpc>
                <a:spcPts val="2700"/>
              </a:lnSpc>
              <a:spcBef>
                <a:spcPts val="0"/>
              </a:spcBef>
              <a:spcAft>
                <a:spcPts val="0"/>
              </a:spcAft>
            </a:pPr>
            <a:r>
              <a:rPr sz="1800" b="0" i="0">
                <a:solidFill>
                  <a:srgbClr val="392C42"/>
                </a:solidFill>
                <a:latin typeface="Arial"/>
              </a:rPr>
              <a:t>returning to childhood wishes.</a:t>
            </a:r>
          </a:p>
          <a:p>
            <a:pPr>
              <a:lnSpc>
                <a:spcPts val="2700"/>
              </a:lnSpc>
              <a:spcBef>
                <a:spcPts val="0"/>
              </a:spcBef>
              <a:spcAft>
                <a:spcPts val="0"/>
              </a:spcAft>
            </a:pPr>
            <a:r>
              <a:rPr sz="1800" b="0" i="0">
                <a:solidFill>
                  <a:srgbClr val="392C42"/>
                </a:solidFill>
                <a:latin typeface="Arial"/>
              </a:rPr>
              <a:t>Social reviews helped renew attention.</a:t>
            </a:r>
          </a:p>
        </p:txBody>
      </p:sp>
      <p:sp>
        <p:nvSpPr>
          <p:cNvPr id="11" name="Rounded Rectangle 10"/>
          <p:cNvSpPr/>
          <p:nvPr/>
        </p:nvSpPr>
        <p:spPr>
          <a:xfrm>
            <a:off x="6273800" y="2514600"/>
            <a:ext cx="5334000" cy="3009900"/>
          </a:xfrm>
          <a:prstGeom prst="roundRect">
            <a:avLst>
              <a:gd name="adj" fmla="val 2109"/>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2819400"/>
            <a:ext cx="4762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19 JUN 2026</a:t>
            </a:r>
          </a:p>
        </p:txBody>
      </p:sp>
      <p:sp>
        <p:nvSpPr>
          <p:cNvPr id="13" name="TextBox 12"/>
          <p:cNvSpPr txBox="1"/>
          <p:nvPr/>
        </p:nvSpPr>
        <p:spPr>
          <a:xfrm>
            <a:off x="6565900" y="3340100"/>
            <a:ext cx="4762500" cy="597408"/>
          </a:xfrm>
          <a:prstGeom prst="rect">
            <a:avLst/>
          </a:prstGeom>
          <a:noFill/>
        </p:spPr>
        <p:txBody>
          <a:bodyPr wrap="none" lIns="0" rIns="0" tIns="0" bIns="0" anchor="t">
            <a:spAutoFit/>
          </a:bodyPr>
          <a:lstStyle/>
          <a:p>
            <a:pPr>
              <a:lnSpc>
                <a:spcPts val="3904"/>
              </a:lnSpc>
              <a:spcBef>
                <a:spcPts val="0"/>
              </a:spcBef>
              <a:spcAft>
                <a:spcPts val="0"/>
              </a:spcAft>
            </a:pPr>
            <a:r>
              <a:rPr sz="3200" b="1" i="0">
                <a:solidFill>
                  <a:srgbClr val="392C42"/>
                </a:solidFill>
                <a:latin typeface="Arial"/>
              </a:rPr>
              <a:t>Mega Plaza</a:t>
            </a:r>
          </a:p>
        </p:txBody>
      </p:sp>
      <p:sp>
        <p:nvSpPr>
          <p:cNvPr id="14" name="TextBox 13"/>
          <p:cNvSpPr txBox="1"/>
          <p:nvPr/>
        </p:nvSpPr>
        <p:spPr>
          <a:xfrm>
            <a:off x="6565900" y="4076700"/>
            <a:ext cx="4762500" cy="1130300"/>
          </a:xfrm>
          <a:prstGeom prst="rect">
            <a:avLst/>
          </a:prstGeom>
          <a:noFill/>
        </p:spPr>
        <p:txBody>
          <a:bodyPr wrap="none" lIns="0" rIns="0" tIns="0" bIns="0" anchor="t">
            <a:spAutoFit/>
          </a:bodyPr>
          <a:lstStyle/>
          <a:p>
            <a:pPr>
              <a:lnSpc>
                <a:spcPts val="2700"/>
              </a:lnSpc>
              <a:spcBef>
                <a:spcPts val="0"/>
              </a:spcBef>
              <a:spcAft>
                <a:spcPts val="0"/>
              </a:spcAft>
            </a:pPr>
            <a:r>
              <a:rPr sz="1800" b="0" i="0">
                <a:solidFill>
                  <a:srgbClr val="392C42"/>
                </a:solidFill>
                <a:latin typeface="Arial"/>
              </a:rPr>
              <a:t>A broader squishy revival was reported.</a:t>
            </a:r>
          </a:p>
          <a:p>
            <a:pPr>
              <a:lnSpc>
                <a:spcPts val="2700"/>
              </a:lnSpc>
              <a:spcBef>
                <a:spcPts val="0"/>
              </a:spcBef>
              <a:spcAft>
                <a:spcPts val="0"/>
              </a:spcAft>
            </a:pPr>
            <a:r>
              <a:rPr sz="1800" b="0" i="0">
                <a:solidFill>
                  <a:srgbClr val="392C42"/>
                </a:solidFill>
                <a:latin typeface="Arial"/>
              </a:rPr>
              <a:t>Observed customers were mainly</a:t>
            </a:r>
          </a:p>
          <a:p>
            <a:pPr>
              <a:lnSpc>
                <a:spcPts val="2700"/>
              </a:lnSpc>
              <a:spcBef>
                <a:spcPts val="0"/>
              </a:spcBef>
              <a:spcAft>
                <a:spcPts val="0"/>
              </a:spcAft>
            </a:pPr>
            <a:r>
              <a:rPr sz="1800" b="0" i="0">
                <a:solidFill>
                  <a:srgbClr val="392C42"/>
                </a:solidFill>
                <a:latin typeface="Arial"/>
              </a:rPr>
              <a:t>children and teenagers.</a:t>
            </a:r>
          </a:p>
        </p:txBody>
      </p:sp>
      <p:sp>
        <p:nvSpPr>
          <p:cNvPr id="15" name="TextBox 14"/>
          <p:cNvSpPr txBox="1"/>
          <p:nvPr/>
        </p:nvSpPr>
        <p:spPr>
          <a:xfrm>
            <a:off x="584200" y="58420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Two local reports. A reason to study the segment, not a market-size estimate.</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S1 / Thai PBS World · S2 / Thairath. June 2026 reporting does not prove continuing growth in October.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SPOT THE CHANGE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03</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07950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The toy is familiar.</a:t>
            </a:r>
          </a:p>
          <a:p>
            <a:pPr>
              <a:lnSpc>
                <a:spcPts val="3850"/>
              </a:lnSpc>
              <a:spcBef>
                <a:spcPts val="0"/>
              </a:spcBef>
              <a:spcAft>
                <a:spcPts val="0"/>
              </a:spcAft>
            </a:pPr>
            <a:r>
              <a:rPr sz="3500" b="1" i="0">
                <a:solidFill>
                  <a:srgbClr val="392C42"/>
                </a:solidFill>
                <a:latin typeface="Arial"/>
              </a:rPr>
              <a:t>The buyer’s situation has changed.</a:t>
            </a:r>
          </a:p>
        </p:txBody>
      </p:sp>
      <p:sp>
        <p:nvSpPr>
          <p:cNvPr id="7" name="Rounded Rectangle 6"/>
          <p:cNvSpPr/>
          <p:nvPr/>
        </p:nvSpPr>
        <p:spPr>
          <a:xfrm>
            <a:off x="584200" y="2717800"/>
            <a:ext cx="5334000" cy="2692400"/>
          </a:xfrm>
          <a:prstGeom prst="roundRect">
            <a:avLst>
              <a:gd name="adj" fmla="val 2358"/>
            </a:avLst>
          </a:prstGeom>
          <a:solidFill>
            <a:srgbClr val="C9E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3022600"/>
            <a:ext cx="4787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THEN / A CHILDHOOD WISH</a:t>
            </a:r>
          </a:p>
        </p:txBody>
      </p:sp>
      <p:sp>
        <p:nvSpPr>
          <p:cNvPr id="9" name="TextBox 8"/>
          <p:cNvSpPr txBox="1"/>
          <p:nvPr/>
        </p:nvSpPr>
        <p:spPr>
          <a:xfrm>
            <a:off x="876300" y="3568700"/>
            <a:ext cx="47879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392C42"/>
                </a:solidFill>
                <a:latin typeface="Arial"/>
              </a:rPr>
              <a:t>A wish out of reach.</a:t>
            </a:r>
          </a:p>
        </p:txBody>
      </p:sp>
      <p:sp>
        <p:nvSpPr>
          <p:cNvPr id="10" name="TextBox 9"/>
          <p:cNvSpPr txBox="1"/>
          <p:nvPr/>
        </p:nvSpPr>
        <p:spPr>
          <a:xfrm>
            <a:off x="876300" y="4305300"/>
            <a:ext cx="4787900" cy="762000"/>
          </a:xfrm>
          <a:prstGeom prst="rect">
            <a:avLst/>
          </a:prstGeom>
          <a:noFill/>
        </p:spPr>
        <p:txBody>
          <a:bodyPr wrap="none" lIns="0" rIns="0" tIns="0" bIns="0" anchor="t">
            <a:spAutoFit/>
          </a:bodyPr>
          <a:lstStyle/>
          <a:p>
            <a:pPr>
              <a:lnSpc>
                <a:spcPts val="2600"/>
              </a:lnSpc>
              <a:spcBef>
                <a:spcPts val="0"/>
              </a:spcBef>
              <a:spcAft>
                <a:spcPts val="0"/>
              </a:spcAft>
            </a:pPr>
            <a:r>
              <a:rPr sz="1800" b="0" i="0">
                <a:solidFill>
                  <a:srgbClr val="776C7B"/>
                </a:solidFill>
                <a:latin typeface="Arial"/>
              </a:rPr>
              <a:t>A desired toy, without the money</a:t>
            </a:r>
          </a:p>
          <a:p>
            <a:pPr>
              <a:lnSpc>
                <a:spcPts val="2600"/>
              </a:lnSpc>
              <a:spcBef>
                <a:spcPts val="0"/>
              </a:spcBef>
              <a:spcAft>
                <a:spcPts val="0"/>
              </a:spcAft>
            </a:pPr>
            <a:r>
              <a:rPr sz="1800" b="0" i="0">
                <a:solidFill>
                  <a:srgbClr val="776C7B"/>
                </a:solidFill>
                <a:latin typeface="Arial"/>
              </a:rPr>
              <a:t>to choose it independently.</a:t>
            </a:r>
          </a:p>
        </p:txBody>
      </p:sp>
      <p:sp>
        <p:nvSpPr>
          <p:cNvPr id="11" name="Rounded Rectangle 10"/>
          <p:cNvSpPr/>
          <p:nvPr/>
        </p:nvSpPr>
        <p:spPr>
          <a:xfrm>
            <a:off x="6273800" y="2717800"/>
            <a:ext cx="5334000" cy="2692400"/>
          </a:xfrm>
          <a:prstGeom prst="roundRect">
            <a:avLst>
              <a:gd name="adj" fmla="val 2358"/>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3022600"/>
            <a:ext cx="4787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NOW / ADULT SPENDING POWER</a:t>
            </a:r>
          </a:p>
        </p:txBody>
      </p:sp>
      <p:sp>
        <p:nvSpPr>
          <p:cNvPr id="13" name="TextBox 12"/>
          <p:cNvSpPr txBox="1"/>
          <p:nvPr/>
        </p:nvSpPr>
        <p:spPr>
          <a:xfrm>
            <a:off x="6565900" y="3568700"/>
            <a:ext cx="47879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392C42"/>
                </a:solidFill>
                <a:latin typeface="Arial"/>
              </a:rPr>
              <a:t>A choice within reach.</a:t>
            </a:r>
          </a:p>
        </p:txBody>
      </p:sp>
      <p:sp>
        <p:nvSpPr>
          <p:cNvPr id="14" name="TextBox 13"/>
          <p:cNvSpPr txBox="1"/>
          <p:nvPr/>
        </p:nvSpPr>
        <p:spPr>
          <a:xfrm>
            <a:off x="6565900" y="4305300"/>
            <a:ext cx="4787900" cy="762000"/>
          </a:xfrm>
          <a:prstGeom prst="rect">
            <a:avLst/>
          </a:prstGeom>
          <a:noFill/>
        </p:spPr>
        <p:txBody>
          <a:bodyPr wrap="none" lIns="0" rIns="0" tIns="0" bIns="0" anchor="t">
            <a:spAutoFit/>
          </a:bodyPr>
          <a:lstStyle/>
          <a:p>
            <a:pPr>
              <a:lnSpc>
                <a:spcPts val="2600"/>
              </a:lnSpc>
              <a:spcBef>
                <a:spcPts val="0"/>
              </a:spcBef>
              <a:spcAft>
                <a:spcPts val="0"/>
              </a:spcAft>
            </a:pPr>
            <a:r>
              <a:rPr sz="1800" b="0" i="0">
                <a:solidFill>
                  <a:srgbClr val="776C7B"/>
                </a:solidFill>
                <a:latin typeface="Arial"/>
              </a:rPr>
              <a:t>A vendor described working adults</a:t>
            </a:r>
          </a:p>
          <a:p>
            <a:pPr>
              <a:lnSpc>
                <a:spcPts val="2600"/>
              </a:lnSpc>
              <a:spcBef>
                <a:spcPts val="0"/>
              </a:spcBef>
              <a:spcAft>
                <a:spcPts val="0"/>
              </a:spcAft>
            </a:pPr>
            <a:r>
              <a:rPr sz="1800" b="0" i="0">
                <a:solidFill>
                  <a:srgbClr val="776C7B"/>
                </a:solidFill>
                <a:latin typeface="Arial"/>
              </a:rPr>
              <a:t>returning to toys they once wanted.</a:t>
            </a:r>
          </a:p>
        </p:txBody>
      </p:sp>
      <p:sp>
        <p:nvSpPr>
          <p:cNvPr id="15" name="TextBox 14"/>
          <p:cNvSpPr txBox="1"/>
          <p:nvPr/>
        </p:nvSpPr>
        <p:spPr>
          <a:xfrm>
            <a:off x="596900" y="5791200"/>
            <a:ext cx="11010900" cy="287528"/>
          </a:xfrm>
          <a:prstGeom prst="rect">
            <a:avLst/>
          </a:prstGeom>
          <a:noFill/>
        </p:spPr>
        <p:txBody>
          <a:bodyPr wrap="none" lIns="0" rIns="0" tIns="0" bIns="0" anchor="t">
            <a:spAutoFit/>
          </a:bodyPr>
          <a:lstStyle/>
          <a:p>
            <a:pPr>
              <a:lnSpc>
                <a:spcPts val="1464"/>
              </a:lnSpc>
              <a:spcBef>
                <a:spcPts val="0"/>
              </a:spcBef>
              <a:spcAft>
                <a:spcPts val="0"/>
              </a:spcAft>
            </a:pPr>
            <a:r>
              <a:rPr sz="1200" b="0" i="0">
                <a:solidFill>
                  <a:srgbClr val="776C7B"/>
                </a:solidFill>
                <a:latin typeface="Arial"/>
              </a:rPr>
              <a:t>The opportunity starts with a change in spending power, not a new type of toy.</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S1 / Thai PBS World, 25 Jun 2026. Local reporting; adult market size and current growth remain unknown.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ORIGINAL EVIDENCE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04</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A local interview.</a:t>
            </a:r>
          </a:p>
          <a:p>
            <a:pPr>
              <a:lnSpc>
                <a:spcPts val="4070"/>
              </a:lnSpc>
              <a:spcBef>
                <a:spcPts val="0"/>
              </a:spcBef>
              <a:spcAft>
                <a:spcPts val="0"/>
              </a:spcAft>
            </a:pPr>
            <a:r>
              <a:rPr sz="3700" b="1" i="0">
                <a:solidFill>
                  <a:srgbClr val="392C42"/>
                </a:solidFill>
                <a:latin typeface="Arial"/>
              </a:rPr>
              <a:t>A signal of adult interest.</a:t>
            </a:r>
          </a:p>
        </p:txBody>
      </p:sp>
      <p:sp>
        <p:nvSpPr>
          <p:cNvPr id="7" name="Rounded Rectangle 6"/>
          <p:cNvSpPr/>
          <p:nvPr/>
        </p:nvSpPr>
        <p:spPr>
          <a:xfrm>
            <a:off x="584200" y="2679700"/>
            <a:ext cx="4038600" cy="3200400"/>
          </a:xfrm>
          <a:prstGeom prst="roundRect">
            <a:avLst>
              <a:gd name="adj" fmla="val 1984"/>
            </a:avLst>
          </a:prstGeom>
          <a:solidFill>
            <a:srgbClr val="EEE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900" y="2959100"/>
            <a:ext cx="35433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INTERVIEW / PARAPHRASE</a:t>
            </a:r>
          </a:p>
        </p:txBody>
      </p:sp>
      <p:sp>
        <p:nvSpPr>
          <p:cNvPr id="9" name="TextBox 8"/>
          <p:cNvSpPr txBox="1"/>
          <p:nvPr/>
        </p:nvSpPr>
        <p:spPr>
          <a:xfrm>
            <a:off x="850900" y="3479800"/>
            <a:ext cx="3530600" cy="1397000"/>
          </a:xfrm>
          <a:prstGeom prst="rect">
            <a:avLst/>
          </a:prstGeom>
          <a:noFill/>
        </p:spPr>
        <p:txBody>
          <a:bodyPr wrap="none" lIns="0" rIns="0" tIns="0" bIns="0" anchor="t">
            <a:spAutoFit/>
          </a:bodyPr>
          <a:lstStyle/>
          <a:p>
            <a:pPr>
              <a:lnSpc>
                <a:spcPts val="3400"/>
              </a:lnSpc>
              <a:spcBef>
                <a:spcPts val="0"/>
              </a:spcBef>
              <a:spcAft>
                <a:spcPts val="0"/>
              </a:spcAft>
            </a:pPr>
            <a:r>
              <a:rPr sz="2800" b="1" i="0">
                <a:solidFill>
                  <a:srgbClr val="392C42"/>
                </a:solidFill>
                <a:latin typeface="Arial"/>
              </a:rPr>
              <a:t>Working adults</a:t>
            </a:r>
          </a:p>
          <a:p>
            <a:pPr>
              <a:lnSpc>
                <a:spcPts val="3400"/>
              </a:lnSpc>
              <a:spcBef>
                <a:spcPts val="0"/>
              </a:spcBef>
              <a:spcAft>
                <a:spcPts val="0"/>
              </a:spcAft>
            </a:pPr>
            <a:r>
              <a:rPr sz="2800" b="1" i="0">
                <a:solidFill>
                  <a:srgbClr val="392C42"/>
                </a:solidFill>
                <a:latin typeface="Arial"/>
              </a:rPr>
              <a:t>also come to</a:t>
            </a:r>
          </a:p>
          <a:p>
            <a:pPr>
              <a:lnSpc>
                <a:spcPts val="3400"/>
              </a:lnSpc>
              <a:spcBef>
                <a:spcPts val="0"/>
              </a:spcBef>
              <a:spcAft>
                <a:spcPts val="0"/>
              </a:spcAft>
            </a:pPr>
            <a:r>
              <a:rPr sz="2800" b="1" i="0">
                <a:solidFill>
                  <a:srgbClr val="392C42"/>
                </a:solidFill>
                <a:latin typeface="Arial"/>
              </a:rPr>
              <a:t>squeeze and play.</a:t>
            </a:r>
          </a:p>
        </p:txBody>
      </p:sp>
      <p:sp>
        <p:nvSpPr>
          <p:cNvPr id="10" name="TextBox 9"/>
          <p:cNvSpPr txBox="1"/>
          <p:nvPr/>
        </p:nvSpPr>
        <p:spPr>
          <a:xfrm>
            <a:off x="850900" y="5080000"/>
            <a:ext cx="35179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Reported by the interviewee.</a:t>
            </a:r>
          </a:p>
          <a:p>
            <a:pPr>
              <a:lnSpc>
                <a:spcPts val="2100"/>
              </a:lnSpc>
              <a:spcBef>
                <a:spcPts val="0"/>
              </a:spcBef>
              <a:spcAft>
                <a:spcPts val="0"/>
              </a:spcAft>
            </a:pPr>
            <a:r>
              <a:rPr sz="1500" b="0" i="0">
                <a:solidFill>
                  <a:srgbClr val="776C7B"/>
                </a:solidFill>
                <a:latin typeface="Arial"/>
              </a:rPr>
              <a:t>No customer count supplied.</a:t>
            </a:r>
          </a:p>
        </p:txBody>
      </p:sp>
      <p:sp>
        <p:nvSpPr>
          <p:cNvPr id="11" name="TextBox 10"/>
          <p:cNvSpPr txBox="1"/>
          <p:nvPr/>
        </p:nvSpPr>
        <p:spPr>
          <a:xfrm>
            <a:off x="5130800" y="28321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01</a:t>
            </a:r>
          </a:p>
        </p:txBody>
      </p:sp>
      <p:sp>
        <p:nvSpPr>
          <p:cNvPr id="12" name="TextBox 11"/>
          <p:cNvSpPr txBox="1"/>
          <p:nvPr/>
        </p:nvSpPr>
        <p:spPr>
          <a:xfrm>
            <a:off x="5842000" y="27813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Source</a:t>
            </a:r>
          </a:p>
        </p:txBody>
      </p:sp>
      <p:sp>
        <p:nvSpPr>
          <p:cNvPr id="13" name="TextBox 12"/>
          <p:cNvSpPr txBox="1"/>
          <p:nvPr/>
        </p:nvSpPr>
        <p:spPr>
          <a:xfrm>
            <a:off x="5842000" y="3225800"/>
            <a:ext cx="5778500" cy="635000"/>
          </a:xfrm>
          <a:prstGeom prst="rect">
            <a:avLst/>
          </a:prstGeom>
          <a:noFill/>
        </p:spPr>
        <p:txBody>
          <a:bodyPr wrap="none" lIns="0" rIns="0" tIns="0" bIns="0" anchor="t">
            <a:spAutoFit/>
          </a:bodyPr>
          <a:lstStyle/>
          <a:p>
            <a:pPr>
              <a:lnSpc>
                <a:spcPts val="2100"/>
              </a:lnSpc>
              <a:spcBef>
                <a:spcPts val="0"/>
              </a:spcBef>
              <a:spcAft>
                <a:spcPts val="0"/>
              </a:spcAft>
            </a:pPr>
            <a:r>
              <a:rPr sz="1600" b="0" i="0">
                <a:solidFill>
                  <a:srgbClr val="776C7B"/>
                </a:solidFill>
                <a:latin typeface="Arial"/>
              </a:rPr>
              <a:t>Informal interview at a market</a:t>
            </a:r>
          </a:p>
          <a:p>
            <a:pPr>
              <a:lnSpc>
                <a:spcPts val="2100"/>
              </a:lnSpc>
              <a:spcBef>
                <a:spcPts val="0"/>
              </a:spcBef>
              <a:spcAft>
                <a:spcPts val="0"/>
              </a:spcAft>
            </a:pPr>
            <a:r>
              <a:rPr sz="1600" b="0" i="0">
                <a:solidFill>
                  <a:srgbClr val="776C7B"/>
                </a:solidFill>
                <a:latin typeface="Arial"/>
              </a:rPr>
              <a:t>near my internship.</a:t>
            </a:r>
          </a:p>
        </p:txBody>
      </p:sp>
      <p:cxnSp>
        <p:nvCxnSpPr>
          <p:cNvPr id="14" name="Connector 13"/>
          <p:cNvCxnSpPr/>
          <p:nvPr/>
        </p:nvCxnSpPr>
        <p:spPr>
          <a:xfrm>
            <a:off x="5130800" y="37719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130800" y="39116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02</a:t>
            </a:r>
          </a:p>
        </p:txBody>
      </p:sp>
      <p:sp>
        <p:nvSpPr>
          <p:cNvPr id="16" name="TextBox 15"/>
          <p:cNvSpPr txBox="1"/>
          <p:nvPr/>
        </p:nvSpPr>
        <p:spPr>
          <a:xfrm>
            <a:off x="5842000" y="38608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What it suggests</a:t>
            </a:r>
          </a:p>
        </p:txBody>
      </p:sp>
      <p:sp>
        <p:nvSpPr>
          <p:cNvPr id="17" name="TextBox 16"/>
          <p:cNvSpPr txBox="1"/>
          <p:nvPr/>
        </p:nvSpPr>
        <p:spPr>
          <a:xfrm>
            <a:off x="5842000" y="4305300"/>
            <a:ext cx="5778500" cy="635000"/>
          </a:xfrm>
          <a:prstGeom prst="rect">
            <a:avLst/>
          </a:prstGeom>
          <a:noFill/>
        </p:spPr>
        <p:txBody>
          <a:bodyPr wrap="none" lIns="0" rIns="0" tIns="0" bIns="0" anchor="t">
            <a:spAutoFit/>
          </a:bodyPr>
          <a:lstStyle/>
          <a:p>
            <a:pPr>
              <a:lnSpc>
                <a:spcPts val="2100"/>
              </a:lnSpc>
              <a:spcBef>
                <a:spcPts val="0"/>
              </a:spcBef>
              <a:spcAft>
                <a:spcPts val="0"/>
              </a:spcAft>
            </a:pPr>
            <a:r>
              <a:rPr sz="1600" b="0" i="0">
                <a:solidFill>
                  <a:srgbClr val="776C7B"/>
                </a:solidFill>
                <a:latin typeface="Arial"/>
              </a:rPr>
              <a:t>Adult interest in touching</a:t>
            </a:r>
          </a:p>
          <a:p>
            <a:pPr>
              <a:lnSpc>
                <a:spcPts val="2100"/>
              </a:lnSpc>
              <a:spcBef>
                <a:spcPts val="0"/>
              </a:spcBef>
              <a:spcAft>
                <a:spcPts val="0"/>
              </a:spcAft>
            </a:pPr>
            <a:r>
              <a:rPr sz="1600" b="0" i="0">
                <a:solidFill>
                  <a:srgbClr val="776C7B"/>
                </a:solidFill>
                <a:latin typeface="Arial"/>
              </a:rPr>
              <a:t>and trying the toys.</a:t>
            </a:r>
          </a:p>
        </p:txBody>
      </p:sp>
      <p:cxnSp>
        <p:nvCxnSpPr>
          <p:cNvPr id="18" name="Connector 17"/>
          <p:cNvCxnSpPr/>
          <p:nvPr/>
        </p:nvCxnSpPr>
        <p:spPr>
          <a:xfrm>
            <a:off x="5130800" y="48514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130800" y="49911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03</a:t>
            </a:r>
          </a:p>
        </p:txBody>
      </p:sp>
      <p:sp>
        <p:nvSpPr>
          <p:cNvPr id="20" name="TextBox 19"/>
          <p:cNvSpPr txBox="1"/>
          <p:nvPr/>
        </p:nvSpPr>
        <p:spPr>
          <a:xfrm>
            <a:off x="5842000" y="49403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What remains unknown</a:t>
            </a:r>
          </a:p>
        </p:txBody>
      </p:sp>
      <p:sp>
        <p:nvSpPr>
          <p:cNvPr id="21" name="TextBox 20"/>
          <p:cNvSpPr txBox="1"/>
          <p:nvPr/>
        </p:nvSpPr>
        <p:spPr>
          <a:xfrm>
            <a:off x="5842000" y="5384800"/>
            <a:ext cx="5778500" cy="635000"/>
          </a:xfrm>
          <a:prstGeom prst="rect">
            <a:avLst/>
          </a:prstGeom>
          <a:noFill/>
        </p:spPr>
        <p:txBody>
          <a:bodyPr wrap="none" lIns="0" rIns="0" tIns="0" bIns="0" anchor="t">
            <a:spAutoFit/>
          </a:bodyPr>
          <a:lstStyle/>
          <a:p>
            <a:pPr>
              <a:lnSpc>
                <a:spcPts val="2100"/>
              </a:lnSpc>
              <a:spcBef>
                <a:spcPts val="0"/>
              </a:spcBef>
              <a:spcAft>
                <a:spcPts val="0"/>
              </a:spcAft>
            </a:pPr>
            <a:r>
              <a:rPr sz="1600" b="0" i="0">
                <a:solidFill>
                  <a:srgbClr val="776C7B"/>
                </a:solidFill>
                <a:latin typeface="Arial"/>
              </a:rPr>
              <a:t>Purchases, nostalgia and</a:t>
            </a:r>
          </a:p>
          <a:p>
            <a:pPr>
              <a:lnSpc>
                <a:spcPts val="2100"/>
              </a:lnSpc>
              <a:spcBef>
                <a:spcPts val="0"/>
              </a:spcBef>
              <a:spcAft>
                <a:spcPts val="0"/>
              </a:spcAft>
            </a:pPr>
            <a:r>
              <a:rPr sz="1600" b="0" i="0">
                <a:solidFill>
                  <a:srgbClr val="776C7B"/>
                </a:solidFill>
                <a:latin typeface="Arial"/>
              </a:rPr>
              <a:t>change in demand over time.</a:t>
            </a:r>
          </a:p>
        </p:txBody>
      </p:sp>
      <p:cxnSp>
        <p:nvCxnSpPr>
          <p:cNvPr id="22" name="Connector 21"/>
          <p:cNvCxnSpPr/>
          <p:nvPr/>
        </p:nvCxnSpPr>
        <p:spPr>
          <a:xfrm>
            <a:off x="5130800" y="59309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S6 / Personally collected interview, paraphrased in English. A qualitative account, not a measured trend.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02 / PROPOSED TARGET CUSTOMER</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05</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3246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Design for a specific buyer.</a:t>
            </a:r>
          </a:p>
        </p:txBody>
      </p:sp>
      <p:sp>
        <p:nvSpPr>
          <p:cNvPr id="7" name="Rounded Rectangle 6"/>
          <p:cNvSpPr/>
          <p:nvPr/>
        </p:nvSpPr>
        <p:spPr>
          <a:xfrm>
            <a:off x="584200" y="2476500"/>
            <a:ext cx="4152900" cy="3467100"/>
          </a:xfrm>
          <a:prstGeom prst="roundRect">
            <a:avLst>
              <a:gd name="adj" fmla="val 1831"/>
            </a:avLst>
          </a:prstGeom>
          <a:solidFill>
            <a:srgbClr val="392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2781300"/>
            <a:ext cx="35941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D9CDF2"/>
                </a:solidFill>
                <a:latin typeface="Press Start 2P"/>
              </a:rPr>
              <a:t>TARGET TO TEST</a:t>
            </a:r>
          </a:p>
        </p:txBody>
      </p:sp>
      <p:sp>
        <p:nvSpPr>
          <p:cNvPr id="9" name="TextBox 8"/>
          <p:cNvSpPr txBox="1"/>
          <p:nvPr/>
        </p:nvSpPr>
        <p:spPr>
          <a:xfrm>
            <a:off x="876300" y="3390900"/>
            <a:ext cx="3594100" cy="1117600"/>
          </a:xfrm>
          <a:prstGeom prst="rect">
            <a:avLst/>
          </a:prstGeom>
          <a:noFill/>
        </p:spPr>
        <p:txBody>
          <a:bodyPr wrap="none" lIns="0" rIns="0" tIns="0" bIns="0" anchor="t">
            <a:spAutoFit/>
          </a:bodyPr>
          <a:lstStyle/>
          <a:p>
            <a:pPr>
              <a:lnSpc>
                <a:spcPts val="4000"/>
              </a:lnSpc>
              <a:spcBef>
                <a:spcPts val="0"/>
              </a:spcBef>
              <a:spcAft>
                <a:spcPts val="0"/>
              </a:spcAft>
            </a:pPr>
            <a:r>
              <a:rPr sz="3400" b="1" i="0">
                <a:solidFill>
                  <a:srgbClr val="FFFAF2"/>
                </a:solidFill>
                <a:latin typeface="Arial"/>
              </a:rPr>
              <a:t>Early-career</a:t>
            </a:r>
          </a:p>
          <a:p>
            <a:pPr>
              <a:lnSpc>
                <a:spcPts val="4000"/>
              </a:lnSpc>
              <a:spcBef>
                <a:spcPts val="0"/>
              </a:spcBef>
              <a:spcAft>
                <a:spcPts val="0"/>
              </a:spcAft>
            </a:pPr>
            <a:r>
              <a:rPr sz="3400" b="1" i="0">
                <a:solidFill>
                  <a:srgbClr val="FFFAF2"/>
                </a:solidFill>
                <a:latin typeface="Arial"/>
              </a:rPr>
              <a:t>Thai adults.</a:t>
            </a:r>
          </a:p>
        </p:txBody>
      </p:sp>
      <p:sp>
        <p:nvSpPr>
          <p:cNvPr id="10" name="TextBox 9"/>
          <p:cNvSpPr txBox="1"/>
          <p:nvPr/>
        </p:nvSpPr>
        <p:spPr>
          <a:xfrm>
            <a:off x="876300" y="4686300"/>
            <a:ext cx="3594100" cy="1054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D8CBDD"/>
                </a:solidFill>
                <a:latin typeface="Arial"/>
              </a:rPr>
              <a:t>Currently working.</a:t>
            </a:r>
          </a:p>
          <a:p>
            <a:pPr>
              <a:lnSpc>
                <a:spcPts val="2500"/>
              </a:lnSpc>
              <a:spcBef>
                <a:spcPts val="0"/>
              </a:spcBef>
              <a:spcAft>
                <a:spcPts val="0"/>
              </a:spcAft>
            </a:pPr>
            <a:r>
              <a:rPr sz="1800" b="0" i="0">
                <a:solidFill>
                  <a:srgbClr val="D8CBDD"/>
                </a:solidFill>
                <a:latin typeface="Arial"/>
              </a:rPr>
              <a:t>Buying for their own use,</a:t>
            </a:r>
          </a:p>
          <a:p>
            <a:pPr>
              <a:lnSpc>
                <a:spcPts val="2500"/>
              </a:lnSpc>
              <a:spcBef>
                <a:spcPts val="0"/>
              </a:spcBef>
              <a:spcAft>
                <a:spcPts val="0"/>
              </a:spcAft>
            </a:pPr>
            <a:r>
              <a:rPr sz="1800" b="0" i="0">
                <a:solidFill>
                  <a:srgbClr val="D8CBDD"/>
                </a:solidFill>
                <a:latin typeface="Arial"/>
              </a:rPr>
              <a:t>enjoyment or collection.</a:t>
            </a:r>
          </a:p>
        </p:txBody>
      </p:sp>
      <p:sp>
        <p:nvSpPr>
          <p:cNvPr id="11" name="TextBox 10"/>
          <p:cNvSpPr txBox="1"/>
          <p:nvPr/>
        </p:nvSpPr>
        <p:spPr>
          <a:xfrm>
            <a:off x="5308600" y="26289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Buying context</a:t>
            </a:r>
          </a:p>
        </p:txBody>
      </p:sp>
      <p:sp>
        <p:nvSpPr>
          <p:cNvPr id="12" name="TextBox 11"/>
          <p:cNvSpPr txBox="1"/>
          <p:nvPr/>
        </p:nvSpPr>
        <p:spPr>
          <a:xfrm>
            <a:off x="5308600" y="31115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Their own disposable income and personal choice.</a:t>
            </a:r>
          </a:p>
        </p:txBody>
      </p:sp>
      <p:cxnSp>
        <p:nvCxnSpPr>
          <p:cNvPr id="13" name="Connector 12"/>
          <p:cNvCxnSpPr/>
          <p:nvPr/>
        </p:nvCxnSpPr>
        <p:spPr>
          <a:xfrm>
            <a:off x="5308600" y="35433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308600" y="37338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Desired relevance</a:t>
            </a:r>
          </a:p>
        </p:txBody>
      </p:sp>
      <p:sp>
        <p:nvSpPr>
          <p:cNvPr id="15" name="TextBox 14"/>
          <p:cNvSpPr txBox="1"/>
          <p:nvPr/>
        </p:nvSpPr>
        <p:spPr>
          <a:xfrm>
            <a:off x="5308600" y="42164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A childhood reference that feels personally meaningful.</a:t>
            </a:r>
          </a:p>
        </p:txBody>
      </p:sp>
      <p:cxnSp>
        <p:nvCxnSpPr>
          <p:cNvPr id="16" name="Connector 15"/>
          <p:cNvCxnSpPr/>
          <p:nvPr/>
        </p:nvCxnSpPr>
        <p:spPr>
          <a:xfrm>
            <a:off x="5308600" y="46482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08600" y="48387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Use context</a:t>
            </a:r>
          </a:p>
        </p:txBody>
      </p:sp>
      <p:sp>
        <p:nvSpPr>
          <p:cNvPr id="18" name="TextBox 17"/>
          <p:cNvSpPr txBox="1"/>
          <p:nvPr/>
        </p:nvSpPr>
        <p:spPr>
          <a:xfrm>
            <a:off x="5308600" y="53213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A small object for a desk, display or everyday break.</a:t>
            </a:r>
          </a:p>
        </p:txBody>
      </p:sp>
      <p:cxnSp>
        <p:nvCxnSpPr>
          <p:cNvPr id="19" name="Connector 18"/>
          <p:cNvCxnSpPr/>
          <p:nvPr/>
        </p:nvCxnSpPr>
        <p:spPr>
          <a:xfrm>
            <a:off x="5308600" y="57531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Proposed audience and use cases. Confirm working status, purchase purpose and real preferences in fieldwork.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02 / EMOTIONAL MOTIVATION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06</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219200"/>
            <a:ext cx="10820400" cy="1346200"/>
          </a:xfrm>
          <a:prstGeom prst="rect">
            <a:avLst/>
          </a:prstGeom>
          <a:noFill/>
        </p:spPr>
        <p:txBody>
          <a:bodyPr wrap="none" lIns="0" rIns="0" tIns="0" bIns="0" anchor="t">
            <a:spAutoFit/>
          </a:bodyPr>
          <a:lstStyle/>
          <a:p>
            <a:pPr>
              <a:lnSpc>
                <a:spcPts val="4900"/>
              </a:lnSpc>
              <a:spcBef>
                <a:spcPts val="0"/>
              </a:spcBef>
              <a:spcAft>
                <a:spcPts val="0"/>
              </a:spcAft>
            </a:pPr>
            <a:r>
              <a:rPr sz="4400" b="1" i="0">
                <a:solidFill>
                  <a:srgbClr val="FFFAF2"/>
                </a:solidFill>
                <a:latin typeface="Arial"/>
              </a:rPr>
              <a:t>Memory can change</a:t>
            </a:r>
          </a:p>
          <a:p>
            <a:pPr>
              <a:lnSpc>
                <a:spcPts val="4900"/>
              </a:lnSpc>
              <a:spcBef>
                <a:spcPts val="0"/>
              </a:spcBef>
              <a:spcAft>
                <a:spcPts val="0"/>
              </a:spcAft>
            </a:pPr>
            <a:r>
              <a:rPr sz="4400" b="1" i="0">
                <a:solidFill>
                  <a:srgbClr val="FFFAF2"/>
                </a:solidFill>
                <a:latin typeface="Arial"/>
              </a:rPr>
              <a:t>what a toy is worth.</a:t>
            </a:r>
          </a:p>
        </p:txBody>
      </p:sp>
      <p:sp>
        <p:nvSpPr>
          <p:cNvPr id="7" name="TextBox 6"/>
          <p:cNvSpPr txBox="1"/>
          <p:nvPr/>
        </p:nvSpPr>
        <p:spPr>
          <a:xfrm>
            <a:off x="5842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EFBFD0"/>
                </a:solidFill>
                <a:latin typeface="Press Start 2P"/>
              </a:rPr>
              <a:t>01</a:t>
            </a:r>
          </a:p>
        </p:txBody>
      </p:sp>
      <p:sp>
        <p:nvSpPr>
          <p:cNvPr id="8" name="TextBox 7"/>
          <p:cNvSpPr txBox="1"/>
          <p:nvPr/>
        </p:nvSpPr>
        <p:spPr>
          <a:xfrm>
            <a:off x="5842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Memory</a:t>
            </a:r>
          </a:p>
        </p:txBody>
      </p:sp>
      <p:sp>
        <p:nvSpPr>
          <p:cNvPr id="9" name="TextBox 8"/>
          <p:cNvSpPr txBox="1"/>
          <p:nvPr/>
        </p:nvSpPr>
        <p:spPr>
          <a:xfrm>
            <a:off x="5842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A familiar object carries</a:t>
            </a:r>
          </a:p>
          <a:p>
            <a:pPr>
              <a:lnSpc>
                <a:spcPts val="2700"/>
              </a:lnSpc>
              <a:spcBef>
                <a:spcPts val="0"/>
              </a:spcBef>
              <a:spcAft>
                <a:spcPts val="0"/>
              </a:spcAft>
            </a:pPr>
            <a:r>
              <a:rPr sz="1900" b="0" i="0">
                <a:solidFill>
                  <a:srgbClr val="D8CBDD"/>
                </a:solidFill>
                <a:latin typeface="Arial"/>
              </a:rPr>
              <a:t>personal meaning.</a:t>
            </a:r>
          </a:p>
        </p:txBody>
      </p:sp>
      <p:sp>
        <p:nvSpPr>
          <p:cNvPr id="10" name="TextBox 9"/>
          <p:cNvSpPr txBox="1"/>
          <p:nvPr/>
        </p:nvSpPr>
        <p:spPr>
          <a:xfrm>
            <a:off x="43688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9CDF2"/>
                </a:solidFill>
                <a:latin typeface="Press Start 2P"/>
              </a:rPr>
              <a:t>02</a:t>
            </a:r>
          </a:p>
        </p:txBody>
      </p:sp>
      <p:sp>
        <p:nvSpPr>
          <p:cNvPr id="11" name="TextBox 10"/>
          <p:cNvSpPr txBox="1"/>
          <p:nvPr/>
        </p:nvSpPr>
        <p:spPr>
          <a:xfrm>
            <a:off x="43688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Enjoyment</a:t>
            </a:r>
          </a:p>
        </p:txBody>
      </p:sp>
      <p:sp>
        <p:nvSpPr>
          <p:cNvPr id="12" name="TextBox 11"/>
          <p:cNvSpPr txBox="1"/>
          <p:nvPr/>
        </p:nvSpPr>
        <p:spPr>
          <a:xfrm>
            <a:off x="43688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The sensory experience</a:t>
            </a:r>
          </a:p>
          <a:p>
            <a:pPr>
              <a:lnSpc>
                <a:spcPts val="2700"/>
              </a:lnSpc>
              <a:spcBef>
                <a:spcPts val="0"/>
              </a:spcBef>
              <a:spcAft>
                <a:spcPts val="0"/>
              </a:spcAft>
            </a:pPr>
            <a:r>
              <a:rPr sz="1900" b="0" i="0">
                <a:solidFill>
                  <a:srgbClr val="D8CBDD"/>
                </a:solidFill>
                <a:latin typeface="Arial"/>
              </a:rPr>
              <a:t>is part of the appeal.</a:t>
            </a:r>
          </a:p>
        </p:txBody>
      </p:sp>
      <p:sp>
        <p:nvSpPr>
          <p:cNvPr id="13" name="TextBox 12"/>
          <p:cNvSpPr txBox="1"/>
          <p:nvPr/>
        </p:nvSpPr>
        <p:spPr>
          <a:xfrm>
            <a:off x="81534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4E7D9"/>
                </a:solidFill>
                <a:latin typeface="Press Start 2P"/>
              </a:rPr>
              <a:t>03</a:t>
            </a:r>
          </a:p>
        </p:txBody>
      </p:sp>
      <p:sp>
        <p:nvSpPr>
          <p:cNvPr id="14" name="TextBox 13"/>
          <p:cNvSpPr txBox="1"/>
          <p:nvPr/>
        </p:nvSpPr>
        <p:spPr>
          <a:xfrm>
            <a:off x="81534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Choice</a:t>
            </a:r>
          </a:p>
        </p:txBody>
      </p:sp>
      <p:sp>
        <p:nvSpPr>
          <p:cNvPr id="15" name="TextBox 14"/>
          <p:cNvSpPr txBox="1"/>
          <p:nvPr/>
        </p:nvSpPr>
        <p:spPr>
          <a:xfrm>
            <a:off x="81534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Adult income creates</a:t>
            </a:r>
          </a:p>
          <a:p>
            <a:pPr>
              <a:lnSpc>
                <a:spcPts val="2700"/>
              </a:lnSpc>
              <a:spcBef>
                <a:spcPts val="0"/>
              </a:spcBef>
              <a:spcAft>
                <a:spcPts val="0"/>
              </a:spcAft>
            </a:pPr>
            <a:r>
              <a:rPr sz="1900" b="0" i="0">
                <a:solidFill>
                  <a:srgbClr val="D8CBDD"/>
                </a:solidFill>
                <a:latin typeface="Arial"/>
              </a:rPr>
              <a:t>room for personal choice.</a:t>
            </a:r>
          </a:p>
        </p:txBody>
      </p:sp>
      <p:cxnSp>
        <p:nvCxnSpPr>
          <p:cNvPr id="16" name="Connector 15"/>
          <p:cNvCxnSpPr/>
          <p:nvPr/>
        </p:nvCxnSpPr>
        <p:spPr>
          <a:xfrm>
            <a:off x="584200" y="5499100"/>
            <a:ext cx="110236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57277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FFFAF2"/>
                </a:solidFill>
                <a:latin typeface="Arial"/>
              </a:rPr>
              <a:t>Hypothesis: a meaningful design could increase preference. Test it with buyers.</a:t>
            </a:r>
          </a:p>
        </p:txBody>
      </p:sp>
      <p:cxnSp>
        <p:nvCxnSpPr>
          <p:cNvPr id="18" name="Connector 17"/>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hlinkClick r:id="rId2"/>
              </a:rPr>
              <a:t>S1 / Reported childhood wishes. S6 / Reported adult play. Motives and price premium still need testing.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02 / SOCIAL INFLUENCE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07</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07950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Discovery gets attention.</a:t>
            </a:r>
          </a:p>
          <a:p>
            <a:pPr>
              <a:lnSpc>
                <a:spcPts val="3850"/>
              </a:lnSpc>
              <a:spcBef>
                <a:spcPts val="0"/>
              </a:spcBef>
              <a:spcAft>
                <a:spcPts val="0"/>
              </a:spcAft>
            </a:pPr>
            <a:r>
              <a:rPr sz="3500" b="1" i="0">
                <a:solidFill>
                  <a:srgbClr val="392C42"/>
                </a:solidFill>
                <a:latin typeface="Arial"/>
              </a:rPr>
              <a:t>Meaning may explain the purchase.</a:t>
            </a:r>
          </a:p>
        </p:txBody>
      </p:sp>
      <p:sp>
        <p:nvSpPr>
          <p:cNvPr id="7" name="Rounded Rectangle 6"/>
          <p:cNvSpPr/>
          <p:nvPr/>
        </p:nvSpPr>
        <p:spPr>
          <a:xfrm>
            <a:off x="584200" y="2819400"/>
            <a:ext cx="3454400" cy="2578100"/>
          </a:xfrm>
          <a:prstGeom prst="roundRect">
            <a:avLst>
              <a:gd name="adj" fmla="val 2463"/>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REPORTED</a:t>
            </a:r>
          </a:p>
        </p:txBody>
      </p:sp>
      <p:sp>
        <p:nvSpPr>
          <p:cNvPr id="9" name="TextBox 8"/>
          <p:cNvSpPr txBox="1"/>
          <p:nvPr/>
        </p:nvSpPr>
        <p:spPr>
          <a:xfrm>
            <a:off x="8382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See it.</a:t>
            </a:r>
          </a:p>
        </p:txBody>
      </p:sp>
      <p:sp>
        <p:nvSpPr>
          <p:cNvPr id="10" name="TextBox 9"/>
          <p:cNvSpPr txBox="1"/>
          <p:nvPr/>
        </p:nvSpPr>
        <p:spPr>
          <a:xfrm>
            <a:off x="8382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Influencer and celebrity reviews</a:t>
            </a:r>
          </a:p>
          <a:p>
            <a:pPr>
              <a:lnSpc>
                <a:spcPts val="2300"/>
              </a:lnSpc>
              <a:spcBef>
                <a:spcPts val="0"/>
              </a:spcBef>
              <a:spcAft>
                <a:spcPts val="0"/>
              </a:spcAft>
            </a:pPr>
            <a:r>
              <a:rPr sz="1600" b="0" i="0">
                <a:solidFill>
                  <a:srgbClr val="392C42"/>
                </a:solidFill>
                <a:latin typeface="Arial"/>
              </a:rPr>
              <a:t>bring the toys back into view.</a:t>
            </a:r>
          </a:p>
        </p:txBody>
      </p:sp>
      <p:sp>
        <p:nvSpPr>
          <p:cNvPr id="11" name="Rounded Rectangle 10"/>
          <p:cNvSpPr/>
          <p:nvPr/>
        </p:nvSpPr>
        <p:spPr>
          <a:xfrm>
            <a:off x="4368800" y="2819400"/>
            <a:ext cx="3454400" cy="2578100"/>
          </a:xfrm>
          <a:prstGeom prst="roundRect">
            <a:avLst>
              <a:gd name="adj" fmla="val 2463"/>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INTERPRETATION</a:t>
            </a:r>
          </a:p>
        </p:txBody>
      </p:sp>
      <p:sp>
        <p:nvSpPr>
          <p:cNvPr id="13" name="TextBox 12"/>
          <p:cNvSpPr txBox="1"/>
          <p:nvPr/>
        </p:nvSpPr>
        <p:spPr>
          <a:xfrm>
            <a:off x="46228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Relate to it.</a:t>
            </a:r>
          </a:p>
        </p:txBody>
      </p:sp>
      <p:sp>
        <p:nvSpPr>
          <p:cNvPr id="14" name="TextBox 13"/>
          <p:cNvSpPr txBox="1"/>
          <p:nvPr/>
        </p:nvSpPr>
        <p:spPr>
          <a:xfrm>
            <a:off x="46228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Adult enjoyment may make</a:t>
            </a:r>
          </a:p>
          <a:p>
            <a:pPr>
              <a:lnSpc>
                <a:spcPts val="2300"/>
              </a:lnSpc>
              <a:spcBef>
                <a:spcPts val="0"/>
              </a:spcBef>
              <a:spcAft>
                <a:spcPts val="0"/>
              </a:spcAft>
            </a:pPr>
            <a:r>
              <a:rPr sz="1600" b="0" i="0">
                <a:solidFill>
                  <a:srgbClr val="392C42"/>
                </a:solidFill>
                <a:latin typeface="Arial"/>
              </a:rPr>
              <a:t>the purchase feel acceptable.</a:t>
            </a:r>
          </a:p>
        </p:txBody>
      </p:sp>
      <p:sp>
        <p:nvSpPr>
          <p:cNvPr id="15" name="Rounded Rectangle 14"/>
          <p:cNvSpPr/>
          <p:nvPr/>
        </p:nvSpPr>
        <p:spPr>
          <a:xfrm>
            <a:off x="8153400" y="2819400"/>
            <a:ext cx="3454400" cy="2578100"/>
          </a:xfrm>
          <a:prstGeom prst="roundRect">
            <a:avLst>
              <a:gd name="adj" fmla="val 2463"/>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STILL TO TEST</a:t>
            </a:r>
          </a:p>
        </p:txBody>
      </p:sp>
      <p:sp>
        <p:nvSpPr>
          <p:cNvPr id="17" name="TextBox 16"/>
          <p:cNvSpPr txBox="1"/>
          <p:nvPr/>
        </p:nvSpPr>
        <p:spPr>
          <a:xfrm>
            <a:off x="84074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Choose it.</a:t>
            </a:r>
          </a:p>
        </p:txBody>
      </p:sp>
      <p:sp>
        <p:nvSpPr>
          <p:cNvPr id="18" name="TextBox 17"/>
          <p:cNvSpPr txBox="1"/>
          <p:nvPr/>
        </p:nvSpPr>
        <p:spPr>
          <a:xfrm>
            <a:off x="84074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Interest needs to survive</a:t>
            </a:r>
          </a:p>
          <a:p>
            <a:pPr>
              <a:lnSpc>
                <a:spcPts val="2300"/>
              </a:lnSpc>
              <a:spcBef>
                <a:spcPts val="0"/>
              </a:spcBef>
              <a:spcAft>
                <a:spcPts val="0"/>
              </a:spcAft>
            </a:pPr>
            <a:r>
              <a:rPr sz="1600" b="0" i="0">
                <a:solidFill>
                  <a:srgbClr val="392C42"/>
                </a:solidFill>
                <a:latin typeface="Arial"/>
              </a:rPr>
              <a:t>a real product and price.</a:t>
            </a:r>
          </a:p>
        </p:txBody>
      </p:sp>
      <p:sp>
        <p:nvSpPr>
          <p:cNvPr id="19" name="TextBox 18"/>
          <p:cNvSpPr txBox="1"/>
          <p:nvPr/>
        </p:nvSpPr>
        <p:spPr>
          <a:xfrm>
            <a:off x="4089400" y="3937000"/>
            <a:ext cx="304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a:t>
            </a:r>
          </a:p>
        </p:txBody>
      </p:sp>
      <p:sp>
        <p:nvSpPr>
          <p:cNvPr id="20" name="TextBox 19"/>
          <p:cNvSpPr txBox="1"/>
          <p:nvPr/>
        </p:nvSpPr>
        <p:spPr>
          <a:xfrm>
            <a:off x="7874000" y="3937000"/>
            <a:ext cx="304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a:t>
            </a:r>
          </a:p>
        </p:txBody>
      </p:sp>
      <p:sp>
        <p:nvSpPr>
          <p:cNvPr id="21" name="TextBox 20"/>
          <p:cNvSpPr txBox="1"/>
          <p:nvPr/>
        </p:nvSpPr>
        <p:spPr>
          <a:xfrm>
            <a:off x="584200" y="57912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Demo votes measure engagement. A real purchase test still needs to follow.</a:t>
            </a:r>
          </a:p>
        </p:txBody>
      </p:sp>
      <p:cxnSp>
        <p:nvCxnSpPr>
          <p:cNvPr id="22" name="Connector 21"/>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S1 / Reported social discovery supports the first stage. The remaining stages are hypotheses to 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03 / VALUE PROPOSITION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08</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257300"/>
            <a:ext cx="109474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D9CDF2"/>
                </a:solidFill>
                <a:latin typeface="Press Start 2P"/>
              </a:rPr>
              <a:t>THE CUSTOMER JOB / HYPOTHESIS</a:t>
            </a:r>
          </a:p>
        </p:txBody>
      </p:sp>
      <p:sp>
        <p:nvSpPr>
          <p:cNvPr id="7" name="TextBox 6"/>
          <p:cNvSpPr txBox="1"/>
          <p:nvPr/>
        </p:nvSpPr>
        <p:spPr>
          <a:xfrm>
            <a:off x="584200" y="1866900"/>
            <a:ext cx="10998200" cy="1498600"/>
          </a:xfrm>
          <a:prstGeom prst="rect">
            <a:avLst/>
          </a:prstGeom>
          <a:noFill/>
        </p:spPr>
        <p:txBody>
          <a:bodyPr wrap="none" lIns="0" rIns="0" tIns="0" bIns="0" anchor="t">
            <a:spAutoFit/>
          </a:bodyPr>
          <a:lstStyle/>
          <a:p>
            <a:pPr>
              <a:lnSpc>
                <a:spcPts val="5500"/>
              </a:lnSpc>
              <a:spcBef>
                <a:spcPts val="0"/>
              </a:spcBef>
              <a:spcAft>
                <a:spcPts val="0"/>
              </a:spcAft>
            </a:pPr>
            <a:r>
              <a:rPr sz="4800" b="1" i="0">
                <a:solidFill>
                  <a:srgbClr val="FFFAF2"/>
                </a:solidFill>
                <a:latin typeface="Arial"/>
              </a:rPr>
              <a:t>Bring a familiar memory</a:t>
            </a:r>
          </a:p>
          <a:p>
            <a:pPr>
              <a:lnSpc>
                <a:spcPts val="5500"/>
              </a:lnSpc>
              <a:spcBef>
                <a:spcPts val="0"/>
              </a:spcBef>
              <a:spcAft>
                <a:spcPts val="0"/>
              </a:spcAft>
            </a:pPr>
            <a:r>
              <a:rPr sz="4800" b="1" i="0">
                <a:solidFill>
                  <a:srgbClr val="FFFAF2"/>
                </a:solidFill>
                <a:latin typeface="Arial"/>
              </a:rPr>
              <a:t>into my everyday life.</a:t>
            </a:r>
          </a:p>
        </p:txBody>
      </p:sp>
      <p:sp>
        <p:nvSpPr>
          <p:cNvPr id="8" name="Rectangle 7"/>
          <p:cNvSpPr/>
          <p:nvPr/>
        </p:nvSpPr>
        <p:spPr>
          <a:xfrm>
            <a:off x="584200" y="4178300"/>
            <a:ext cx="3454400" cy="63500"/>
          </a:xfrm>
          <a:prstGeom prst="rect">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42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Meaning</a:t>
            </a:r>
          </a:p>
        </p:txBody>
      </p:sp>
      <p:sp>
        <p:nvSpPr>
          <p:cNvPr id="10" name="TextBox 9"/>
          <p:cNvSpPr txBox="1"/>
          <p:nvPr/>
        </p:nvSpPr>
        <p:spPr>
          <a:xfrm>
            <a:off x="5842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 reference I recognise.</a:t>
            </a:r>
          </a:p>
        </p:txBody>
      </p:sp>
      <p:sp>
        <p:nvSpPr>
          <p:cNvPr id="11" name="Rectangle 10"/>
          <p:cNvSpPr/>
          <p:nvPr/>
        </p:nvSpPr>
        <p:spPr>
          <a:xfrm>
            <a:off x="4368800" y="4178300"/>
            <a:ext cx="3454400" cy="63500"/>
          </a:xfrm>
          <a:prstGeom prst="rect">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688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Choice</a:t>
            </a:r>
          </a:p>
        </p:txBody>
      </p:sp>
      <p:sp>
        <p:nvSpPr>
          <p:cNvPr id="13" name="TextBox 12"/>
          <p:cNvSpPr txBox="1"/>
          <p:nvPr/>
        </p:nvSpPr>
        <p:spPr>
          <a:xfrm>
            <a:off x="43688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Details I can make my own.</a:t>
            </a:r>
          </a:p>
        </p:txBody>
      </p:sp>
      <p:sp>
        <p:nvSpPr>
          <p:cNvPr id="14" name="Rectangle 13"/>
          <p:cNvSpPr/>
          <p:nvPr/>
        </p:nvSpPr>
        <p:spPr>
          <a:xfrm>
            <a:off x="8153400" y="4178300"/>
            <a:ext cx="3454400" cy="63500"/>
          </a:xfrm>
          <a:prstGeom prst="rect">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Confidence</a:t>
            </a:r>
          </a:p>
        </p:txBody>
      </p:sp>
      <p:sp>
        <p:nvSpPr>
          <p:cNvPr id="16" name="TextBox 15"/>
          <p:cNvSpPr txBox="1"/>
          <p:nvPr/>
        </p:nvSpPr>
        <p:spPr>
          <a:xfrm>
            <a:off x="81534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 clear sample, price and terms.</a:t>
            </a:r>
          </a:p>
        </p:txBody>
      </p:sp>
      <p:cxnSp>
        <p:nvCxnSpPr>
          <p:cNvPr id="17" name="Connector 16"/>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rPr>
              <a:t>Proposed value to test with working adults. Personal meaning does not establish willingness to pay.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OPPORTUNITY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09</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6332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A shared memory.</a:t>
            </a:r>
          </a:p>
          <a:p>
            <a:pPr>
              <a:lnSpc>
                <a:spcPts val="4180"/>
              </a:lnSpc>
              <a:spcBef>
                <a:spcPts val="0"/>
              </a:spcBef>
              <a:spcAft>
                <a:spcPts val="0"/>
              </a:spcAft>
            </a:pPr>
            <a:r>
              <a:rPr sz="3800" b="1" i="0">
                <a:solidFill>
                  <a:srgbClr val="392C42"/>
                </a:solidFill>
                <a:latin typeface="Arial"/>
              </a:rPr>
              <a:t>A personal object.</a:t>
            </a:r>
          </a:p>
        </p:txBody>
      </p:sp>
      <p:sp>
        <p:nvSpPr>
          <p:cNvPr id="7" name="TextBox 6"/>
          <p:cNvSpPr txBox="1"/>
          <p:nvPr/>
        </p:nvSpPr>
        <p:spPr>
          <a:xfrm>
            <a:off x="6477000" y="1358900"/>
            <a:ext cx="5105400" cy="838200"/>
          </a:xfrm>
          <a:prstGeom prst="rect">
            <a:avLst/>
          </a:prstGeom>
          <a:noFill/>
        </p:spPr>
        <p:txBody>
          <a:bodyPr wrap="none" lIns="0" rIns="0" tIns="0" bIns="0" anchor="t">
            <a:spAutoFit/>
          </a:bodyPr>
          <a:lstStyle/>
          <a:p>
            <a:pPr>
              <a:lnSpc>
                <a:spcPts val="2900"/>
              </a:lnSpc>
              <a:spcBef>
                <a:spcPts val="0"/>
              </a:spcBef>
              <a:spcAft>
                <a:spcPts val="0"/>
              </a:spcAft>
            </a:pPr>
            <a:r>
              <a:rPr sz="2000" b="0" i="0">
                <a:solidFill>
                  <a:srgbClr val="776C7B"/>
                </a:solidFill>
                <a:latin typeface="Arial"/>
              </a:rPr>
              <a:t>Choose a familiar shape.</a:t>
            </a:r>
          </a:p>
          <a:p>
            <a:pPr>
              <a:lnSpc>
                <a:spcPts val="2900"/>
              </a:lnSpc>
              <a:spcBef>
                <a:spcPts val="0"/>
              </a:spcBef>
              <a:spcAft>
                <a:spcPts val="0"/>
              </a:spcAft>
            </a:pPr>
            <a:r>
              <a:rPr sz="2000" b="0" i="0">
                <a:solidFill>
                  <a:srgbClr val="776C7B"/>
                </a:solidFill>
                <a:latin typeface="Arial"/>
              </a:rPr>
              <a:t>Make the colours, feel and story your own.</a:t>
            </a:r>
          </a:p>
        </p:txBody>
      </p:sp>
      <p:sp>
        <p:nvSpPr>
          <p:cNvPr id="8" name="Rounded Rectangle 7"/>
          <p:cNvSpPr/>
          <p:nvPr/>
        </p:nvSpPr>
        <p:spPr>
          <a:xfrm>
            <a:off x="584200" y="2768600"/>
            <a:ext cx="3454400" cy="2794000"/>
          </a:xfrm>
          <a:prstGeom prst="roundRect">
            <a:avLst>
              <a:gd name="adj" fmla="val 2272"/>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01 / AFTER SCHOOL</a:t>
            </a:r>
          </a:p>
        </p:txBody>
      </p:sp>
      <p:pic>
        <p:nvPicPr>
          <p:cNvPr id="10" name="Picture 9" descr="product_case.png"/>
          <p:cNvPicPr>
            <a:picLocks noChangeAspect="1"/>
          </p:cNvPicPr>
          <p:nvPr/>
        </p:nvPicPr>
        <p:blipFill>
          <a:blip r:embed="rId2"/>
          <a:srcRect/>
          <a:stretch>
            <a:fillRect/>
          </a:stretch>
        </p:blipFill>
        <p:spPr>
          <a:xfrm>
            <a:off x="922866" y="3086100"/>
            <a:ext cx="2777066" cy="2082800"/>
          </a:xfrm>
          <a:prstGeom prst="rect">
            <a:avLst/>
          </a:prstGeom>
        </p:spPr>
      </p:pic>
      <p:sp>
        <p:nvSpPr>
          <p:cNvPr id="11" name="TextBox 10"/>
          <p:cNvSpPr txBox="1"/>
          <p:nvPr/>
        </p:nvSpPr>
        <p:spPr>
          <a:xfrm>
            <a:off x="8128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Pencil-case squishy</a:t>
            </a:r>
          </a:p>
        </p:txBody>
      </p:sp>
      <p:sp>
        <p:nvSpPr>
          <p:cNvPr id="12" name="Rounded Rectangle 11"/>
          <p:cNvSpPr/>
          <p:nvPr/>
        </p:nvSpPr>
        <p:spPr>
          <a:xfrm>
            <a:off x="4368800" y="2768600"/>
            <a:ext cx="3454400" cy="2794000"/>
          </a:xfrm>
          <a:prstGeom prst="roundRect">
            <a:avLst>
              <a:gd name="adj" fmla="val 227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74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02 / SATURDAY MORNING</a:t>
            </a:r>
          </a:p>
        </p:txBody>
      </p:sp>
      <p:pic>
        <p:nvPicPr>
          <p:cNvPr id="14" name="Picture 13" descr="product_gamepad.png"/>
          <p:cNvPicPr>
            <a:picLocks noChangeAspect="1"/>
          </p:cNvPicPr>
          <p:nvPr/>
        </p:nvPicPr>
        <p:blipFill>
          <a:blip r:embed="rId3"/>
          <a:srcRect/>
          <a:stretch>
            <a:fillRect/>
          </a:stretch>
        </p:blipFill>
        <p:spPr>
          <a:xfrm>
            <a:off x="4707466" y="3086100"/>
            <a:ext cx="2777066" cy="2082800"/>
          </a:xfrm>
          <a:prstGeom prst="rect">
            <a:avLst/>
          </a:prstGeom>
        </p:spPr>
      </p:pic>
      <p:sp>
        <p:nvSpPr>
          <p:cNvPr id="15" name="TextBox 14"/>
          <p:cNvSpPr txBox="1"/>
          <p:nvPr/>
        </p:nvSpPr>
        <p:spPr>
          <a:xfrm>
            <a:off x="45974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Gamepad squishy</a:t>
            </a:r>
          </a:p>
        </p:txBody>
      </p:sp>
      <p:sp>
        <p:nvSpPr>
          <p:cNvPr id="16" name="Rounded Rectangle 15"/>
          <p:cNvSpPr/>
          <p:nvPr/>
        </p:nvSpPr>
        <p:spPr>
          <a:xfrm>
            <a:off x="8153400" y="2768600"/>
            <a:ext cx="3454400" cy="2794000"/>
          </a:xfrm>
          <a:prstGeom prst="roundRect">
            <a:avLst>
              <a:gd name="adj" fmla="val 2272"/>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03 / THE CORNER SHOP</a:t>
            </a:r>
          </a:p>
        </p:txBody>
      </p:sp>
      <p:pic>
        <p:nvPicPr>
          <p:cNvPr id="18" name="Picture 17" descr="product_slime.png"/>
          <p:cNvPicPr>
            <a:picLocks noChangeAspect="1"/>
          </p:cNvPicPr>
          <p:nvPr/>
        </p:nvPicPr>
        <p:blipFill>
          <a:blip r:embed="rId4"/>
          <a:srcRect/>
          <a:stretch>
            <a:fillRect/>
          </a:stretch>
        </p:blipFill>
        <p:spPr>
          <a:xfrm>
            <a:off x="8492066" y="3086100"/>
            <a:ext cx="2777066" cy="2082800"/>
          </a:xfrm>
          <a:prstGeom prst="rect">
            <a:avLst/>
          </a:prstGeom>
        </p:spPr>
      </p:pic>
      <p:sp>
        <p:nvSpPr>
          <p:cNvPr id="19" name="TextBox 18"/>
          <p:cNvSpPr txBox="1"/>
          <p:nvPr/>
        </p:nvSpPr>
        <p:spPr>
          <a:xfrm>
            <a:off x="83820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Cloud slime</a:t>
            </a:r>
          </a:p>
        </p:txBody>
      </p:sp>
      <p:sp>
        <p:nvSpPr>
          <p:cNvPr id="20" name="TextBox 19"/>
          <p:cNvSpPr txBox="1"/>
          <p:nvPr/>
        </p:nvSpPr>
        <p:spPr>
          <a:xfrm>
            <a:off x="584200" y="5905500"/>
            <a:ext cx="110490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392C42"/>
                </a:solidFill>
                <a:latin typeface="Arial"/>
              </a:rPr>
              <a:t>Start with a small range of shared shapes to keep production manageable.</a:t>
            </a:r>
          </a:p>
        </p:txBody>
      </p:sp>
      <p:cxnSp>
        <p:nvCxnSpPr>
          <p:cNvPr id="21" name="Connector 20"/>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5"/>
              </a:rPr>
              <a:t>S2 / Sensory product context. These are proposed collection themes, not observed customer preferences.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DESIGN STUDIO</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10</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Four choices. One personal object.</a:t>
            </a:r>
          </a:p>
        </p:txBody>
      </p:sp>
      <p:sp>
        <p:nvSpPr>
          <p:cNvPr id="7" name="Rounded Rectangle 6"/>
          <p:cNvSpPr/>
          <p:nvPr/>
        </p:nvSpPr>
        <p:spPr>
          <a:xfrm>
            <a:off x="584200" y="2641600"/>
            <a:ext cx="2527300" cy="2984500"/>
          </a:xfrm>
          <a:prstGeom prst="roundRect">
            <a:avLst>
              <a:gd name="adj" fmla="val 251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01</a:t>
            </a:r>
          </a:p>
        </p:txBody>
      </p:sp>
      <p:sp>
        <p:nvSpPr>
          <p:cNvPr id="9" name="TextBox 8"/>
          <p:cNvSpPr txBox="1"/>
          <p:nvPr/>
        </p:nvSpPr>
        <p:spPr>
          <a:xfrm>
            <a:off x="8128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Shape</a:t>
            </a:r>
          </a:p>
        </p:txBody>
      </p:sp>
      <p:sp>
        <p:nvSpPr>
          <p:cNvPr id="10" name="TextBox 9"/>
          <p:cNvSpPr txBox="1"/>
          <p:nvPr/>
        </p:nvSpPr>
        <p:spPr>
          <a:xfrm>
            <a:off x="812800" y="4457700"/>
            <a:ext cx="2095500" cy="10160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Squishy or slime.</a:t>
            </a:r>
          </a:p>
          <a:p>
            <a:pPr>
              <a:lnSpc>
                <a:spcPts val="2400"/>
              </a:lnSpc>
              <a:spcBef>
                <a:spcPts val="0"/>
              </a:spcBef>
              <a:spcAft>
                <a:spcPts val="0"/>
              </a:spcAft>
            </a:pPr>
            <a:r>
              <a:rPr sz="1600" b="0" i="0">
                <a:solidFill>
                  <a:srgbClr val="392C42"/>
                </a:solidFill>
                <a:latin typeface="Arial"/>
              </a:rPr>
              <a:t>A shared starting</a:t>
            </a:r>
          </a:p>
          <a:p>
            <a:pPr>
              <a:lnSpc>
                <a:spcPts val="2400"/>
              </a:lnSpc>
              <a:spcBef>
                <a:spcPts val="0"/>
              </a:spcBef>
              <a:spcAft>
                <a:spcPts val="0"/>
              </a:spcAft>
            </a:pPr>
            <a:r>
              <a:rPr sz="1600" b="0" i="0">
                <a:solidFill>
                  <a:srgbClr val="392C42"/>
                </a:solidFill>
                <a:latin typeface="Arial"/>
              </a:rPr>
              <a:t>shape.</a:t>
            </a:r>
          </a:p>
        </p:txBody>
      </p:sp>
      <p:sp>
        <p:nvSpPr>
          <p:cNvPr id="11" name="Rounded Rectangle 10"/>
          <p:cNvSpPr/>
          <p:nvPr/>
        </p:nvSpPr>
        <p:spPr>
          <a:xfrm>
            <a:off x="3416300" y="2641600"/>
            <a:ext cx="2527300" cy="2984500"/>
          </a:xfrm>
          <a:prstGeom prst="roundRect">
            <a:avLst>
              <a:gd name="adj" fmla="val 2512"/>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449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02</a:t>
            </a:r>
          </a:p>
        </p:txBody>
      </p:sp>
      <p:sp>
        <p:nvSpPr>
          <p:cNvPr id="13" name="TextBox 12"/>
          <p:cNvSpPr txBox="1"/>
          <p:nvPr/>
        </p:nvSpPr>
        <p:spPr>
          <a:xfrm>
            <a:off x="36449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Colour</a:t>
            </a:r>
          </a:p>
        </p:txBody>
      </p:sp>
      <p:sp>
        <p:nvSpPr>
          <p:cNvPr id="14" name="TextBox 13"/>
          <p:cNvSpPr txBox="1"/>
          <p:nvPr/>
        </p:nvSpPr>
        <p:spPr>
          <a:xfrm>
            <a:off x="3644900" y="4457700"/>
            <a:ext cx="2095500" cy="13208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Main and accent</a:t>
            </a:r>
          </a:p>
          <a:p>
            <a:pPr>
              <a:lnSpc>
                <a:spcPts val="2400"/>
              </a:lnSpc>
              <a:spcBef>
                <a:spcPts val="0"/>
              </a:spcBef>
              <a:spcAft>
                <a:spcPts val="0"/>
              </a:spcAft>
            </a:pPr>
            <a:r>
              <a:rPr sz="1600" b="0" i="0">
                <a:solidFill>
                  <a:srgbClr val="392C42"/>
                </a:solidFill>
                <a:latin typeface="Arial"/>
              </a:rPr>
              <a:t>colours.</a:t>
            </a:r>
          </a:p>
          <a:p>
            <a:pPr>
              <a:lnSpc>
                <a:spcPts val="2400"/>
              </a:lnSpc>
              <a:spcBef>
                <a:spcPts val="0"/>
              </a:spcBef>
              <a:spcAft>
                <a:spcPts val="0"/>
              </a:spcAft>
            </a:pPr>
            <a:r>
              <a:rPr sz="1600" b="0" i="0">
                <a:solidFill>
                  <a:srgbClr val="392C42"/>
                </a:solidFill>
                <a:latin typeface="Arial"/>
              </a:rPr>
              <a:t>A pattern that feels</a:t>
            </a:r>
          </a:p>
          <a:p>
            <a:pPr>
              <a:lnSpc>
                <a:spcPts val="2400"/>
              </a:lnSpc>
              <a:spcBef>
                <a:spcPts val="0"/>
              </a:spcBef>
              <a:spcAft>
                <a:spcPts val="0"/>
              </a:spcAft>
            </a:pPr>
            <a:r>
              <a:rPr sz="1600" b="0" i="0">
                <a:solidFill>
                  <a:srgbClr val="392C42"/>
                </a:solidFill>
                <a:latin typeface="Arial"/>
              </a:rPr>
              <a:t>yours.</a:t>
            </a:r>
          </a:p>
        </p:txBody>
      </p:sp>
      <p:sp>
        <p:nvSpPr>
          <p:cNvPr id="15" name="Rounded Rectangle 14"/>
          <p:cNvSpPr/>
          <p:nvPr/>
        </p:nvSpPr>
        <p:spPr>
          <a:xfrm>
            <a:off x="6248400" y="2641600"/>
            <a:ext cx="2527300" cy="2984500"/>
          </a:xfrm>
          <a:prstGeom prst="roundRect">
            <a:avLst>
              <a:gd name="adj" fmla="val 2512"/>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70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03</a:t>
            </a:r>
          </a:p>
        </p:txBody>
      </p:sp>
      <p:sp>
        <p:nvSpPr>
          <p:cNvPr id="17" name="TextBox 16"/>
          <p:cNvSpPr txBox="1"/>
          <p:nvPr/>
        </p:nvSpPr>
        <p:spPr>
          <a:xfrm>
            <a:off x="64770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Feel</a:t>
            </a:r>
          </a:p>
        </p:txBody>
      </p:sp>
      <p:sp>
        <p:nvSpPr>
          <p:cNvPr id="18" name="TextBox 17"/>
          <p:cNvSpPr txBox="1"/>
          <p:nvPr/>
        </p:nvSpPr>
        <p:spPr>
          <a:xfrm>
            <a:off x="6477000" y="4457700"/>
            <a:ext cx="2095500" cy="13208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Texture, scent and</a:t>
            </a:r>
          </a:p>
          <a:p>
            <a:pPr>
              <a:lnSpc>
                <a:spcPts val="2400"/>
              </a:lnSpc>
              <a:spcBef>
                <a:spcPts val="0"/>
              </a:spcBef>
              <a:spcAft>
                <a:spcPts val="0"/>
              </a:spcAft>
            </a:pPr>
            <a:r>
              <a:rPr sz="1600" b="0" i="0">
                <a:solidFill>
                  <a:srgbClr val="392C42"/>
                </a:solidFill>
                <a:latin typeface="Arial"/>
              </a:rPr>
              <a:t>sound.</a:t>
            </a:r>
          </a:p>
          <a:p>
            <a:pPr>
              <a:lnSpc>
                <a:spcPts val="2400"/>
              </a:lnSpc>
              <a:spcBef>
                <a:spcPts val="0"/>
              </a:spcBef>
              <a:spcAft>
                <a:spcPts val="0"/>
              </a:spcAft>
            </a:pPr>
            <a:r>
              <a:rPr sz="1600" b="0" i="0">
                <a:solidFill>
                  <a:srgbClr val="392C42"/>
                </a:solidFill>
                <a:latin typeface="Arial"/>
              </a:rPr>
              <a:t>A quiet, unscented</a:t>
            </a:r>
          </a:p>
          <a:p>
            <a:pPr>
              <a:lnSpc>
                <a:spcPts val="2400"/>
              </a:lnSpc>
              <a:spcBef>
                <a:spcPts val="0"/>
              </a:spcBef>
              <a:spcAft>
                <a:spcPts val="0"/>
              </a:spcAft>
            </a:pPr>
            <a:r>
              <a:rPr sz="1600" b="0" i="0">
                <a:solidFill>
                  <a:srgbClr val="392C42"/>
                </a:solidFill>
                <a:latin typeface="Arial"/>
              </a:rPr>
              <a:t>option.</a:t>
            </a:r>
          </a:p>
        </p:txBody>
      </p:sp>
      <p:sp>
        <p:nvSpPr>
          <p:cNvPr id="19" name="Rounded Rectangle 18"/>
          <p:cNvSpPr/>
          <p:nvPr/>
        </p:nvSpPr>
        <p:spPr>
          <a:xfrm>
            <a:off x="9080500" y="2641600"/>
            <a:ext cx="2527300" cy="2984500"/>
          </a:xfrm>
          <a:prstGeom prst="roundRect">
            <a:avLst>
              <a:gd name="adj" fmla="val 2512"/>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91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04</a:t>
            </a:r>
          </a:p>
        </p:txBody>
      </p:sp>
      <p:sp>
        <p:nvSpPr>
          <p:cNvPr id="21" name="TextBox 20"/>
          <p:cNvSpPr txBox="1"/>
          <p:nvPr/>
        </p:nvSpPr>
        <p:spPr>
          <a:xfrm>
            <a:off x="93091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Story</a:t>
            </a:r>
          </a:p>
        </p:txBody>
      </p:sp>
      <p:sp>
        <p:nvSpPr>
          <p:cNvPr id="22" name="TextBox 21"/>
          <p:cNvSpPr txBox="1"/>
          <p:nvPr/>
        </p:nvSpPr>
        <p:spPr>
          <a:xfrm>
            <a:off x="9309100" y="4457700"/>
            <a:ext cx="2095500" cy="7112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A name and memory.</a:t>
            </a:r>
          </a:p>
          <a:p>
            <a:pPr>
              <a:lnSpc>
                <a:spcPts val="2400"/>
              </a:lnSpc>
              <a:spcBef>
                <a:spcPts val="0"/>
              </a:spcBef>
              <a:spcAft>
                <a:spcPts val="0"/>
              </a:spcAft>
            </a:pPr>
            <a:r>
              <a:rPr sz="1600" b="0" i="0">
                <a:solidFill>
                  <a:srgbClr val="392C42"/>
                </a:solidFill>
                <a:latin typeface="Arial"/>
              </a:rPr>
              <a:t>Save, share or export.</a:t>
            </a:r>
          </a:p>
        </p:txBody>
      </p:sp>
      <p:sp>
        <p:nvSpPr>
          <p:cNvPr id="23" name="TextBox 22"/>
          <p:cNvSpPr txBox="1"/>
          <p:nvPr/>
        </p:nvSpPr>
        <p:spPr>
          <a:xfrm>
            <a:off x="584200" y="5892800"/>
            <a:ext cx="110490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776C7B"/>
                </a:solidFill>
                <a:latin typeface="Arial"/>
              </a:rPr>
              <a:t>The web preview shows design intent. Physical materials still need supplier samples.</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Working prototype / Appearance can be shared; private memory text is excluded from shared links.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CUSTOMER JOURNEY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11</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From a memory to a viable batch.</a:t>
            </a:r>
          </a:p>
        </p:txBody>
      </p:sp>
      <p:sp>
        <p:nvSpPr>
          <p:cNvPr id="7" name="Rounded Rectangle 6"/>
          <p:cNvSpPr/>
          <p:nvPr/>
        </p:nvSpPr>
        <p:spPr>
          <a:xfrm>
            <a:off x="584200" y="2019300"/>
            <a:ext cx="7137400" cy="3975100"/>
          </a:xfrm>
          <a:prstGeom prst="roundRect">
            <a:avLst>
              <a:gd name="adj" fmla="val 1597"/>
            </a:avLst>
          </a:prstGeom>
          <a:solidFill>
            <a:srgbClr val="EEE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0" y="22479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01</a:t>
            </a:r>
          </a:p>
        </p:txBody>
      </p:sp>
      <p:sp>
        <p:nvSpPr>
          <p:cNvPr id="9" name="TextBox 8"/>
          <p:cNvSpPr txBox="1"/>
          <p:nvPr/>
        </p:nvSpPr>
        <p:spPr>
          <a:xfrm>
            <a:off x="8686800" y="21971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Design</a:t>
            </a:r>
          </a:p>
        </p:txBody>
      </p:sp>
      <p:sp>
        <p:nvSpPr>
          <p:cNvPr id="10" name="TextBox 9"/>
          <p:cNvSpPr txBox="1"/>
          <p:nvPr/>
        </p:nvSpPr>
        <p:spPr>
          <a:xfrm>
            <a:off x="8686800" y="2565400"/>
            <a:ext cx="2946400" cy="3429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Choose type, colour, feel and story.</a:t>
            </a:r>
          </a:p>
        </p:txBody>
      </p:sp>
      <p:sp>
        <p:nvSpPr>
          <p:cNvPr id="11" name="TextBox 10"/>
          <p:cNvSpPr txBox="1"/>
          <p:nvPr/>
        </p:nvSpPr>
        <p:spPr>
          <a:xfrm>
            <a:off x="8128000" y="31877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02</a:t>
            </a:r>
          </a:p>
        </p:txBody>
      </p:sp>
      <p:sp>
        <p:nvSpPr>
          <p:cNvPr id="12" name="TextBox 11"/>
          <p:cNvSpPr txBox="1"/>
          <p:nvPr/>
        </p:nvSpPr>
        <p:spPr>
          <a:xfrm>
            <a:off x="8686800" y="31369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Save &amp; share</a:t>
            </a:r>
          </a:p>
        </p:txBody>
      </p:sp>
      <p:sp>
        <p:nvSpPr>
          <p:cNvPr id="13" name="TextBox 12"/>
          <p:cNvSpPr txBox="1"/>
          <p:nvPr/>
        </p:nvSpPr>
        <p:spPr>
          <a:xfrm>
            <a:off x="8686800" y="35052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Keep the design. Share its</a:t>
            </a:r>
          </a:p>
          <a:p>
            <a:pPr>
              <a:lnSpc>
                <a:spcPts val="1900"/>
              </a:lnSpc>
              <a:spcBef>
                <a:spcPts val="0"/>
              </a:spcBef>
              <a:spcAft>
                <a:spcPts val="0"/>
              </a:spcAft>
            </a:pPr>
            <a:r>
              <a:rPr sz="1400" b="0" i="0">
                <a:solidFill>
                  <a:srgbClr val="776C7B"/>
                </a:solidFill>
                <a:latin typeface="Arial"/>
              </a:rPr>
              <a:t>appearance.</a:t>
            </a:r>
          </a:p>
        </p:txBody>
      </p:sp>
      <p:sp>
        <p:nvSpPr>
          <p:cNvPr id="14" name="TextBox 13"/>
          <p:cNvSpPr txBox="1"/>
          <p:nvPr/>
        </p:nvSpPr>
        <p:spPr>
          <a:xfrm>
            <a:off x="8128000" y="41275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03</a:t>
            </a:r>
          </a:p>
        </p:txBody>
      </p:sp>
      <p:sp>
        <p:nvSpPr>
          <p:cNvPr id="15" name="TextBox 14"/>
          <p:cNvSpPr txBox="1"/>
          <p:nvPr/>
        </p:nvSpPr>
        <p:spPr>
          <a:xfrm>
            <a:off x="8686800" y="40767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Validate the batch</a:t>
            </a:r>
          </a:p>
        </p:txBody>
      </p:sp>
      <p:sp>
        <p:nvSpPr>
          <p:cNvPr id="16" name="TextBox 15"/>
          <p:cNvSpPr txBox="1"/>
          <p:nvPr/>
        </p:nvSpPr>
        <p:spPr>
          <a:xfrm>
            <a:off x="8686800" y="44450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Check samples, supplier costs and</a:t>
            </a:r>
          </a:p>
          <a:p>
            <a:pPr>
              <a:lnSpc>
                <a:spcPts val="1900"/>
              </a:lnSpc>
              <a:spcBef>
                <a:spcPts val="0"/>
              </a:spcBef>
              <a:spcAft>
                <a:spcPts val="0"/>
              </a:spcAft>
            </a:pPr>
            <a:r>
              <a:rPr sz="1400" b="0" i="0">
                <a:solidFill>
                  <a:srgbClr val="776C7B"/>
                </a:solidFill>
                <a:latin typeface="Arial"/>
              </a:rPr>
              <a:t>orders.</a:t>
            </a:r>
          </a:p>
        </p:txBody>
      </p:sp>
      <p:sp>
        <p:nvSpPr>
          <p:cNvPr id="17" name="TextBox 16"/>
          <p:cNvSpPr txBox="1"/>
          <p:nvPr/>
        </p:nvSpPr>
        <p:spPr>
          <a:xfrm>
            <a:off x="8128000" y="50673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04</a:t>
            </a:r>
          </a:p>
        </p:txBody>
      </p:sp>
      <p:sp>
        <p:nvSpPr>
          <p:cNvPr id="18" name="TextBox 17"/>
          <p:cNvSpPr txBox="1"/>
          <p:nvPr/>
        </p:nvSpPr>
        <p:spPr>
          <a:xfrm>
            <a:off x="8686800" y="50165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Produce or refund</a:t>
            </a:r>
          </a:p>
        </p:txBody>
      </p:sp>
      <p:sp>
        <p:nvSpPr>
          <p:cNvPr id="19" name="TextBox 18"/>
          <p:cNvSpPr txBox="1"/>
          <p:nvPr/>
        </p:nvSpPr>
        <p:spPr>
          <a:xfrm>
            <a:off x="8686800" y="53848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Proceed only under clear, viable</a:t>
            </a:r>
          </a:p>
          <a:p>
            <a:pPr>
              <a:lnSpc>
                <a:spcPts val="1900"/>
              </a:lnSpc>
              <a:spcBef>
                <a:spcPts val="0"/>
              </a:spcBef>
              <a:spcAft>
                <a:spcPts val="0"/>
              </a:spcAft>
            </a:pPr>
            <a:r>
              <a:rPr sz="1400" b="0" i="0">
                <a:solidFill>
                  <a:srgbClr val="776C7B"/>
                </a:solidFill>
                <a:latin typeface="Arial"/>
              </a:rPr>
              <a:t>terms.</a:t>
            </a:r>
          </a:p>
        </p:txBody>
      </p: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Live prototype: https://blimmy.github.io/replay-lab/ / Local demo only. No real payment or production order.</a:t>
            </a:r>
          </a:p>
        </p:txBody>
      </p:sp>
      <p:pic>
        <p:nvPicPr>
          <p:cNvPr id="22" name="Picture 21" descr="demo-poster.png"/>
          <p:cNvPicPr>
            <a:picLocks noChangeAspect="1"/>
          </p:cNvPicPr>
          <p:nvPr/>
        </p:nvPicPr>
        <p:blipFill>
          <a:blip r:embed="rId3"/>
          <a:srcRect/>
          <a:stretch>
            <a:fillRect/>
          </a:stretch>
        </p:blipFill>
        <p:spPr>
          <a:xfrm>
            <a:off x="1473708" y="2146300"/>
            <a:ext cx="5358383" cy="3721100"/>
          </a:xfrm>
          <a:prstGeom prst="rect">
            <a:avLst/>
          </a:prstGeom>
        </p:spPr>
      </p:pic>
      <p:sp>
        <p:nvSpPr>
          <p:cNvPr id="23" name="TextBox 22"/>
          <p:cNvSpPr txBox="1"/>
          <p:nvPr/>
        </p:nvSpPr>
        <p:spPr>
          <a:xfrm>
            <a:off x="711200" y="6096000"/>
            <a:ext cx="7035800" cy="241046"/>
          </a:xfrm>
          <a:prstGeom prst="rect">
            <a:avLst/>
          </a:prstGeom>
          <a:noFill/>
        </p:spPr>
        <p:txBody>
          <a:bodyPr wrap="none" lIns="0" rIns="0" tIns="0" bIns="0" anchor="t">
            <a:spAutoFit/>
          </a:bodyPr>
          <a:lstStyle/>
          <a:p>
            <a:pPr>
              <a:lnSpc>
                <a:spcPts val="1098"/>
              </a:lnSpc>
              <a:spcBef>
                <a:spcPts val="0"/>
              </a:spcBef>
              <a:spcAft>
                <a:spcPts val="0"/>
              </a:spcAft>
            </a:pPr>
            <a:r>
              <a:rPr sz="900" b="1" i="0">
                <a:solidFill>
                  <a:srgbClr val="392C42"/>
                </a:solidFill>
                <a:latin typeface="Arial"/>
                <a:hlinkClick r:id="rId4"/>
              </a:rPr>
              <a:t>PLAY 25-SECOND ORDER DEMO</a:t>
            </a:r>
          </a:p>
        </p:txBody>
      </p:sp>
      <p:pic>
        <p:nvPicPr>
          <p:cNvPr id="24" name="REPLAY_LAB_Order_Demo.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3"/>
          <a:stretch>
            <a:fillRect/>
          </a:stretch>
        </p:blipFill>
        <p:spPr>
          <a:xfrm>
            <a:off x="1473200" y="2146300"/>
            <a:ext cx="5359400" cy="37211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4"/>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BUSINESS MODEL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12</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Personal meaning.</a:t>
            </a:r>
          </a:p>
          <a:p>
            <a:pPr>
              <a:lnSpc>
                <a:spcPts val="4070"/>
              </a:lnSpc>
              <a:spcBef>
                <a:spcPts val="0"/>
              </a:spcBef>
              <a:spcAft>
                <a:spcPts val="0"/>
              </a:spcAft>
            </a:pPr>
            <a:r>
              <a:rPr sz="3700" b="1" i="0">
                <a:solidFill>
                  <a:srgbClr val="392C42"/>
                </a:solidFill>
                <a:latin typeface="Arial"/>
              </a:rPr>
              <a:t>Manageable production.</a:t>
            </a:r>
          </a:p>
        </p:txBody>
      </p:sp>
      <p:sp>
        <p:nvSpPr>
          <p:cNvPr id="7" name="Rounded Rectangle 6"/>
          <p:cNvSpPr/>
          <p:nvPr/>
        </p:nvSpPr>
        <p:spPr>
          <a:xfrm>
            <a:off x="584200" y="2781300"/>
            <a:ext cx="5334000" cy="2692400"/>
          </a:xfrm>
          <a:prstGeom prst="roundRect">
            <a:avLst>
              <a:gd name="adj" fmla="val 2358"/>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3060700"/>
            <a:ext cx="4775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SHARED BY THE COLLECTION</a:t>
            </a:r>
          </a:p>
        </p:txBody>
      </p:sp>
      <p:sp>
        <p:nvSpPr>
          <p:cNvPr id="9" name="TextBox 8"/>
          <p:cNvSpPr txBox="1"/>
          <p:nvPr/>
        </p:nvSpPr>
        <p:spPr>
          <a:xfrm>
            <a:off x="876300" y="3543300"/>
            <a:ext cx="47752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One core recipe</a:t>
            </a:r>
          </a:p>
        </p:txBody>
      </p:sp>
      <p:sp>
        <p:nvSpPr>
          <p:cNvPr id="10" name="TextBox 9"/>
          <p:cNvSpPr txBox="1"/>
          <p:nvPr/>
        </p:nvSpPr>
        <p:spPr>
          <a:xfrm>
            <a:off x="876300" y="4178300"/>
            <a:ext cx="4775200" cy="1168400"/>
          </a:xfrm>
          <a:prstGeom prst="rect">
            <a:avLst/>
          </a:prstGeom>
          <a:noFill/>
        </p:spPr>
        <p:txBody>
          <a:bodyPr wrap="none" lIns="0" rIns="0" tIns="0" bIns="0" anchor="t">
            <a:spAutoFit/>
          </a:bodyPr>
          <a:lstStyle/>
          <a:p>
            <a:pPr>
              <a:lnSpc>
                <a:spcPts val="2800"/>
              </a:lnSpc>
              <a:spcBef>
                <a:spcPts val="0"/>
              </a:spcBef>
              <a:spcAft>
                <a:spcPts val="0"/>
              </a:spcAft>
            </a:pPr>
            <a:r>
              <a:rPr sz="1900" b="0" i="0">
                <a:solidFill>
                  <a:srgbClr val="392C42"/>
                </a:solidFill>
                <a:latin typeface="Arial"/>
              </a:rPr>
              <a:t>Childhood theme</a:t>
            </a:r>
          </a:p>
          <a:p>
            <a:pPr>
              <a:lnSpc>
                <a:spcPts val="2800"/>
              </a:lnSpc>
              <a:spcBef>
                <a:spcPts val="0"/>
              </a:spcBef>
              <a:spcAft>
                <a:spcPts val="0"/>
              </a:spcAft>
            </a:pPr>
            <a:r>
              <a:rPr sz="1900" b="0" i="0">
                <a:solidFill>
                  <a:srgbClr val="392C42"/>
                </a:solidFill>
                <a:latin typeface="Arial"/>
              </a:rPr>
              <a:t>A small set of shapes</a:t>
            </a:r>
          </a:p>
          <a:p>
            <a:pPr>
              <a:lnSpc>
                <a:spcPts val="2800"/>
              </a:lnSpc>
              <a:spcBef>
                <a:spcPts val="0"/>
              </a:spcBef>
              <a:spcAft>
                <a:spcPts val="0"/>
              </a:spcAft>
            </a:pPr>
            <a:r>
              <a:rPr sz="1900" b="0" i="0">
                <a:solidFill>
                  <a:srgbClr val="392C42"/>
                </a:solidFill>
                <a:latin typeface="Arial"/>
              </a:rPr>
              <a:t>A checked supplier process</a:t>
            </a:r>
          </a:p>
        </p:txBody>
      </p:sp>
      <p:sp>
        <p:nvSpPr>
          <p:cNvPr id="11" name="Rounded Rectangle 10"/>
          <p:cNvSpPr/>
          <p:nvPr/>
        </p:nvSpPr>
        <p:spPr>
          <a:xfrm>
            <a:off x="6273800" y="2781300"/>
            <a:ext cx="5334000" cy="2692400"/>
          </a:xfrm>
          <a:prstGeom prst="roundRect">
            <a:avLst>
              <a:gd name="adj" fmla="val 2358"/>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3060700"/>
            <a:ext cx="4775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CHOSEN BY THE CUSTOMER</a:t>
            </a:r>
          </a:p>
        </p:txBody>
      </p:sp>
      <p:sp>
        <p:nvSpPr>
          <p:cNvPr id="13" name="TextBox 12"/>
          <p:cNvSpPr txBox="1"/>
          <p:nvPr/>
        </p:nvSpPr>
        <p:spPr>
          <a:xfrm>
            <a:off x="6565900" y="3543300"/>
            <a:ext cx="47752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Your personal details</a:t>
            </a:r>
          </a:p>
        </p:txBody>
      </p:sp>
      <p:sp>
        <p:nvSpPr>
          <p:cNvPr id="14" name="TextBox 13"/>
          <p:cNvSpPr txBox="1"/>
          <p:nvPr/>
        </p:nvSpPr>
        <p:spPr>
          <a:xfrm>
            <a:off x="6565900" y="4178300"/>
            <a:ext cx="4775200" cy="1168400"/>
          </a:xfrm>
          <a:prstGeom prst="rect">
            <a:avLst/>
          </a:prstGeom>
          <a:noFill/>
        </p:spPr>
        <p:txBody>
          <a:bodyPr wrap="none" lIns="0" rIns="0" tIns="0" bIns="0" anchor="t">
            <a:spAutoFit/>
          </a:bodyPr>
          <a:lstStyle/>
          <a:p>
            <a:pPr>
              <a:lnSpc>
                <a:spcPts val="2800"/>
              </a:lnSpc>
              <a:spcBef>
                <a:spcPts val="0"/>
              </a:spcBef>
              <a:spcAft>
                <a:spcPts val="0"/>
              </a:spcAft>
            </a:pPr>
            <a:r>
              <a:rPr sz="1900" b="0" i="0">
                <a:solidFill>
                  <a:srgbClr val="392C42"/>
                </a:solidFill>
                <a:latin typeface="Arial"/>
              </a:rPr>
              <a:t>Colour and texture</a:t>
            </a:r>
          </a:p>
          <a:p>
            <a:pPr>
              <a:lnSpc>
                <a:spcPts val="2800"/>
              </a:lnSpc>
              <a:spcBef>
                <a:spcPts val="0"/>
              </a:spcBef>
              <a:spcAft>
                <a:spcPts val="0"/>
              </a:spcAft>
            </a:pPr>
            <a:r>
              <a:rPr sz="1900" b="0" i="0">
                <a:solidFill>
                  <a:srgbClr val="392C42"/>
                </a:solidFill>
                <a:latin typeface="Arial"/>
              </a:rPr>
              <a:t>Name and memory card</a:t>
            </a:r>
          </a:p>
          <a:p>
            <a:pPr>
              <a:lnSpc>
                <a:spcPts val="2800"/>
              </a:lnSpc>
              <a:spcBef>
                <a:spcPts val="0"/>
              </a:spcBef>
              <a:spcAft>
                <a:spcPts val="0"/>
              </a:spcAft>
            </a:pPr>
            <a:r>
              <a:rPr sz="1900" b="0" i="0">
                <a:solidFill>
                  <a:srgbClr val="392C42"/>
                </a:solidFill>
                <a:latin typeface="Arial"/>
              </a:rPr>
              <a:t>The story behind the object</a:t>
            </a:r>
          </a:p>
        </p:txBody>
      </p:sp>
      <p:sp>
        <p:nvSpPr>
          <p:cNvPr id="15" name="TextBox 14"/>
          <p:cNvSpPr txBox="1"/>
          <p:nvPr/>
        </p:nvSpPr>
        <p:spPr>
          <a:xfrm>
            <a:off x="584200" y="5816600"/>
            <a:ext cx="110490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392C42"/>
                </a:solidFill>
                <a:latin typeface="Arial"/>
              </a:rPr>
              <a:t>Revenue: product sales. Launch with one collection before adding complexity.</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S5 / Custom squishies already exist. Proposed focus: Thai childhood memories, adult use and co-designed batches.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REVENUE MODEL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13</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Sell the object.</a:t>
            </a:r>
          </a:p>
          <a:p>
            <a:pPr>
              <a:lnSpc>
                <a:spcPts val="4070"/>
              </a:lnSpc>
              <a:spcBef>
                <a:spcPts val="0"/>
              </a:spcBef>
              <a:spcAft>
                <a:spcPts val="0"/>
              </a:spcAft>
            </a:pPr>
            <a:r>
              <a:rPr sz="3700" b="1" i="0">
                <a:solidFill>
                  <a:srgbClr val="392C42"/>
                </a:solidFill>
                <a:latin typeface="Arial"/>
              </a:rPr>
              <a:t>Keep the options focused.</a:t>
            </a:r>
          </a:p>
        </p:txBody>
      </p:sp>
      <p:sp>
        <p:nvSpPr>
          <p:cNvPr id="7" name="Rounded Rectangle 6"/>
          <p:cNvSpPr/>
          <p:nvPr/>
        </p:nvSpPr>
        <p:spPr>
          <a:xfrm>
            <a:off x="584200" y="2781300"/>
            <a:ext cx="3454400" cy="2603500"/>
          </a:xfrm>
          <a:prstGeom prst="roundRect">
            <a:avLst>
              <a:gd name="adj" fmla="val 2439"/>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01</a:t>
            </a:r>
          </a:p>
        </p:txBody>
      </p:sp>
      <p:sp>
        <p:nvSpPr>
          <p:cNvPr id="9" name="TextBox 8"/>
          <p:cNvSpPr txBox="1"/>
          <p:nvPr/>
        </p:nvSpPr>
        <p:spPr>
          <a:xfrm>
            <a:off x="8382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Squishy</a:t>
            </a:r>
          </a:p>
        </p:txBody>
      </p:sp>
      <p:sp>
        <p:nvSpPr>
          <p:cNvPr id="10" name="TextBox 9"/>
          <p:cNvSpPr txBox="1"/>
          <p:nvPr/>
        </p:nvSpPr>
        <p:spPr>
          <a:xfrm>
            <a:off x="8382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THB 349</a:t>
            </a:r>
          </a:p>
        </p:txBody>
      </p:sp>
      <p:sp>
        <p:nvSpPr>
          <p:cNvPr id="11" name="Rounded Rectangle 10"/>
          <p:cNvSpPr/>
          <p:nvPr/>
        </p:nvSpPr>
        <p:spPr>
          <a:xfrm>
            <a:off x="4368800" y="2781300"/>
            <a:ext cx="3454400" cy="2603500"/>
          </a:xfrm>
          <a:prstGeom prst="roundRect">
            <a:avLst>
              <a:gd name="adj" fmla="val 2439"/>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02</a:t>
            </a:r>
          </a:p>
        </p:txBody>
      </p:sp>
      <p:sp>
        <p:nvSpPr>
          <p:cNvPr id="13" name="TextBox 12"/>
          <p:cNvSpPr txBox="1"/>
          <p:nvPr/>
        </p:nvSpPr>
        <p:spPr>
          <a:xfrm>
            <a:off x="46228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Slime</a:t>
            </a:r>
          </a:p>
        </p:txBody>
      </p:sp>
      <p:sp>
        <p:nvSpPr>
          <p:cNvPr id="14" name="TextBox 13"/>
          <p:cNvSpPr txBox="1"/>
          <p:nvPr/>
        </p:nvSpPr>
        <p:spPr>
          <a:xfrm>
            <a:off x="46228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THB 299</a:t>
            </a:r>
          </a:p>
        </p:txBody>
      </p:sp>
      <p:sp>
        <p:nvSpPr>
          <p:cNvPr id="15" name="Rounded Rectangle 14"/>
          <p:cNvSpPr/>
          <p:nvPr/>
        </p:nvSpPr>
        <p:spPr>
          <a:xfrm>
            <a:off x="8153400" y="2781300"/>
            <a:ext cx="3454400" cy="2603500"/>
          </a:xfrm>
          <a:prstGeom prst="roundRect">
            <a:avLst>
              <a:gd name="adj" fmla="val 2439"/>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03</a:t>
            </a:r>
          </a:p>
        </p:txBody>
      </p:sp>
      <p:sp>
        <p:nvSpPr>
          <p:cNvPr id="17" name="TextBox 16"/>
          <p:cNvSpPr txBox="1"/>
          <p:nvPr/>
        </p:nvSpPr>
        <p:spPr>
          <a:xfrm>
            <a:off x="84074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Optional details</a:t>
            </a:r>
          </a:p>
        </p:txBody>
      </p:sp>
      <p:sp>
        <p:nvSpPr>
          <p:cNvPr id="18" name="TextBox 17"/>
          <p:cNvSpPr txBox="1"/>
          <p:nvPr/>
        </p:nvSpPr>
        <p:spPr>
          <a:xfrm>
            <a:off x="84074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 THB 20–100</a:t>
            </a:r>
          </a:p>
        </p:txBody>
      </p:sp>
      <p:sp>
        <p:nvSpPr>
          <p:cNvPr id="19" name="TextBox 18"/>
          <p:cNvSpPr txBox="1"/>
          <p:nvPr/>
        </p:nvSpPr>
        <p:spPr>
          <a:xfrm>
            <a:off x="584200" y="57404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392C42"/>
                </a:solidFill>
                <a:latin typeface="Arial"/>
              </a:rPr>
              <a:t>Illustrative website prices. Revenue comes from product sales, including chosen upgrades.</a:t>
            </a:r>
          </a:p>
        </p:txBody>
      </p: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Size +50/+100 · Finishing touch +20 · Gift sleeve +40. Demo assumptions; actual price and delivery costs need validation.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EVALUATE THE OPPORTUNITY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14</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Three risks. Three practical tests.</a:t>
            </a:r>
          </a:p>
        </p:txBody>
      </p:sp>
      <p:sp>
        <p:nvSpPr>
          <p:cNvPr id="7" name="TextBox 6"/>
          <p:cNvSpPr txBox="1"/>
          <p:nvPr/>
        </p:nvSpPr>
        <p:spPr>
          <a:xfrm>
            <a:off x="584200" y="2209800"/>
            <a:ext cx="33274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RISK</a:t>
            </a:r>
          </a:p>
        </p:txBody>
      </p:sp>
      <p:sp>
        <p:nvSpPr>
          <p:cNvPr id="8" name="TextBox 7"/>
          <p:cNvSpPr txBox="1"/>
          <p:nvPr/>
        </p:nvSpPr>
        <p:spPr>
          <a:xfrm>
            <a:off x="4368800" y="2209800"/>
            <a:ext cx="4279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TEST BEFORE LAUNCH</a:t>
            </a:r>
          </a:p>
        </p:txBody>
      </p:sp>
      <p:sp>
        <p:nvSpPr>
          <p:cNvPr id="9" name="TextBox 8"/>
          <p:cNvSpPr txBox="1"/>
          <p:nvPr/>
        </p:nvSpPr>
        <p:spPr>
          <a:xfrm>
            <a:off x="9017000" y="2209800"/>
            <a:ext cx="2616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LOOK FOR</a:t>
            </a:r>
          </a:p>
        </p:txBody>
      </p:sp>
      <p:cxnSp>
        <p:nvCxnSpPr>
          <p:cNvPr id="10" name="Connector 9"/>
          <p:cNvCxnSpPr/>
          <p:nvPr/>
        </p:nvCxnSpPr>
        <p:spPr>
          <a:xfrm>
            <a:off x="584200" y="2489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2679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Price resistance</a:t>
            </a:r>
          </a:p>
        </p:txBody>
      </p:sp>
      <p:sp>
        <p:nvSpPr>
          <p:cNvPr id="12" name="TextBox 11"/>
          <p:cNvSpPr txBox="1"/>
          <p:nvPr/>
        </p:nvSpPr>
        <p:spPr>
          <a:xfrm>
            <a:off x="4368800" y="2679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Compare a prototype</a:t>
            </a:r>
          </a:p>
          <a:p>
            <a:pPr>
              <a:lnSpc>
                <a:spcPts val="2500"/>
              </a:lnSpc>
              <a:spcBef>
                <a:spcPts val="0"/>
              </a:spcBef>
              <a:spcAft>
                <a:spcPts val="0"/>
              </a:spcAft>
            </a:pPr>
            <a:r>
              <a:rPr sz="1800" b="0" i="0">
                <a:solidFill>
                  <a:srgbClr val="392C42"/>
                </a:solidFill>
                <a:latin typeface="Arial"/>
              </a:rPr>
              <a:t>at the proposed price.</a:t>
            </a:r>
          </a:p>
        </p:txBody>
      </p:sp>
      <p:sp>
        <p:nvSpPr>
          <p:cNvPr id="13" name="TextBox 12"/>
          <p:cNvSpPr txBox="1"/>
          <p:nvPr/>
        </p:nvSpPr>
        <p:spPr>
          <a:xfrm>
            <a:off x="9017000" y="2679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Preference at</a:t>
            </a:r>
          </a:p>
          <a:p>
            <a:pPr>
              <a:lnSpc>
                <a:spcPts val="2400"/>
              </a:lnSpc>
              <a:spcBef>
                <a:spcPts val="0"/>
              </a:spcBef>
              <a:spcAft>
                <a:spcPts val="0"/>
              </a:spcAft>
            </a:pPr>
            <a:r>
              <a:rPr sz="1700" b="0" i="0">
                <a:solidFill>
                  <a:srgbClr val="776C7B"/>
                </a:solidFill>
                <a:latin typeface="Arial"/>
              </a:rPr>
              <a:t>a viable price.</a:t>
            </a:r>
          </a:p>
        </p:txBody>
      </p:sp>
      <p:cxnSp>
        <p:nvCxnSpPr>
          <p:cNvPr id="14" name="Connector 13"/>
          <p:cNvCxnSpPr/>
          <p:nvPr/>
        </p:nvCxnSpPr>
        <p:spPr>
          <a:xfrm>
            <a:off x="584200" y="3505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84200" y="3695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Production complexity</a:t>
            </a:r>
          </a:p>
        </p:txBody>
      </p:sp>
      <p:sp>
        <p:nvSpPr>
          <p:cNvPr id="16" name="TextBox 15"/>
          <p:cNvSpPr txBox="1"/>
          <p:nvPr/>
        </p:nvSpPr>
        <p:spPr>
          <a:xfrm>
            <a:off x="4368800" y="3695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Limit options; check</a:t>
            </a:r>
          </a:p>
          <a:p>
            <a:pPr>
              <a:lnSpc>
                <a:spcPts val="2500"/>
              </a:lnSpc>
              <a:spcBef>
                <a:spcPts val="0"/>
              </a:spcBef>
              <a:spcAft>
                <a:spcPts val="0"/>
              </a:spcAft>
            </a:pPr>
            <a:r>
              <a:rPr sz="1800" b="0" i="0">
                <a:solidFill>
                  <a:srgbClr val="392C42"/>
                </a:solidFill>
                <a:latin typeface="Arial"/>
              </a:rPr>
              <a:t>a supplier-made sample.</a:t>
            </a:r>
          </a:p>
        </p:txBody>
      </p:sp>
      <p:sp>
        <p:nvSpPr>
          <p:cNvPr id="17" name="TextBox 16"/>
          <p:cNvSpPr txBox="1"/>
          <p:nvPr/>
        </p:nvSpPr>
        <p:spPr>
          <a:xfrm>
            <a:off x="9017000" y="3695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Consistent quality</a:t>
            </a:r>
          </a:p>
          <a:p>
            <a:pPr>
              <a:lnSpc>
                <a:spcPts val="2400"/>
              </a:lnSpc>
              <a:spcBef>
                <a:spcPts val="0"/>
              </a:spcBef>
              <a:spcAft>
                <a:spcPts val="0"/>
              </a:spcAft>
            </a:pPr>
            <a:r>
              <a:rPr sz="1700" b="0" i="0">
                <a:solidFill>
                  <a:srgbClr val="776C7B"/>
                </a:solidFill>
                <a:latin typeface="Arial"/>
              </a:rPr>
              <a:t>and realistic lead time.</a:t>
            </a:r>
          </a:p>
        </p:txBody>
      </p:sp>
      <p:cxnSp>
        <p:nvCxnSpPr>
          <p:cNvPr id="18" name="Connector 17"/>
          <p:cNvCxnSpPr/>
          <p:nvPr/>
        </p:nvCxnSpPr>
        <p:spPr>
          <a:xfrm>
            <a:off x="584200" y="4521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4200" y="4711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One-time nostalgia</a:t>
            </a:r>
          </a:p>
        </p:txBody>
      </p:sp>
      <p:sp>
        <p:nvSpPr>
          <p:cNvPr id="20" name="TextBox 19"/>
          <p:cNvSpPr txBox="1"/>
          <p:nvPr/>
        </p:nvSpPr>
        <p:spPr>
          <a:xfrm>
            <a:off x="4368800" y="4711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Ask about future use</a:t>
            </a:r>
          </a:p>
          <a:p>
            <a:pPr>
              <a:lnSpc>
                <a:spcPts val="2500"/>
              </a:lnSpc>
              <a:spcBef>
                <a:spcPts val="0"/>
              </a:spcBef>
              <a:spcAft>
                <a:spcPts val="0"/>
              </a:spcAft>
            </a:pPr>
            <a:r>
              <a:rPr sz="1800" b="0" i="0">
                <a:solidFill>
                  <a:srgbClr val="392C42"/>
                </a:solidFill>
                <a:latin typeface="Arial"/>
              </a:rPr>
              <a:t>and reasons to buy again.</a:t>
            </a:r>
          </a:p>
        </p:txBody>
      </p:sp>
      <p:sp>
        <p:nvSpPr>
          <p:cNvPr id="21" name="TextBox 20"/>
          <p:cNvSpPr txBox="1"/>
          <p:nvPr/>
        </p:nvSpPr>
        <p:spPr>
          <a:xfrm>
            <a:off x="9017000" y="4711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A credible reason</a:t>
            </a:r>
          </a:p>
          <a:p>
            <a:pPr>
              <a:lnSpc>
                <a:spcPts val="2400"/>
              </a:lnSpc>
              <a:spcBef>
                <a:spcPts val="0"/>
              </a:spcBef>
              <a:spcAft>
                <a:spcPts val="0"/>
              </a:spcAft>
            </a:pPr>
            <a:r>
              <a:rPr sz="1700" b="0" i="0">
                <a:solidFill>
                  <a:srgbClr val="776C7B"/>
                </a:solidFill>
                <a:latin typeface="Arial"/>
              </a:rPr>
              <a:t>for repeat interest.</a:t>
            </a:r>
          </a:p>
        </p:txBody>
      </p:sp>
      <p:sp>
        <p:nvSpPr>
          <p:cNvPr id="22" name="Rounded Rectangle 21"/>
          <p:cNvSpPr/>
          <p:nvPr/>
        </p:nvSpPr>
        <p:spPr>
          <a:xfrm>
            <a:off x="584200" y="5753100"/>
            <a:ext cx="11023600" cy="381000"/>
          </a:xfrm>
          <a:prstGeom prst="roundRect">
            <a:avLst>
              <a:gd name="adj" fmla="val 10000"/>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5867400"/>
            <a:ext cx="10756900" cy="287528"/>
          </a:xfrm>
          <a:prstGeom prst="rect">
            <a:avLst/>
          </a:prstGeom>
          <a:noFill/>
        </p:spPr>
        <p:txBody>
          <a:bodyPr wrap="none" lIns="0" rIns="0" tIns="0" bIns="0" anchor="t">
            <a:spAutoFit/>
          </a:bodyPr>
          <a:lstStyle/>
          <a:p>
            <a:pPr>
              <a:lnSpc>
                <a:spcPts val="1464"/>
              </a:lnSpc>
              <a:spcBef>
                <a:spcPts val="0"/>
              </a:spcBef>
              <a:spcAft>
                <a:spcPts val="0"/>
              </a:spcAft>
            </a:pPr>
            <a:r>
              <a:rPr sz="1200" b="0" i="0">
                <a:solidFill>
                  <a:srgbClr val="392C42"/>
                </a:solidFill>
                <a:latin typeface="Arial"/>
              </a:rPr>
              <a:t>Quality context: OCPB reported incomplete labels at some Mega Plaza sellers in June 2026.</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S4 / Product and supplier information need checking. The report concerns some sellers, not every squishy.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ILLUSTRATIVE ECONOMICS</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15</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1849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Make the batch pay for itself.</a:t>
            </a:r>
          </a:p>
        </p:txBody>
      </p:sp>
      <p:sp>
        <p:nvSpPr>
          <p:cNvPr id="7" name="TextBox 6"/>
          <p:cNvSpPr txBox="1"/>
          <p:nvPr/>
        </p:nvSpPr>
        <p:spPr>
          <a:xfrm>
            <a:off x="584200" y="2146300"/>
            <a:ext cx="67691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PER SQUISHY / PLANNING ASSUMPTIONS</a:t>
            </a:r>
          </a:p>
        </p:txBody>
      </p:sp>
      <p:sp>
        <p:nvSpPr>
          <p:cNvPr id="8" name="TextBox 7"/>
          <p:cNvSpPr txBox="1"/>
          <p:nvPr/>
        </p:nvSpPr>
        <p:spPr>
          <a:xfrm>
            <a:off x="584200" y="2603500"/>
            <a:ext cx="6502400" cy="674878"/>
          </a:xfrm>
          <a:prstGeom prst="rect">
            <a:avLst/>
          </a:prstGeom>
          <a:noFill/>
        </p:spPr>
        <p:txBody>
          <a:bodyPr wrap="none" lIns="0" rIns="0" tIns="0" bIns="0" anchor="t">
            <a:spAutoFit/>
          </a:bodyPr>
          <a:lstStyle/>
          <a:p>
            <a:pPr>
              <a:lnSpc>
                <a:spcPts val="4514"/>
              </a:lnSpc>
              <a:spcBef>
                <a:spcPts val="0"/>
              </a:spcBef>
              <a:spcAft>
                <a:spcPts val="0"/>
              </a:spcAft>
            </a:pPr>
            <a:r>
              <a:rPr sz="3700" b="1" i="0">
                <a:solidFill>
                  <a:srgbClr val="392C42"/>
                </a:solidFill>
                <a:latin typeface="Arial"/>
              </a:rPr>
              <a:t>THB 349</a:t>
            </a:r>
          </a:p>
        </p:txBody>
      </p:sp>
      <p:sp>
        <p:nvSpPr>
          <p:cNvPr id="9" name="TextBox 8"/>
          <p:cNvSpPr txBox="1"/>
          <p:nvPr/>
        </p:nvSpPr>
        <p:spPr>
          <a:xfrm>
            <a:off x="584200" y="3238500"/>
            <a:ext cx="65024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776C7B"/>
                </a:solidFill>
                <a:latin typeface="Arial"/>
              </a:rPr>
              <a:t>Illustrative selling price</a:t>
            </a:r>
          </a:p>
        </p:txBody>
      </p:sp>
      <p:sp>
        <p:nvSpPr>
          <p:cNvPr id="10" name="Rounded Rectangle 9"/>
          <p:cNvSpPr/>
          <p:nvPr/>
        </p:nvSpPr>
        <p:spPr>
          <a:xfrm>
            <a:off x="584200" y="3822700"/>
            <a:ext cx="3771900" cy="685800"/>
          </a:xfrm>
          <a:prstGeom prst="roundRect">
            <a:avLst>
              <a:gd name="adj" fmla="val 5555"/>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6100" y="3822700"/>
            <a:ext cx="2844800" cy="685800"/>
          </a:xfrm>
          <a:prstGeom prst="roundRect">
            <a:avLst>
              <a:gd name="adj" fmla="val 5555"/>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4013200"/>
            <a:ext cx="3136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199</a:t>
            </a:r>
          </a:p>
        </p:txBody>
      </p:sp>
      <p:sp>
        <p:nvSpPr>
          <p:cNvPr id="13" name="TextBox 12"/>
          <p:cNvSpPr txBox="1"/>
          <p:nvPr/>
        </p:nvSpPr>
        <p:spPr>
          <a:xfrm>
            <a:off x="4584700" y="4013200"/>
            <a:ext cx="2374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150</a:t>
            </a:r>
          </a:p>
        </p:txBody>
      </p:sp>
      <p:sp>
        <p:nvSpPr>
          <p:cNvPr id="14" name="TextBox 13"/>
          <p:cNvSpPr txBox="1"/>
          <p:nvPr/>
        </p:nvSpPr>
        <p:spPr>
          <a:xfrm>
            <a:off x="584200" y="4711700"/>
            <a:ext cx="3606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Variable cost</a:t>
            </a:r>
          </a:p>
        </p:txBody>
      </p:sp>
      <p:sp>
        <p:nvSpPr>
          <p:cNvPr id="15" name="TextBox 14"/>
          <p:cNvSpPr txBox="1"/>
          <p:nvPr/>
        </p:nvSpPr>
        <p:spPr>
          <a:xfrm>
            <a:off x="4356100" y="4711700"/>
            <a:ext cx="28829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Contribution</a:t>
            </a:r>
          </a:p>
        </p:txBody>
      </p:sp>
      <p:sp>
        <p:nvSpPr>
          <p:cNvPr id="16" name="TextBox 15"/>
          <p:cNvSpPr txBox="1"/>
          <p:nvPr/>
        </p:nvSpPr>
        <p:spPr>
          <a:xfrm>
            <a:off x="584200" y="5130800"/>
            <a:ext cx="36068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Materials, making and</a:t>
            </a:r>
          </a:p>
          <a:p>
            <a:pPr>
              <a:lnSpc>
                <a:spcPts val="2100"/>
              </a:lnSpc>
              <a:spcBef>
                <a:spcPts val="0"/>
              </a:spcBef>
              <a:spcAft>
                <a:spcPts val="0"/>
              </a:spcAft>
            </a:pPr>
            <a:r>
              <a:rPr sz="1500" b="0" i="0">
                <a:solidFill>
                  <a:srgbClr val="776C7B"/>
                </a:solidFill>
                <a:latin typeface="Arial"/>
              </a:rPr>
              <a:t>other per-unit costs.</a:t>
            </a:r>
          </a:p>
        </p:txBody>
      </p:sp>
      <p:sp>
        <p:nvSpPr>
          <p:cNvPr id="17" name="TextBox 16"/>
          <p:cNvSpPr txBox="1"/>
          <p:nvPr/>
        </p:nvSpPr>
        <p:spPr>
          <a:xfrm>
            <a:off x="4356100" y="5130800"/>
            <a:ext cx="28829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Amount left to cover</a:t>
            </a:r>
          </a:p>
          <a:p>
            <a:pPr>
              <a:lnSpc>
                <a:spcPts val="2100"/>
              </a:lnSpc>
              <a:spcBef>
                <a:spcPts val="0"/>
              </a:spcBef>
              <a:spcAft>
                <a:spcPts val="0"/>
              </a:spcAft>
            </a:pPr>
            <a:r>
              <a:rPr sz="1500" b="0" i="0">
                <a:solidFill>
                  <a:srgbClr val="776C7B"/>
                </a:solidFill>
                <a:latin typeface="Arial"/>
              </a:rPr>
              <a:t>fixed setup costs.</a:t>
            </a:r>
          </a:p>
        </p:txBody>
      </p:sp>
      <p:sp>
        <p:nvSpPr>
          <p:cNvPr id="18" name="Rounded Rectangle 17"/>
          <p:cNvSpPr/>
          <p:nvPr/>
        </p:nvSpPr>
        <p:spPr>
          <a:xfrm>
            <a:off x="7810500" y="2070100"/>
            <a:ext cx="3797300" cy="3911600"/>
          </a:xfrm>
          <a:prstGeom prst="roundRect">
            <a:avLst>
              <a:gd name="adj" fmla="val 1672"/>
            </a:avLst>
          </a:prstGeom>
          <a:solidFill>
            <a:srgbClr val="392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2600" y="2374900"/>
            <a:ext cx="32258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D9CDF2"/>
                </a:solidFill>
                <a:latin typeface="Press Start 2P"/>
              </a:rPr>
              <a:t>ILLUSTRATIVE BATCH</a:t>
            </a:r>
          </a:p>
        </p:txBody>
      </p:sp>
      <p:sp>
        <p:nvSpPr>
          <p:cNvPr id="20" name="TextBox 19"/>
          <p:cNvSpPr txBox="1"/>
          <p:nvPr/>
        </p:nvSpPr>
        <p:spPr>
          <a:xfrm>
            <a:off x="8102600" y="2832100"/>
            <a:ext cx="3225800" cy="1496060"/>
          </a:xfrm>
          <a:prstGeom prst="rect">
            <a:avLst/>
          </a:prstGeom>
          <a:noFill/>
        </p:spPr>
        <p:txBody>
          <a:bodyPr wrap="none" lIns="0" rIns="0" tIns="0" bIns="0" anchor="t">
            <a:spAutoFit/>
          </a:bodyPr>
          <a:lstStyle/>
          <a:p>
            <a:pPr>
              <a:lnSpc>
                <a:spcPts val="10980"/>
              </a:lnSpc>
              <a:spcBef>
                <a:spcPts val="0"/>
              </a:spcBef>
              <a:spcAft>
                <a:spcPts val="0"/>
              </a:spcAft>
            </a:pPr>
            <a:r>
              <a:rPr sz="9000" b="1" i="0">
                <a:solidFill>
                  <a:srgbClr val="FFFAF2"/>
                </a:solidFill>
                <a:latin typeface="Arial"/>
              </a:rPr>
              <a:t>30</a:t>
            </a:r>
          </a:p>
        </p:txBody>
      </p:sp>
      <p:sp>
        <p:nvSpPr>
          <p:cNvPr id="21" name="TextBox 20"/>
          <p:cNvSpPr txBox="1"/>
          <p:nvPr/>
        </p:nvSpPr>
        <p:spPr>
          <a:xfrm>
            <a:off x="8128000" y="4152900"/>
            <a:ext cx="3200400" cy="395986"/>
          </a:xfrm>
          <a:prstGeom prst="rect">
            <a:avLst/>
          </a:prstGeom>
          <a:noFill/>
        </p:spPr>
        <p:txBody>
          <a:bodyPr wrap="none" lIns="0" rIns="0" tIns="0" bIns="0" anchor="t">
            <a:spAutoFit/>
          </a:bodyPr>
          <a:lstStyle/>
          <a:p>
            <a:pPr>
              <a:lnSpc>
                <a:spcPts val="2318"/>
              </a:lnSpc>
              <a:spcBef>
                <a:spcPts val="0"/>
              </a:spcBef>
              <a:spcAft>
                <a:spcPts val="0"/>
              </a:spcAft>
            </a:pPr>
            <a:r>
              <a:rPr sz="1900" b="0" i="0">
                <a:solidFill>
                  <a:srgbClr val="FFFAF2"/>
                </a:solidFill>
                <a:latin typeface="Arial"/>
              </a:rPr>
              <a:t>units to cover setup</a:t>
            </a:r>
          </a:p>
        </p:txBody>
      </p:sp>
      <p:sp>
        <p:nvSpPr>
          <p:cNvPr id="22" name="TextBox 21"/>
          <p:cNvSpPr txBox="1"/>
          <p:nvPr/>
        </p:nvSpPr>
        <p:spPr>
          <a:xfrm>
            <a:off x="8128000" y="4737100"/>
            <a:ext cx="32004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D9CDF2"/>
                </a:solidFill>
                <a:latin typeface="Arial"/>
              </a:rPr>
              <a:t>THB 4,500 ÷ THB 150</a:t>
            </a:r>
          </a:p>
        </p:txBody>
      </p:sp>
      <p:sp>
        <p:nvSpPr>
          <p:cNvPr id="23" name="TextBox 22"/>
          <p:cNvSpPr txBox="1"/>
          <p:nvPr/>
        </p:nvSpPr>
        <p:spPr>
          <a:xfrm>
            <a:off x="8128000" y="5232400"/>
            <a:ext cx="3200400" cy="609600"/>
          </a:xfrm>
          <a:prstGeom prst="rect">
            <a:avLst/>
          </a:prstGeom>
          <a:noFill/>
        </p:spPr>
        <p:txBody>
          <a:bodyPr wrap="none" lIns="0" rIns="0" tIns="0" bIns="0" anchor="t">
            <a:spAutoFit/>
          </a:bodyPr>
          <a:lstStyle/>
          <a:p>
            <a:pPr>
              <a:lnSpc>
                <a:spcPts val="2000"/>
              </a:lnSpc>
              <a:spcBef>
                <a:spcPts val="0"/>
              </a:spcBef>
              <a:spcAft>
                <a:spcPts val="0"/>
              </a:spcAft>
            </a:pPr>
            <a:r>
              <a:rPr sz="1400" b="0" i="0">
                <a:solidFill>
                  <a:srgbClr val="D8CBDD"/>
                </a:solidFill>
                <a:latin typeface="Arial"/>
              </a:rPr>
              <a:t>The actual threshold must also</a:t>
            </a:r>
          </a:p>
          <a:p>
            <a:pPr>
              <a:lnSpc>
                <a:spcPts val="2000"/>
              </a:lnSpc>
              <a:spcBef>
                <a:spcPts val="0"/>
              </a:spcBef>
              <a:spcAft>
                <a:spcPts val="0"/>
              </a:spcAft>
            </a:pPr>
            <a:r>
              <a:rPr sz="1400" b="0" i="0">
                <a:solidFill>
                  <a:srgbClr val="D8CBDD"/>
                </a:solidFill>
                <a:latin typeface="Arial"/>
              </a:rPr>
              <a:t>meet supplier minimums.</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All figures are assumptions. Verify every cost, supplier MOQ and willingness to pay before real pre-orders.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VALIDATION PLAN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16</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46430"/>
          </a:xfrm>
          <a:prstGeom prst="rect">
            <a:avLst/>
          </a:prstGeom>
          <a:noFill/>
        </p:spPr>
        <p:txBody>
          <a:bodyPr wrap="none" lIns="0" rIns="0" tIns="0" bIns="0" anchor="t">
            <a:spAutoFit/>
          </a:bodyPr>
          <a:lstStyle/>
          <a:p>
            <a:pPr>
              <a:lnSpc>
                <a:spcPts val="4290"/>
              </a:lnSpc>
              <a:spcBef>
                <a:spcPts val="0"/>
              </a:spcBef>
              <a:spcAft>
                <a:spcPts val="0"/>
              </a:spcAft>
            </a:pPr>
            <a:r>
              <a:rPr sz="3900" b="1" i="0">
                <a:solidFill>
                  <a:srgbClr val="392C42"/>
                </a:solidFill>
                <a:latin typeface="Arial"/>
              </a:rPr>
              <a:t>Ask. Observe. Then commit.</a:t>
            </a:r>
          </a:p>
        </p:txBody>
      </p:sp>
      <p:sp>
        <p:nvSpPr>
          <p:cNvPr id="7" name="TextBox 6"/>
          <p:cNvSpPr txBox="1"/>
          <p:nvPr/>
        </p:nvSpPr>
        <p:spPr>
          <a:xfrm>
            <a:off x="584200" y="25273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01</a:t>
            </a:r>
          </a:p>
        </p:txBody>
      </p:sp>
      <p:sp>
        <p:nvSpPr>
          <p:cNvPr id="8" name="TextBox 7"/>
          <p:cNvSpPr txBox="1"/>
          <p:nvPr/>
        </p:nvSpPr>
        <p:spPr>
          <a:xfrm>
            <a:off x="1358900" y="2463800"/>
            <a:ext cx="31242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Buyer interviews</a:t>
            </a:r>
          </a:p>
        </p:txBody>
      </p:sp>
      <p:sp>
        <p:nvSpPr>
          <p:cNvPr id="9" name="TextBox 8"/>
          <p:cNvSpPr txBox="1"/>
          <p:nvPr/>
        </p:nvSpPr>
        <p:spPr>
          <a:xfrm>
            <a:off x="4749800" y="24638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Ask about the last actual purchase,</a:t>
            </a:r>
          </a:p>
          <a:p>
            <a:pPr>
              <a:lnSpc>
                <a:spcPts val="2400"/>
              </a:lnSpc>
              <a:spcBef>
                <a:spcPts val="0"/>
              </a:spcBef>
              <a:spcAft>
                <a:spcPts val="0"/>
              </a:spcAft>
            </a:pPr>
            <a:r>
              <a:rPr sz="1700" b="0" i="0">
                <a:solidFill>
                  <a:srgbClr val="392C42"/>
                </a:solidFill>
                <a:latin typeface="Arial"/>
              </a:rPr>
              <a:t>then memory and discovery.</a:t>
            </a:r>
          </a:p>
        </p:txBody>
      </p:sp>
      <p:sp>
        <p:nvSpPr>
          <p:cNvPr id="10" name="TextBox 9"/>
          <p:cNvSpPr txBox="1"/>
          <p:nvPr/>
        </p:nvSpPr>
        <p:spPr>
          <a:xfrm>
            <a:off x="9321800" y="24638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A grounded consumer</a:t>
            </a:r>
          </a:p>
          <a:p>
            <a:pPr>
              <a:lnSpc>
                <a:spcPts val="2300"/>
              </a:lnSpc>
              <a:spcBef>
                <a:spcPts val="0"/>
              </a:spcBef>
              <a:spcAft>
                <a:spcPts val="0"/>
              </a:spcAft>
            </a:pPr>
            <a:r>
              <a:rPr sz="1600" b="0" i="0">
                <a:solidFill>
                  <a:srgbClr val="776C7B"/>
                </a:solidFill>
                <a:latin typeface="Arial"/>
              </a:rPr>
              <a:t>explanation.</a:t>
            </a:r>
          </a:p>
        </p:txBody>
      </p:sp>
      <p:cxnSp>
        <p:nvCxnSpPr>
          <p:cNvPr id="11" name="Connector 10"/>
          <p:cNvCxnSpPr/>
          <p:nvPr/>
        </p:nvCxnSpPr>
        <p:spPr>
          <a:xfrm>
            <a:off x="584200" y="34163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84200" y="37465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02</a:t>
            </a:r>
          </a:p>
        </p:txBody>
      </p:sp>
      <p:sp>
        <p:nvSpPr>
          <p:cNvPr id="13" name="TextBox 12"/>
          <p:cNvSpPr txBox="1"/>
          <p:nvPr/>
        </p:nvSpPr>
        <p:spPr>
          <a:xfrm>
            <a:off x="1358900" y="3683000"/>
            <a:ext cx="31242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Concept &amp; prototype</a:t>
            </a:r>
          </a:p>
        </p:txBody>
      </p:sp>
      <p:sp>
        <p:nvSpPr>
          <p:cNvPr id="14" name="TextBox 13"/>
          <p:cNvSpPr txBox="1"/>
          <p:nvPr/>
        </p:nvSpPr>
        <p:spPr>
          <a:xfrm>
            <a:off x="4749800" y="36830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Show the idea after behaviour questions.</a:t>
            </a:r>
          </a:p>
          <a:p>
            <a:pPr>
              <a:lnSpc>
                <a:spcPts val="2400"/>
              </a:lnSpc>
              <a:spcBef>
                <a:spcPts val="0"/>
              </a:spcBef>
              <a:spcAft>
                <a:spcPts val="0"/>
              </a:spcAft>
            </a:pPr>
            <a:r>
              <a:rPr sz="1700" b="0" i="0">
                <a:solidFill>
                  <a:srgbClr val="392C42"/>
                </a:solidFill>
                <a:latin typeface="Arial"/>
              </a:rPr>
              <a:t>Compare the design at a viable price.</a:t>
            </a:r>
          </a:p>
        </p:txBody>
      </p:sp>
      <p:sp>
        <p:nvSpPr>
          <p:cNvPr id="15" name="TextBox 14"/>
          <p:cNvSpPr txBox="1"/>
          <p:nvPr/>
        </p:nvSpPr>
        <p:spPr>
          <a:xfrm>
            <a:off x="9321800" y="36830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Preference, concerns</a:t>
            </a:r>
          </a:p>
          <a:p>
            <a:pPr>
              <a:lnSpc>
                <a:spcPts val="2300"/>
              </a:lnSpc>
              <a:spcBef>
                <a:spcPts val="0"/>
              </a:spcBef>
              <a:spcAft>
                <a:spcPts val="0"/>
              </a:spcAft>
            </a:pPr>
            <a:r>
              <a:rPr sz="1600" b="0" i="0">
                <a:solidFill>
                  <a:srgbClr val="776C7B"/>
                </a:solidFill>
                <a:latin typeface="Arial"/>
              </a:rPr>
              <a:t>and usability.</a:t>
            </a:r>
          </a:p>
        </p:txBody>
      </p:sp>
      <p:cxnSp>
        <p:nvCxnSpPr>
          <p:cNvPr id="16" name="Connector 15"/>
          <p:cNvCxnSpPr/>
          <p:nvPr/>
        </p:nvCxnSpPr>
        <p:spPr>
          <a:xfrm>
            <a:off x="584200" y="46355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49657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03</a:t>
            </a:r>
          </a:p>
        </p:txBody>
      </p:sp>
      <p:sp>
        <p:nvSpPr>
          <p:cNvPr id="18" name="TextBox 17"/>
          <p:cNvSpPr txBox="1"/>
          <p:nvPr/>
        </p:nvSpPr>
        <p:spPr>
          <a:xfrm>
            <a:off x="1358900" y="4902200"/>
            <a:ext cx="3124200" cy="814324"/>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Supplier &amp; purchase</a:t>
            </a:r>
          </a:p>
          <a:p>
            <a:pPr>
              <a:lnSpc>
                <a:spcPts val="2806"/>
              </a:lnSpc>
              <a:spcBef>
                <a:spcPts val="0"/>
              </a:spcBef>
              <a:spcAft>
                <a:spcPts val="0"/>
              </a:spcAft>
            </a:pPr>
            <a:r>
              <a:rPr sz="2300" b="1" i="0">
                <a:solidFill>
                  <a:srgbClr val="392C42"/>
                </a:solidFill>
                <a:latin typeface="Arial"/>
              </a:rPr>
              <a:t>test</a:t>
            </a:r>
          </a:p>
        </p:txBody>
      </p:sp>
      <p:sp>
        <p:nvSpPr>
          <p:cNvPr id="19" name="TextBox 18"/>
          <p:cNvSpPr txBox="1"/>
          <p:nvPr/>
        </p:nvSpPr>
        <p:spPr>
          <a:xfrm>
            <a:off x="4749800" y="49022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Confirm samples, costs and terms</a:t>
            </a:r>
          </a:p>
          <a:p>
            <a:pPr>
              <a:lnSpc>
                <a:spcPts val="2400"/>
              </a:lnSpc>
              <a:spcBef>
                <a:spcPts val="0"/>
              </a:spcBef>
              <a:spcAft>
                <a:spcPts val="0"/>
              </a:spcAft>
            </a:pPr>
            <a:r>
              <a:rPr sz="1700" b="0" i="0">
                <a:solidFill>
                  <a:srgbClr val="392C42"/>
                </a:solidFill>
                <a:latin typeface="Arial"/>
              </a:rPr>
              <a:t>before accepting real pre-orders.</a:t>
            </a:r>
          </a:p>
        </p:txBody>
      </p:sp>
      <p:sp>
        <p:nvSpPr>
          <p:cNvPr id="20" name="TextBox 19"/>
          <p:cNvSpPr txBox="1"/>
          <p:nvPr/>
        </p:nvSpPr>
        <p:spPr>
          <a:xfrm>
            <a:off x="9321800" y="49022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Quality and credible paid</a:t>
            </a:r>
          </a:p>
          <a:p>
            <a:pPr>
              <a:lnSpc>
                <a:spcPts val="2300"/>
              </a:lnSpc>
              <a:spcBef>
                <a:spcPts val="0"/>
              </a:spcBef>
              <a:spcAft>
                <a:spcPts val="0"/>
              </a:spcAft>
            </a:pPr>
            <a:r>
              <a:rPr sz="1600" b="0" i="0">
                <a:solidFill>
                  <a:srgbClr val="776C7B"/>
                </a:solidFill>
                <a:latin typeface="Arial"/>
              </a:rPr>
              <a:t>demand.</a:t>
            </a:r>
          </a:p>
        </p:txBody>
      </p:sp>
      <p:cxnSp>
        <p:nvCxnSpPr>
          <p:cNvPr id="21" name="Connector 20"/>
          <p:cNvCxnSpPr/>
          <p:nvPr/>
        </p:nvCxnSpPr>
        <p:spPr>
          <a:xfrm>
            <a:off x="584200" y="58547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Convenience interviews and stated intention are exploratory. Demo reservations are not real sales.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04 / RECOMMENDATION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17</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346200"/>
            <a:ext cx="6172200" cy="2273300"/>
          </a:xfrm>
          <a:prstGeom prst="rect">
            <a:avLst/>
          </a:prstGeom>
          <a:noFill/>
        </p:spPr>
        <p:txBody>
          <a:bodyPr wrap="none" lIns="0" rIns="0" tIns="0" bIns="0" anchor="t">
            <a:spAutoFit/>
          </a:bodyPr>
          <a:lstStyle/>
          <a:p>
            <a:pPr>
              <a:lnSpc>
                <a:spcPts val="5700"/>
              </a:lnSpc>
              <a:spcBef>
                <a:spcPts val="0"/>
              </a:spcBef>
              <a:spcAft>
                <a:spcPts val="0"/>
              </a:spcAft>
            </a:pPr>
            <a:r>
              <a:rPr sz="5100" b="1" i="0">
                <a:solidFill>
                  <a:srgbClr val="FFFAF2"/>
                </a:solidFill>
                <a:latin typeface="Arial"/>
              </a:rPr>
              <a:t>Start small.</a:t>
            </a:r>
          </a:p>
          <a:p>
            <a:pPr>
              <a:lnSpc>
                <a:spcPts val="5700"/>
              </a:lnSpc>
              <a:spcBef>
                <a:spcPts val="0"/>
              </a:spcBef>
              <a:spcAft>
                <a:spcPts val="0"/>
              </a:spcAft>
            </a:pPr>
            <a:r>
              <a:rPr sz="5100" b="1" i="0">
                <a:solidFill>
                  <a:srgbClr val="FFFAF2"/>
                </a:solidFill>
                <a:latin typeface="Arial"/>
              </a:rPr>
              <a:t>Earn the</a:t>
            </a:r>
          </a:p>
          <a:p>
            <a:pPr>
              <a:lnSpc>
                <a:spcPts val="5700"/>
              </a:lnSpc>
              <a:spcBef>
                <a:spcPts val="0"/>
              </a:spcBef>
              <a:spcAft>
                <a:spcPts val="0"/>
              </a:spcAft>
            </a:pPr>
            <a:r>
              <a:rPr sz="5100" b="1" i="0">
                <a:solidFill>
                  <a:srgbClr val="FFFAF2"/>
                </a:solidFill>
                <a:latin typeface="Arial"/>
              </a:rPr>
              <a:t>next batch.</a:t>
            </a:r>
          </a:p>
        </p:txBody>
      </p:sp>
      <p:sp>
        <p:nvSpPr>
          <p:cNvPr id="7" name="TextBox 6"/>
          <p:cNvSpPr txBox="1"/>
          <p:nvPr/>
        </p:nvSpPr>
        <p:spPr>
          <a:xfrm>
            <a:off x="609600" y="4267200"/>
            <a:ext cx="5740400" cy="863600"/>
          </a:xfrm>
          <a:prstGeom prst="rect">
            <a:avLst/>
          </a:prstGeom>
          <a:noFill/>
        </p:spPr>
        <p:txBody>
          <a:bodyPr wrap="none" lIns="0" rIns="0" tIns="0" bIns="0" anchor="t">
            <a:spAutoFit/>
          </a:bodyPr>
          <a:lstStyle/>
          <a:p>
            <a:pPr>
              <a:lnSpc>
                <a:spcPts val="3000"/>
              </a:lnSpc>
              <a:spcBef>
                <a:spcPts val="0"/>
              </a:spcBef>
              <a:spcAft>
                <a:spcPts val="0"/>
              </a:spcAft>
            </a:pPr>
            <a:r>
              <a:rPr sz="2100" b="0" i="0">
                <a:solidFill>
                  <a:srgbClr val="D8CBDD"/>
                </a:solidFill>
                <a:latin typeface="Arial"/>
              </a:rPr>
              <a:t>Test one collection with working adults.</a:t>
            </a:r>
          </a:p>
          <a:p>
            <a:pPr>
              <a:lnSpc>
                <a:spcPts val="3000"/>
              </a:lnSpc>
              <a:spcBef>
                <a:spcPts val="0"/>
              </a:spcBef>
              <a:spcAft>
                <a:spcPts val="0"/>
              </a:spcAft>
            </a:pPr>
            <a:r>
              <a:rPr sz="2100" b="0" i="0">
                <a:solidFill>
                  <a:srgbClr val="D8CBDD"/>
                </a:solidFill>
                <a:latin typeface="Arial"/>
              </a:rPr>
              <a:t>Let weak results change the idea.</a:t>
            </a:r>
          </a:p>
        </p:txBody>
      </p:sp>
      <p:sp>
        <p:nvSpPr>
          <p:cNvPr id="8" name="TextBox 7"/>
          <p:cNvSpPr txBox="1"/>
          <p:nvPr/>
        </p:nvSpPr>
        <p:spPr>
          <a:xfrm>
            <a:off x="609600" y="5562600"/>
            <a:ext cx="5740400" cy="349504"/>
          </a:xfrm>
          <a:prstGeom prst="rect">
            <a:avLst/>
          </a:prstGeom>
          <a:noFill/>
        </p:spPr>
        <p:txBody>
          <a:bodyPr wrap="none" lIns="0" rIns="0" tIns="0" bIns="0" anchor="t">
            <a:spAutoFit/>
          </a:bodyPr>
          <a:lstStyle/>
          <a:p>
            <a:pPr>
              <a:lnSpc>
                <a:spcPts val="1952"/>
              </a:lnSpc>
              <a:spcBef>
                <a:spcPts val="0"/>
              </a:spcBef>
              <a:spcAft>
                <a:spcPts val="0"/>
              </a:spcAft>
            </a:pPr>
            <a:r>
              <a:rPr sz="1600" b="1" i="0">
                <a:solidFill>
                  <a:srgbClr val="D9CDF2"/>
                </a:solidFill>
                <a:latin typeface="Arial"/>
                <a:hlinkClick r:id="rId2"/>
              </a:rPr>
              <a:t>Explore the prototype →</a:t>
            </a:r>
          </a:p>
        </p:txBody>
      </p:sp>
      <p:sp>
        <p:nvSpPr>
          <p:cNvPr id="9" name="TextBox 8"/>
          <p:cNvSpPr txBox="1"/>
          <p:nvPr/>
        </p:nvSpPr>
        <p:spPr>
          <a:xfrm>
            <a:off x="7200900" y="14986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EFBFD0"/>
                </a:solidFill>
                <a:latin typeface="Press Start 2P"/>
              </a:rPr>
              <a:t>01</a:t>
            </a:r>
          </a:p>
        </p:txBody>
      </p:sp>
      <p:sp>
        <p:nvSpPr>
          <p:cNvPr id="10" name="TextBox 9"/>
          <p:cNvSpPr txBox="1"/>
          <p:nvPr/>
        </p:nvSpPr>
        <p:spPr>
          <a:xfrm>
            <a:off x="7924800" y="14605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People choose it.</a:t>
            </a:r>
          </a:p>
        </p:txBody>
      </p:sp>
      <p:sp>
        <p:nvSpPr>
          <p:cNvPr id="11" name="TextBox 10"/>
          <p:cNvSpPr txBox="1"/>
          <p:nvPr/>
        </p:nvSpPr>
        <p:spPr>
          <a:xfrm>
            <a:off x="7924800" y="1993900"/>
            <a:ext cx="36957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At a price the business can sustain.</a:t>
            </a:r>
          </a:p>
        </p:txBody>
      </p:sp>
      <p:cxnSp>
        <p:nvCxnSpPr>
          <p:cNvPr id="12" name="Connector 11"/>
          <p:cNvCxnSpPr/>
          <p:nvPr/>
        </p:nvCxnSpPr>
        <p:spPr>
          <a:xfrm>
            <a:off x="7200900" y="26543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200900" y="29972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9CDF2"/>
                </a:solidFill>
                <a:latin typeface="Press Start 2P"/>
              </a:rPr>
              <a:t>02</a:t>
            </a:r>
          </a:p>
        </p:txBody>
      </p:sp>
      <p:sp>
        <p:nvSpPr>
          <p:cNvPr id="14" name="TextBox 13"/>
          <p:cNvSpPr txBox="1"/>
          <p:nvPr/>
        </p:nvSpPr>
        <p:spPr>
          <a:xfrm>
            <a:off x="7924800" y="29591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Quality is consistent.</a:t>
            </a:r>
          </a:p>
        </p:txBody>
      </p:sp>
      <p:sp>
        <p:nvSpPr>
          <p:cNvPr id="15" name="TextBox 14"/>
          <p:cNvSpPr txBox="1"/>
          <p:nvPr/>
        </p:nvSpPr>
        <p:spPr>
          <a:xfrm>
            <a:off x="7924800" y="3492500"/>
            <a:ext cx="36957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The sample matches the promise.</a:t>
            </a:r>
          </a:p>
        </p:txBody>
      </p:sp>
      <p:cxnSp>
        <p:nvCxnSpPr>
          <p:cNvPr id="16" name="Connector 15"/>
          <p:cNvCxnSpPr/>
          <p:nvPr/>
        </p:nvCxnSpPr>
        <p:spPr>
          <a:xfrm>
            <a:off x="7200900" y="41529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00900" y="44958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4E7D9"/>
                </a:solidFill>
                <a:latin typeface="Press Start 2P"/>
              </a:rPr>
              <a:t>03</a:t>
            </a:r>
          </a:p>
        </p:txBody>
      </p:sp>
      <p:sp>
        <p:nvSpPr>
          <p:cNvPr id="18" name="TextBox 17"/>
          <p:cNvSpPr txBox="1"/>
          <p:nvPr/>
        </p:nvSpPr>
        <p:spPr>
          <a:xfrm>
            <a:off x="7924800" y="44577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The batch pays.</a:t>
            </a:r>
          </a:p>
        </p:txBody>
      </p:sp>
      <p:sp>
        <p:nvSpPr>
          <p:cNvPr id="19" name="TextBox 18"/>
          <p:cNvSpPr txBox="1"/>
          <p:nvPr/>
        </p:nvSpPr>
        <p:spPr>
          <a:xfrm>
            <a:off x="7924800" y="4991100"/>
            <a:ext cx="36957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Confirmed orders cover the viable</a:t>
            </a:r>
          </a:p>
          <a:p>
            <a:pPr>
              <a:lnSpc>
                <a:spcPts val="2400"/>
              </a:lnSpc>
              <a:spcBef>
                <a:spcPts val="0"/>
              </a:spcBef>
              <a:spcAft>
                <a:spcPts val="0"/>
              </a:spcAft>
            </a:pPr>
            <a:r>
              <a:rPr sz="1700" b="0" i="0">
                <a:solidFill>
                  <a:srgbClr val="D8CBDD"/>
                </a:solidFill>
                <a:latin typeface="Arial"/>
              </a:rPr>
              <a:t>minimum.</a:t>
            </a:r>
          </a:p>
        </p:txBody>
      </p:sp>
      <p:cxnSp>
        <p:nvCxnSpPr>
          <p:cNvPr id="20" name="Connector 19"/>
          <p:cNvCxnSpPr/>
          <p:nvPr/>
        </p:nvCxnSpPr>
        <p:spPr>
          <a:xfrm>
            <a:off x="7200900" y="56515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rPr>
              <a:t>Next step / Extend the initial interview with adult-buyer research, concept testing and supplier checks.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SOURCES / 7:50–8:00</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18</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60400"/>
          </a:xfrm>
          <a:prstGeom prst="rect">
            <a:avLst/>
          </a:prstGeom>
          <a:noFill/>
        </p:spPr>
        <p:txBody>
          <a:bodyPr wrap="none" lIns="0" rIns="0" tIns="0" bIns="0" anchor="t">
            <a:spAutoFit/>
          </a:bodyPr>
          <a:lstStyle/>
          <a:p>
            <a:pPr>
              <a:lnSpc>
                <a:spcPts val="4400"/>
              </a:lnSpc>
              <a:spcBef>
                <a:spcPts val="0"/>
              </a:spcBef>
              <a:spcAft>
                <a:spcPts val="0"/>
              </a:spcAft>
            </a:pPr>
            <a:r>
              <a:rPr sz="4000" b="1" i="0">
                <a:solidFill>
                  <a:srgbClr val="392C42"/>
                </a:solidFill>
                <a:latin typeface="Arial"/>
              </a:rPr>
              <a:t>Sources &amp; prototype</a:t>
            </a:r>
          </a:p>
        </p:txBody>
      </p:sp>
      <p:cxnSp>
        <p:nvCxnSpPr>
          <p:cNvPr id="7" name="Connector 6"/>
          <p:cNvCxnSpPr/>
          <p:nvPr/>
        </p:nvCxnSpPr>
        <p:spPr>
          <a:xfrm>
            <a:off x="584200" y="20447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84200" y="22479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S1</a:t>
            </a:r>
          </a:p>
        </p:txBody>
      </p:sp>
      <p:sp>
        <p:nvSpPr>
          <p:cNvPr id="9" name="TextBox 8"/>
          <p:cNvSpPr txBox="1"/>
          <p:nvPr/>
        </p:nvSpPr>
        <p:spPr>
          <a:xfrm>
            <a:off x="1295400" y="21971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2"/>
              </a:rPr>
              <a:t>Thai PBS World | 25 Jun 2026</a:t>
            </a:r>
          </a:p>
        </p:txBody>
      </p:sp>
      <p:cxnSp>
        <p:nvCxnSpPr>
          <p:cNvPr id="10" name="Connector 9"/>
          <p:cNvCxnSpPr/>
          <p:nvPr/>
        </p:nvCxnSpPr>
        <p:spPr>
          <a:xfrm>
            <a:off x="584200" y="26162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28194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S2</a:t>
            </a:r>
          </a:p>
        </p:txBody>
      </p:sp>
      <p:sp>
        <p:nvSpPr>
          <p:cNvPr id="12" name="TextBox 11"/>
          <p:cNvSpPr txBox="1"/>
          <p:nvPr/>
        </p:nvSpPr>
        <p:spPr>
          <a:xfrm>
            <a:off x="1295400" y="27686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3"/>
              </a:rPr>
              <a:t>Thairath English | 19 Jun 2026</a:t>
            </a:r>
          </a:p>
        </p:txBody>
      </p:sp>
      <p:cxnSp>
        <p:nvCxnSpPr>
          <p:cNvPr id="13" name="Connector 12"/>
          <p:cNvCxnSpPr/>
          <p:nvPr/>
        </p:nvCxnSpPr>
        <p:spPr>
          <a:xfrm>
            <a:off x="584200" y="31877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4200" y="33909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S3</a:t>
            </a:r>
          </a:p>
        </p:txBody>
      </p:sp>
      <p:sp>
        <p:nvSpPr>
          <p:cNvPr id="15" name="TextBox 14"/>
          <p:cNvSpPr txBox="1"/>
          <p:nvPr/>
        </p:nvSpPr>
        <p:spPr>
          <a:xfrm>
            <a:off x="1295400" y="33401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4"/>
              </a:rPr>
              <a:t>TrendWatching | Consumer Trend Canvas</a:t>
            </a:r>
          </a:p>
        </p:txBody>
      </p:sp>
      <p:cxnSp>
        <p:nvCxnSpPr>
          <p:cNvPr id="16" name="Connector 15"/>
          <p:cNvCxnSpPr/>
          <p:nvPr/>
        </p:nvCxnSpPr>
        <p:spPr>
          <a:xfrm>
            <a:off x="584200" y="37592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39624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S4</a:t>
            </a:r>
          </a:p>
        </p:txBody>
      </p:sp>
      <p:sp>
        <p:nvSpPr>
          <p:cNvPr id="18" name="TextBox 17"/>
          <p:cNvSpPr txBox="1"/>
          <p:nvPr/>
        </p:nvSpPr>
        <p:spPr>
          <a:xfrm>
            <a:off x="1295400" y="39116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5"/>
              </a:rPr>
              <a:t>OCPB | 30 Jun 2026</a:t>
            </a:r>
          </a:p>
        </p:txBody>
      </p:sp>
      <p:cxnSp>
        <p:nvCxnSpPr>
          <p:cNvPr id="19" name="Connector 18"/>
          <p:cNvCxnSpPr/>
          <p:nvPr/>
        </p:nvCxnSpPr>
        <p:spPr>
          <a:xfrm>
            <a:off x="584200" y="43307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84200" y="45339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S5</a:t>
            </a:r>
          </a:p>
        </p:txBody>
      </p:sp>
      <p:sp>
        <p:nvSpPr>
          <p:cNvPr id="21" name="TextBox 20"/>
          <p:cNvSpPr txBox="1"/>
          <p:nvPr/>
        </p:nvSpPr>
        <p:spPr>
          <a:xfrm>
            <a:off x="1295400" y="44831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6"/>
              </a:rPr>
              <a:t>SquishTide | custom squishies</a:t>
            </a:r>
          </a:p>
        </p:txBody>
      </p:sp>
      <p:cxnSp>
        <p:nvCxnSpPr>
          <p:cNvPr id="22" name="Connector 21"/>
          <p:cNvCxnSpPr/>
          <p:nvPr/>
        </p:nvCxnSpPr>
        <p:spPr>
          <a:xfrm>
            <a:off x="584200" y="49022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51054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S6</a:t>
            </a:r>
          </a:p>
        </p:txBody>
      </p:sp>
      <p:sp>
        <p:nvSpPr>
          <p:cNvPr id="24" name="TextBox 23"/>
          <p:cNvSpPr txBox="1"/>
          <p:nvPr/>
        </p:nvSpPr>
        <p:spPr>
          <a:xfrm>
            <a:off x="1295400" y="50546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rPr>
              <a:t>Personal interview | near internship</a:t>
            </a:r>
          </a:p>
        </p:txBody>
      </p:sp>
      <p:sp>
        <p:nvSpPr>
          <p:cNvPr id="25" name="Rounded Rectangle 24"/>
          <p:cNvSpPr/>
          <p:nvPr/>
        </p:nvSpPr>
        <p:spPr>
          <a:xfrm>
            <a:off x="8001000" y="2070100"/>
            <a:ext cx="3606800" cy="3467100"/>
          </a:xfrm>
          <a:prstGeom prst="roundRect">
            <a:avLst>
              <a:gd name="adj" fmla="val 1831"/>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0" y="2362200"/>
            <a:ext cx="3124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TRY THE CONCEPT</a:t>
            </a:r>
          </a:p>
        </p:txBody>
      </p:sp>
      <p:pic>
        <p:nvPicPr>
          <p:cNvPr id="27" name="Picture 26" descr="product_gamepad.png"/>
          <p:cNvPicPr>
            <a:picLocks noChangeAspect="1"/>
          </p:cNvPicPr>
          <p:nvPr/>
        </p:nvPicPr>
        <p:blipFill>
          <a:blip r:embed="rId7"/>
          <a:srcRect t="0" b="0"/>
          <a:stretch>
            <a:fillRect/>
          </a:stretch>
        </p:blipFill>
        <p:spPr>
          <a:xfrm>
            <a:off x="8593666" y="2667000"/>
            <a:ext cx="2421466" cy="1816100"/>
          </a:xfrm>
          <a:prstGeom prst="rect">
            <a:avLst/>
          </a:prstGeom>
        </p:spPr>
      </p:pic>
      <p:sp>
        <p:nvSpPr>
          <p:cNvPr id="28" name="TextBox 27"/>
          <p:cNvSpPr txBox="1"/>
          <p:nvPr/>
        </p:nvSpPr>
        <p:spPr>
          <a:xfrm>
            <a:off x="8255000" y="4635500"/>
            <a:ext cx="3124200" cy="787400"/>
          </a:xfrm>
          <a:prstGeom prst="rect">
            <a:avLst/>
          </a:prstGeom>
          <a:noFill/>
        </p:spPr>
        <p:txBody>
          <a:bodyPr wrap="none" lIns="0" rIns="0" tIns="0" bIns="0" anchor="t">
            <a:spAutoFit/>
          </a:bodyPr>
          <a:lstStyle/>
          <a:p>
            <a:pPr>
              <a:lnSpc>
                <a:spcPts val="2700"/>
              </a:lnSpc>
              <a:spcBef>
                <a:spcPts val="0"/>
              </a:spcBef>
              <a:spcAft>
                <a:spcPts val="0"/>
              </a:spcAft>
            </a:pPr>
            <a:r>
              <a:rPr sz="2100" b="1" i="0">
                <a:solidFill>
                  <a:srgbClr val="392C42"/>
                </a:solidFill>
                <a:latin typeface="Arial"/>
                <a:hlinkClick r:id="rId8"/>
              </a:rPr>
              <a:t>blimmy.github.io/</a:t>
            </a:r>
          </a:p>
          <a:p>
            <a:pPr>
              <a:lnSpc>
                <a:spcPts val="2700"/>
              </a:lnSpc>
              <a:spcBef>
                <a:spcPts val="0"/>
              </a:spcBef>
              <a:spcAft>
                <a:spcPts val="0"/>
              </a:spcAft>
            </a:pPr>
            <a:r>
              <a:rPr sz="2100" b="1" i="0">
                <a:solidFill>
                  <a:srgbClr val="392C42"/>
                </a:solidFill>
                <a:latin typeface="Arial"/>
                <a:hlinkClick r:id="rId8"/>
              </a:rPr>
              <a:t>replay-lab/</a:t>
            </a:r>
          </a:p>
        </p:txBody>
      </p:sp>
      <p:sp>
        <p:nvSpPr>
          <p:cNvPr id="29" name="TextBox 28"/>
          <p:cNvSpPr txBox="1"/>
          <p:nvPr/>
        </p:nvSpPr>
        <p:spPr>
          <a:xfrm>
            <a:off x="584200" y="5918200"/>
            <a:ext cx="11049000" cy="303022"/>
          </a:xfrm>
          <a:prstGeom prst="rect">
            <a:avLst/>
          </a:prstGeom>
          <a:noFill/>
        </p:spPr>
        <p:txBody>
          <a:bodyPr wrap="none" lIns="0" rIns="0" tIns="0" bIns="0" anchor="t">
            <a:spAutoFit/>
          </a:bodyPr>
          <a:lstStyle/>
          <a:p>
            <a:pPr>
              <a:lnSpc>
                <a:spcPts val="1586"/>
              </a:lnSpc>
              <a:spcBef>
                <a:spcPts val="0"/>
              </a:spcBef>
              <a:spcAft>
                <a:spcPts val="0"/>
              </a:spcAft>
            </a:pPr>
            <a:r>
              <a:rPr sz="1300" b="0" i="0">
                <a:solidFill>
                  <a:srgbClr val="776C7B"/>
                </a:solidFill>
                <a:latin typeface="Arial"/>
              </a:rPr>
              <a:t>Original pixel artwork. Source links are clickable. Full evidence notes accompany the deck.</a:t>
            </a:r>
          </a:p>
        </p:txBody>
      </p:sp>
      <p:cxnSp>
        <p:nvCxnSpPr>
          <p:cNvPr id="30" name="Connector 2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Prototype activity is simulated. Initial informal interview included. The order-demo video is embedded on slide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REPLAY LAB — Childhood, remade.</dc:title>
  <dc:subject>Consumer in the Wild: Thailand Trend Watch</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