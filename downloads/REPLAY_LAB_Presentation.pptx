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 Spot the change</a:t>
            </a:r>
          </a:p>
          <a:p/>
          <a:p>
            <a:r>
              <a:t>NARRATION</a:t>
            </a:r>
          </a:p>
          <a:p>
            <a:r>
              <a:t>A toy can carry a memory. This project explores working adults in Thailand returning to squishies and slime. Could those memories support a more personal product? Meet REPLAY LAB.</a:t>
            </a:r>
          </a:p>
          <a:p/>
          <a:p>
            <a:r>
              <a:t>VISUAL CUE</a:t>
            </a:r>
          </a:p>
          <a:p>
            <a:r>
              <a:t>Open with the original pixel-art childhood desk. It illustrates the concept and is not fieldwork.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0:15–0:40 | Spot the change</a:t>
            </a:r>
          </a:p>
          <a:p/>
          <a:p>
            <a:r>
              <a:t>NARRATION</a:t>
            </a:r>
          </a:p>
          <a:p>
            <a:r>
              <a:t>Thai PBS World reported a toy revival at Sampheng in June twenty twenty-six. A vendor described working adults buying toys they had wanted as children but could not afford. Social reviews brought the toys back into view. This is a local signal, not a measure of the whole Thai market.</a:t>
            </a:r>
          </a:p>
          <a:p/>
          <a:p>
            <a:r>
              <a:t>VISUAL CUE</a:t>
            </a:r>
          </a:p>
          <a:p>
            <a:r>
              <a:t>Show the dated Sampheng account, then the change in the buyer’s situation. Source S1.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0:40–1:00 | Spot the change</a:t>
            </a:r>
          </a:p>
          <a:p/>
          <a:p>
            <a:r>
              <a:t>NARRATION</a:t>
            </a:r>
          </a:p>
          <a:p>
            <a:r>
              <a:t>Original fieldwork is still pending. Thairath’s Mega Plaza visit mainly found children and teenagers, so I need to confirm adult buyers directly. My questionnaire asks about actual purchases, childhood memories and social discovery before introducing REPLAY LAB.</a:t>
            </a:r>
          </a:p>
          <a:p/>
          <a:p>
            <a:r>
              <a:t>VISUAL CUE</a:t>
            </a:r>
          </a:p>
          <a:p>
            <a:r>
              <a:t>Replace the pending panel with your dated photo, actual interview counts and one consented quote. The second report is not personal evidence. S2.</a:t>
            </a:r>
          </a:p>
          <a:p/>
          <a:p>
            <a:r>
              <a:t>REPLACE AFTER REAL FIELDWORK:</a:t>
            </a:r>
          </a:p>
          <a:p>
            <a:r>
              <a:t>On [DATE], I visited [N] shops in [PLACE] and interviewed [N] working-adult buyers. [X] mentioned childhood memories; [Y] mentioned online reviews. One said, [EXACT QUOTE]. This small convenience sample [supports / complicates] the reported pattern.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1:00–1:30 | Explain the consumer</a:t>
            </a:r>
          </a:p>
          <a:p/>
          <a:p>
            <a:r>
              <a:t>NARRATION</a:t>
            </a:r>
          </a:p>
          <a:p>
            <a:r>
              <a:t>Emotional motivation explains why a familiar toy can matter beyond its practical use. In the Sampheng account, adult income makes a childhood wish possible. My interpretation is that the purchase combines enjoyment, memory and personal choice. REPLAY LAB builds on this meaning by inviting buyers to contribute a childhood theme. Whether they would pay more still needs testing.</a:t>
            </a:r>
          </a:p>
          <a:p/>
          <a:p>
            <a:r>
              <a:t>VISUAL CUE</a:t>
            </a:r>
          </a:p>
          <a:p>
            <a:r>
              <a:t>Separate the source account from the interpretation. Use the pixel pencil case and game console as original concept objects. S1.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1:30–2:05 | Explain the consumer</a:t>
            </a:r>
          </a:p>
          <a:p/>
          <a:p>
            <a:r>
              <a:t>NARRATION</a:t>
            </a:r>
          </a:p>
          <a:p>
            <a:r>
              <a:t>Social influence helps explain rediscovery. Thai PBS World links renewed attention to influencer and celebrity reviews. Seeing other adults enjoying toys may also make buying feel more acceptable. But discovery and motivation differ: a review may attract attention while a memory explains the spending. Shared designs could spread REPLAY LAB, but a vote or shared link is not a paid order.</a:t>
            </a:r>
          </a:p>
          <a:p/>
          <a:p>
            <a:r>
              <a:t>VISUAL CUE</a:t>
            </a:r>
          </a:p>
          <a:p>
            <a:r>
              <a:t>Show reported discovery, interpreted motivation and the proposed sharing feature as separate stages. Avoid invented view totals or social proof. S1.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2:05–2:25 | Find the opportunity</a:t>
            </a:r>
          </a:p>
          <a:p/>
          <a:p>
            <a:r>
              <a:t>NARRATION</a:t>
            </a:r>
          </a:p>
          <a:p>
            <a:r>
              <a:t>Thairath describes slow rebound, scents and nostalgic interest. REPLAY LAB combines sensory choice with childhood themes: a pencil case, star sticker or old game controller. A small range of shared shapes keeps production manageable.</a:t>
            </a:r>
          </a:p>
          <a:p/>
          <a:p>
            <a:r>
              <a:t>VISUAL CUE</a:t>
            </a:r>
          </a:p>
          <a:p>
            <a:r>
              <a:t>Show example original designs. These are proposed themes, not observed customer preferences. S2 supports the sensory product context.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2:25–3:00 | Find the opportunity</a:t>
            </a:r>
          </a:p>
          <a:p/>
          <a:p>
            <a:r>
              <a:t>NARRATION</a:t>
            </a:r>
          </a:p>
          <a:p>
            <a:r>
              <a:t>Here is the website demo. Choose squishy or slime, adjust colours and sensory options, then add a name and memory. Save the design or share its appearance. In the proposed business, selected themes become small collections. Pre-orders would open after supplier costs and samples are checked. Production begins only when the minimum batch is met; otherwise buyers receive refunds. This demo takes no payments.</a:t>
            </a:r>
          </a:p>
          <a:p/>
          <a:p>
            <a:r>
              <a:t>VISUAL CUE</a:t>
            </a:r>
          </a:p>
          <a:p>
            <a:r>
              <a:t>Show the actual studio screenshot or record the live designer while speaking. Demonstrate colour, save and share inside this segment; do not add a separate demo. Memory text is excluded from share links. Reservations are simulated.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3:00–3:20 | Find the opportunity</a:t>
            </a:r>
          </a:p>
          <a:p/>
          <a:p>
            <a:r>
              <a:t>NARRATION</a:t>
            </a:r>
          </a:p>
          <a:p>
            <a:r>
              <a:t>Custom squishies already exist. Our proposed difference combines shared Thai childhood memories, adult desk use and collections chosen with customers. Revenue comes from product sales. Shared shapes limit complexity while colours, names and memory cards add personal meaning.</a:t>
            </a:r>
          </a:p>
          <a:p/>
          <a:p>
            <a:r>
              <a:t>VISUAL CUE</a:t>
            </a:r>
          </a:p>
          <a:p>
            <a:r>
              <a:t>Show the shared-shape versus personal-detail diagram. Cite S5 for existing custom squishies; do not claim to be the first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3:20–3:55 | Evaluate the opportunity</a:t>
            </a:r>
          </a:p>
          <a:p/>
          <a:p>
            <a:r>
              <a:t>NARRATION</a:t>
            </a:r>
          </a:p>
          <a:p>
            <a:r>
              <a:t>Three risks matter. Customers may prefer a cheaper ready-made toy. Custom options can increase mistakes, delays and costs. Nostalgia may also prompt only one purchase. Quality needs attention: the consumer protection office reported incomplete labels at some Mega Plaza sellers in June. Before real orders, the business needs approved samples, clear product information, realistic delivery dates and workable refunds.</a:t>
            </a:r>
          </a:p>
          <a:p/>
          <a:p>
            <a:r>
              <a:t>VISUAL CUE</a:t>
            </a:r>
          </a:p>
          <a:p>
            <a:r>
              <a:t>Use the three decision rows plus the specific OCPB example. S4 concerns some sellers, not all products.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3:55–4:25 | Evaluate the opportunity</a:t>
            </a:r>
          </a:p>
          <a:p/>
          <a:p>
            <a:r>
              <a:t>NARRATION</a:t>
            </a:r>
          </a:p>
          <a:p>
            <a:r>
              <a:t>The numbers on this slide are assumptions. At a price of three hundred forty-nine baht and variable cost of one hundred ninety-nine, contribution is one hundred fifty baht. A setup cost of four thousand five hundred requires thirty units. The actual threshold must also meet the supplier’s minimum quantity. Include all costs and test willingness to pay before production.</a:t>
            </a:r>
          </a:p>
          <a:p/>
          <a:p>
            <a:r>
              <a:t>VISUAL CUE</a:t>
            </a:r>
          </a:p>
          <a:p>
            <a:r>
              <a:t>Show the threshold formula and distinguish demo activity from evidence. Do not present the demo counter as market demand.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4:25–4:45 | Evaluate the opportunity</a:t>
            </a:r>
          </a:p>
          <a:p/>
          <a:p>
            <a:r>
              <a:t>NARRATION</a:t>
            </a:r>
          </a:p>
          <a:p>
            <a:r>
              <a:t>Start with one collection. Continue only if working adults prefer the concept at a viable price, the supplier delivers consistent quality, and the batch covers its costs. Use the questionnaire to find weaknesses as carefully as enthusiasm.</a:t>
            </a:r>
          </a:p>
          <a:p/>
          <a:p>
            <a:r>
              <a:t>VISUAL CUE</a:t>
            </a:r>
          </a:p>
          <a:p>
            <a:r>
              <a:t>Close on the three pilot gates. If demonstrating the website live, include that time inside the five-minute limit.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4:45–4:50 | Credits</a:t>
            </a:r>
          </a:p>
          <a:p/>
          <a:p>
            <a:r>
              <a:t>NARRATION</a:t>
            </a:r>
          </a:p>
          <a:p/>
          <a:p/>
          <a:p>
            <a:r>
              <a:t>VISUAL CUE</a:t>
            </a:r>
          </a:p>
          <a:p>
            <a:r>
              <a:t>Silent source card. Slide 13 is a hidden canvas appendix and is outside the video runtime.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appendix. Adapted from TrendWatching; exclude from five-minute video. Original fieldwork pending.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aipbsworld.com/economy/social-media-driven-%E2%80%98squishy%E2%80%99-and-%E2%80%98slime%E2%80%99-craze-sparks-retail-boom-at-sampheng-market"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thairath.co.th/scoop/interview/2940686"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aipbsworld.com/economy/social-media-driven-%E2%80%98squishy%E2%80%99-and-%E2%80%98slime%E2%80%99-craze-sparks-retail-boom-at-sampheng-market"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aipbsworld.com/economy/social-media-driven-%E2%80%98squishy%E2%80%99-and-%E2%80%98slime%E2%80%99-craze-sparks-retail-boom-at-sampheng-market"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n.thairath.co.th/scoop/interview/2940686"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blimmy.github.io/replay-lab/"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quishtide.com/"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cpb.go.th/news_view_plan.php?nid=18044"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blimmy.github.io/replay-lab/"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haipbsworld.com/economy/social-media-driven-%E2%80%98squishy%E2%80%99-and-%E2%80%98slime%E2%80%99-craze-sparks-retail-boom-at-sampheng-market" TargetMode="External"/><Relationship Id="rId3" Type="http://schemas.openxmlformats.org/officeDocument/2006/relationships/hyperlink" Target="https://en.thairath.co.th/scoop/interview/2940686" TargetMode="External"/><Relationship Id="rId4" Type="http://schemas.openxmlformats.org/officeDocument/2006/relationships/hyperlink" Target="https://www.trendwatching.com/toolbox/consumer-trend-canvas/examples/acclimators" TargetMode="External"/><Relationship Id="rId5" Type="http://schemas.openxmlformats.org/officeDocument/2006/relationships/hyperlink" Target="https://www.ocpb.go.th/news_view_plan.php?nid=18044" TargetMode="External"/><Relationship Id="rId6" Type="http://schemas.openxmlformats.org/officeDocument/2006/relationships/hyperlink" Target="https://squishtide.com/" TargetMode="Externa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rendwatching.com/toolbox/consumer-trend-canvas/examples/acclimators" TargetMode="External"/><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93700" y="279400"/>
            <a:ext cx="3200400" cy="349250"/>
          </a:xfrm>
          <a:prstGeom prst="rect">
            <a:avLst/>
          </a:prstGeom>
          <a:noFill/>
        </p:spPr>
        <p:txBody>
          <a:bodyPr wrap="none" lIns="0" rIns="0" tIns="0" bIns="0" anchor="t">
            <a:spAutoFit/>
          </a:bodyPr>
          <a:lstStyle/>
          <a:p>
            <a:pPr>
              <a:lnSpc>
                <a:spcPts val="1950"/>
              </a:lnSpc>
              <a:spcBef>
                <a:spcPts val="0"/>
              </a:spcBef>
              <a:spcAft>
                <a:spcPts val="0"/>
              </a:spcAft>
            </a:pPr>
            <a:r>
              <a:rPr sz="1300" b="0" i="0">
                <a:solidFill>
                  <a:srgbClr val="57445E"/>
                </a:solidFill>
                <a:latin typeface="Press Start 2P"/>
              </a:rPr>
              <a:t>REPLAY LAB</a:t>
            </a:r>
          </a:p>
        </p:txBody>
      </p:sp>
      <p:sp>
        <p:nvSpPr>
          <p:cNvPr id="4" name="TextBox 3"/>
          <p:cNvSpPr txBox="1"/>
          <p:nvPr/>
        </p:nvSpPr>
        <p:spPr>
          <a:xfrm>
            <a:off x="7302500" y="279400"/>
            <a:ext cx="4470400" cy="272034"/>
          </a:xfrm>
          <a:prstGeom prst="rect">
            <a:avLst/>
          </a:prstGeom>
          <a:noFill/>
        </p:spPr>
        <p:txBody>
          <a:bodyPr wrap="none" lIns="0" rIns="0" tIns="0" bIns="0" anchor="t">
            <a:spAutoFit/>
          </a:bodyPr>
          <a:lstStyle/>
          <a:p>
            <a:pPr>
              <a:lnSpc>
                <a:spcPts val="1342"/>
              </a:lnSpc>
              <a:spcBef>
                <a:spcPts val="0"/>
              </a:spcBef>
              <a:spcAft>
                <a:spcPts val="0"/>
              </a:spcAft>
            </a:pPr>
            <a:r>
              <a:rPr sz="1100" b="1" i="0">
                <a:solidFill>
                  <a:srgbClr val="57445E"/>
                </a:solidFill>
                <a:latin typeface="Arial"/>
              </a:rPr>
              <a:t>THAILAND TREND WATCH / 2026</a:t>
            </a:r>
          </a:p>
        </p:txBody>
      </p:sp>
      <p:sp>
        <p:nvSpPr>
          <p:cNvPr id="5" name="TextBox 4"/>
          <p:cNvSpPr txBox="1"/>
          <p:nvPr/>
        </p:nvSpPr>
        <p:spPr>
          <a:xfrm>
            <a:off x="533400" y="1397000"/>
            <a:ext cx="5943600" cy="1282700"/>
          </a:xfrm>
          <a:prstGeom prst="rect">
            <a:avLst/>
          </a:prstGeom>
          <a:noFill/>
        </p:spPr>
        <p:txBody>
          <a:bodyPr wrap="none" lIns="0" rIns="0" tIns="0" bIns="0" anchor="t">
            <a:spAutoFit/>
          </a:bodyPr>
          <a:lstStyle/>
          <a:p>
            <a:pPr>
              <a:lnSpc>
                <a:spcPts val="4650"/>
              </a:lnSpc>
              <a:spcBef>
                <a:spcPts val="0"/>
              </a:spcBef>
              <a:spcAft>
                <a:spcPts val="0"/>
              </a:spcAft>
            </a:pPr>
            <a:r>
              <a:rPr sz="3100" b="0" i="0">
                <a:solidFill>
                  <a:srgbClr val="57445E"/>
                </a:solidFill>
                <a:latin typeface="Press Start 2P"/>
              </a:rPr>
              <a:t>CHILDHOOD,</a:t>
            </a:r>
          </a:p>
          <a:p>
            <a:pPr>
              <a:lnSpc>
                <a:spcPts val="4650"/>
              </a:lnSpc>
              <a:spcBef>
                <a:spcPts val="0"/>
              </a:spcBef>
              <a:spcAft>
                <a:spcPts val="0"/>
              </a:spcAft>
            </a:pPr>
            <a:r>
              <a:rPr sz="3100" b="0" i="0">
                <a:solidFill>
                  <a:srgbClr val="57445E"/>
                </a:solidFill>
                <a:latin typeface="Press Start 2P"/>
              </a:rPr>
              <a:t>REMADE.</a:t>
            </a:r>
          </a:p>
        </p:txBody>
      </p:sp>
      <p:sp>
        <p:nvSpPr>
          <p:cNvPr id="6" name="TextBox 5"/>
          <p:cNvSpPr txBox="1"/>
          <p:nvPr/>
        </p:nvSpPr>
        <p:spPr>
          <a:xfrm>
            <a:off x="558800" y="2984500"/>
            <a:ext cx="5854700" cy="965200"/>
          </a:xfrm>
          <a:prstGeom prst="rect">
            <a:avLst/>
          </a:prstGeom>
          <a:noFill/>
        </p:spPr>
        <p:txBody>
          <a:bodyPr wrap="none" lIns="0" rIns="0" tIns="0" bIns="0" anchor="t">
            <a:spAutoFit/>
          </a:bodyPr>
          <a:lstStyle/>
          <a:p>
            <a:pPr>
              <a:lnSpc>
                <a:spcPts val="3400"/>
              </a:lnSpc>
              <a:spcBef>
                <a:spcPts val="0"/>
              </a:spcBef>
              <a:spcAft>
                <a:spcPts val="0"/>
              </a:spcAft>
            </a:pPr>
            <a:r>
              <a:rPr sz="2500" b="0" i="0">
                <a:solidFill>
                  <a:srgbClr val="57445E"/>
                </a:solidFill>
                <a:latin typeface="Arial"/>
              </a:rPr>
              <a:t>Squishies, slime and</a:t>
            </a:r>
          </a:p>
          <a:p>
            <a:pPr>
              <a:lnSpc>
                <a:spcPts val="3400"/>
              </a:lnSpc>
              <a:spcBef>
                <a:spcPts val="0"/>
              </a:spcBef>
              <a:spcAft>
                <a:spcPts val="0"/>
              </a:spcAft>
            </a:pPr>
            <a:r>
              <a:rPr sz="2500" b="0" i="0">
                <a:solidFill>
                  <a:srgbClr val="57445E"/>
                </a:solidFill>
                <a:latin typeface="Arial"/>
              </a:rPr>
              <a:t>the return to a familiar feeling.</a:t>
            </a:r>
          </a:p>
        </p:txBody>
      </p:sp>
      <p:sp>
        <p:nvSpPr>
          <p:cNvPr id="7" name="Rectangle 6"/>
          <p:cNvSpPr/>
          <p:nvPr/>
        </p:nvSpPr>
        <p:spPr>
          <a:xfrm>
            <a:off x="609600" y="4521200"/>
            <a:ext cx="5473700" cy="12573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6100" y="4457700"/>
            <a:ext cx="5473700" cy="12573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4700" y="4660900"/>
            <a:ext cx="5029200" cy="1054100"/>
          </a:xfrm>
          <a:prstGeom prst="rect">
            <a:avLst/>
          </a:prstGeom>
          <a:noFill/>
        </p:spPr>
        <p:txBody>
          <a:bodyPr wrap="none" lIns="0" rIns="0" tIns="0" bIns="0" anchor="t">
            <a:spAutoFit/>
          </a:bodyPr>
          <a:lstStyle/>
          <a:p>
            <a:pPr>
              <a:lnSpc>
                <a:spcPts val="2500"/>
              </a:lnSpc>
              <a:spcBef>
                <a:spcPts val="0"/>
              </a:spcBef>
              <a:spcAft>
                <a:spcPts val="0"/>
              </a:spcAft>
            </a:pPr>
            <a:r>
              <a:rPr sz="2100" b="1" i="0">
                <a:solidFill>
                  <a:srgbClr val="57445E"/>
                </a:solidFill>
                <a:latin typeface="Arial"/>
              </a:rPr>
              <a:t>A consumer insight.</a:t>
            </a:r>
          </a:p>
          <a:p>
            <a:pPr>
              <a:lnSpc>
                <a:spcPts val="2500"/>
              </a:lnSpc>
              <a:spcBef>
                <a:spcPts val="0"/>
              </a:spcBef>
              <a:spcAft>
                <a:spcPts val="0"/>
              </a:spcAft>
            </a:pPr>
            <a:r>
              <a:rPr sz="2100" b="1" i="0">
                <a:solidFill>
                  <a:srgbClr val="57445E"/>
                </a:solidFill>
                <a:latin typeface="Arial"/>
              </a:rPr>
              <a:t>A co-designed collection.</a:t>
            </a:r>
          </a:p>
          <a:p>
            <a:pPr>
              <a:lnSpc>
                <a:spcPts val="2500"/>
              </a:lnSpc>
              <a:spcBef>
                <a:spcPts val="0"/>
              </a:spcBef>
              <a:spcAft>
                <a:spcPts val="0"/>
              </a:spcAft>
            </a:pPr>
            <a:r>
              <a:rPr sz="2100" b="1" i="0">
                <a:solidFill>
                  <a:srgbClr val="57445E"/>
                </a:solidFill>
                <a:latin typeface="Arial"/>
              </a:rPr>
              <a:t>A business case to test.</a:t>
            </a:r>
          </a:p>
        </p:txBody>
      </p:sp>
      <p:sp>
        <p:nvSpPr>
          <p:cNvPr id="10" name="Rectangle 9"/>
          <p:cNvSpPr/>
          <p:nvPr/>
        </p:nvSpPr>
        <p:spPr>
          <a:xfrm>
            <a:off x="6553200" y="1193800"/>
            <a:ext cx="5118100" cy="4749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7000" y="1117600"/>
            <a:ext cx="5118100" cy="47498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77000" y="1117600"/>
            <a:ext cx="5118100" cy="3683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1244600"/>
            <a:ext cx="40894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AFTER SCHOOL</a:t>
            </a:r>
          </a:p>
        </p:txBody>
      </p:sp>
      <p:sp>
        <p:nvSpPr>
          <p:cNvPr id="14" name="Rectangle 13"/>
          <p:cNvSpPr/>
          <p:nvPr/>
        </p:nvSpPr>
        <p:spPr>
          <a:xfrm>
            <a:off x="11087100" y="12446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90300" y="12446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80200" y="1689100"/>
            <a:ext cx="4711700" cy="3975100"/>
          </a:xfrm>
          <a:prstGeom prst="rect">
            <a:avLst/>
          </a:prstGeom>
          <a:solidFill>
            <a:srgbClr val="F8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680200" y="17272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680200" y="20320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680200" y="23368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80200" y="26416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680200" y="29464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80200" y="32512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680200" y="35560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680200" y="38608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80200" y="41656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680200" y="44704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680200" y="4775200"/>
            <a:ext cx="4711700" cy="0"/>
          </a:xfrm>
          <a:prstGeom prst="line">
            <a:avLst/>
          </a:prstGeom>
          <a:ln w="12700">
            <a:solidFill>
              <a:srgbClr val="F2D9E5"/>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985000" y="2032000"/>
            <a:ext cx="952500" cy="11430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64400" y="1917700"/>
            <a:ext cx="393700" cy="1524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26300" y="2273300"/>
            <a:ext cx="1016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31100" y="2273300"/>
            <a:ext cx="1016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175500" y="23241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26300" y="2324100"/>
            <a:ext cx="1016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327900" y="23241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80300" y="23241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31100" y="2324100"/>
            <a:ext cx="1016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32700" y="23241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124700" y="23749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175500" y="2374900"/>
            <a:ext cx="2032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78700" y="2374900"/>
            <a:ext cx="1016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80300" y="2374900"/>
            <a:ext cx="2032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83500" y="23749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24700" y="24257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75500" y="2425700"/>
            <a:ext cx="5080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83500" y="24257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175500" y="24765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226300" y="2476500"/>
            <a:ext cx="4064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32700" y="24765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226300" y="25273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277100" y="2527300"/>
            <a:ext cx="3048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81900" y="25273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277100" y="25781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27900" y="2578100"/>
            <a:ext cx="2032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531100" y="25781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327900" y="26289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378700" y="2628900"/>
            <a:ext cx="101600" cy="508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480300" y="2628900"/>
            <a:ext cx="508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378700" y="2679700"/>
            <a:ext cx="101600" cy="50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652000" y="1943100"/>
            <a:ext cx="1422400" cy="1498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728200" y="2019300"/>
            <a:ext cx="1270000" cy="13462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337800" y="2019300"/>
            <a:ext cx="63500" cy="1346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728200" y="2641600"/>
            <a:ext cx="1270000" cy="6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579100" y="2184400"/>
            <a:ext cx="215900" cy="2159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819900" y="4711700"/>
            <a:ext cx="4432300" cy="177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819900" y="4889500"/>
            <a:ext cx="4432300" cy="203200"/>
          </a:xfrm>
          <a:prstGeom prst="rect">
            <a:avLst/>
          </a:prstGeom>
          <a:solidFill>
            <a:srgbClr val="DD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997700" y="5092700"/>
            <a:ext cx="152400" cy="533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934700" y="5092700"/>
            <a:ext cx="152400" cy="533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505700" y="32004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7404100" y="3302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7505700" y="3302000"/>
            <a:ext cx="10160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521700" y="3302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404100" y="34036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505700" y="34036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607300" y="3403600"/>
            <a:ext cx="812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420100" y="34036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521700" y="34036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404100" y="35052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7505700" y="35052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607300" y="35052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08900" y="3505200"/>
            <a:ext cx="609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318500" y="35052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420100" y="35052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21700" y="35052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7404100" y="3606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505700" y="36068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607300" y="36068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7708900" y="3606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810500" y="36068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216900" y="3606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318500" y="36068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420100" y="36068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521700" y="3606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404100" y="37084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505700" y="37084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607300" y="37084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708900" y="37084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810500" y="37084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216900" y="37084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318500" y="37084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8420100" y="37084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521700" y="37084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404100" y="3810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7505700" y="38100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607300" y="38100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708900" y="3810000"/>
            <a:ext cx="609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318500" y="38100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420100" y="38100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521700" y="3810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7404100" y="39116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505700" y="39116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7607300" y="3911600"/>
            <a:ext cx="812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8420100" y="39116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8521700" y="39116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7404100" y="40132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7505700" y="4013200"/>
            <a:ext cx="10160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521700" y="40132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404100" y="4114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505700" y="41148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810500" y="4114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7912100" y="41148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216900" y="4114800"/>
            <a:ext cx="101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318500" y="4114800"/>
            <a:ext cx="2032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521700" y="41148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404100" y="42164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7505700" y="4216400"/>
            <a:ext cx="2032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7708900" y="42164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8013700" y="42164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8115300" y="4216400"/>
            <a:ext cx="101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8216900" y="42164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8521700" y="42164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404100" y="4318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505700" y="43180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7810500" y="4318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7912100" y="4318000"/>
            <a:ext cx="609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8521700" y="43180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7404100" y="44196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7505700" y="4419600"/>
            <a:ext cx="10160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8521700" y="44196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404100" y="45212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7505700" y="4521200"/>
            <a:ext cx="4064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7912100" y="45212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216900" y="4521200"/>
            <a:ext cx="2032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420100" y="45212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505700" y="46228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804400" y="3314700"/>
            <a:ext cx="812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702800" y="3416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9804400" y="3416300"/>
            <a:ext cx="812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0617200" y="3416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702800" y="35179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9804400" y="3619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9906000" y="3619500"/>
            <a:ext cx="609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515600" y="3619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702800" y="3721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804400" y="3721100"/>
            <a:ext cx="8128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0617200" y="3721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9601200" y="3822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702800" y="3822700"/>
            <a:ext cx="3048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0007600" y="3822700"/>
            <a:ext cx="2032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210800" y="3822700"/>
            <a:ext cx="5080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718800" y="3822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9601200" y="3924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9702800" y="3924300"/>
            <a:ext cx="2032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906000" y="3924300"/>
            <a:ext cx="1016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0007600" y="3924300"/>
            <a:ext cx="2032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0210800" y="3924300"/>
            <a:ext cx="1016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0312400" y="3924300"/>
            <a:ext cx="4064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0718800" y="3924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601200" y="4025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9702800" y="4025900"/>
            <a:ext cx="10160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718800" y="4025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9601200" y="4127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9702800" y="4127500"/>
            <a:ext cx="2032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906000" y="41275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0210800" y="4127500"/>
            <a:ext cx="101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0312400" y="41275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10617200" y="4127500"/>
            <a:ext cx="101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10718800" y="4127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9601200" y="4229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9702800" y="4229100"/>
            <a:ext cx="3048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10007600" y="4229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10109200" y="4229100"/>
            <a:ext cx="5080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0617200" y="4229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9601200" y="4330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9702800" y="4330700"/>
            <a:ext cx="4064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109200" y="43307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312400" y="4330700"/>
            <a:ext cx="4064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0718800" y="4330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9601200" y="4432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9702800" y="4432300"/>
            <a:ext cx="10160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0718800" y="4432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9702800" y="4533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9804400" y="4533900"/>
            <a:ext cx="7112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10515600" y="45339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9804400" y="4635500"/>
            <a:ext cx="812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9055100" y="4381500"/>
            <a:ext cx="495300" cy="3302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9118600" y="3873500"/>
            <a:ext cx="63500" cy="508000"/>
          </a:xfrm>
          <a:prstGeom prst="rect">
            <a:avLst/>
          </a:prstGeom>
          <a:solidFill>
            <a:srgbClr val="F5BCC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9245600" y="3873500"/>
            <a:ext cx="63500" cy="508000"/>
          </a:xfrm>
          <a:prstGeom prst="rect">
            <a:avLst/>
          </a:prstGeom>
          <a:solidFill>
            <a:srgbClr val="C4E3F4"/>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9372600" y="3873500"/>
            <a:ext cx="63500" cy="508000"/>
          </a:xfrm>
          <a:prstGeom prst="rect">
            <a:avLst/>
          </a:prstGeom>
          <a:solidFill>
            <a:srgbClr val="CBE7D7"/>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9" name="Connector 198"/>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rPr>
              <a:t>Original pixel illustration / Concept demo and fieldwork preparation; no collected buyer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01 / SPOT THE CHANGE</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02</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Old toys. New spending power.</a:t>
            </a:r>
          </a:p>
        </p:txBody>
      </p:sp>
      <p:sp>
        <p:nvSpPr>
          <p:cNvPr id="8" name="Rectangle 7"/>
          <p:cNvSpPr/>
          <p:nvPr/>
        </p:nvSpPr>
        <p:spPr>
          <a:xfrm>
            <a:off x="622300" y="2095500"/>
            <a:ext cx="6337300" cy="38100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19300"/>
            <a:ext cx="6337300" cy="38100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019300"/>
            <a:ext cx="6337300" cy="368300"/>
          </a:xfrm>
          <a:prstGeom prst="rect">
            <a:avLst/>
          </a:prstGeom>
          <a:solidFill>
            <a:srgbClr val="C4E3F4"/>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146300"/>
            <a:ext cx="53086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EVIDENCE / SAMPHENG</a:t>
            </a:r>
          </a:p>
        </p:txBody>
      </p:sp>
      <p:sp>
        <p:nvSpPr>
          <p:cNvPr id="12" name="Rectangle 11"/>
          <p:cNvSpPr/>
          <p:nvPr/>
        </p:nvSpPr>
        <p:spPr>
          <a:xfrm>
            <a:off x="6375400" y="21463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78600" y="21463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 y="2654300"/>
            <a:ext cx="57404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25 JUN 2026</a:t>
            </a:r>
          </a:p>
        </p:txBody>
      </p:sp>
      <p:sp>
        <p:nvSpPr>
          <p:cNvPr id="15" name="TextBox 14"/>
          <p:cNvSpPr txBox="1"/>
          <p:nvPr/>
        </p:nvSpPr>
        <p:spPr>
          <a:xfrm>
            <a:off x="800100" y="3187700"/>
            <a:ext cx="5740400" cy="1041400"/>
          </a:xfrm>
          <a:prstGeom prst="rect">
            <a:avLst/>
          </a:prstGeom>
          <a:noFill/>
        </p:spPr>
        <p:txBody>
          <a:bodyPr wrap="none" lIns="0" rIns="0" tIns="0" bIns="0" anchor="t">
            <a:spAutoFit/>
          </a:bodyPr>
          <a:lstStyle/>
          <a:p>
            <a:pPr>
              <a:lnSpc>
                <a:spcPts val="3700"/>
              </a:lnSpc>
              <a:spcBef>
                <a:spcPts val="0"/>
              </a:spcBef>
              <a:spcAft>
                <a:spcPts val="0"/>
              </a:spcAft>
            </a:pPr>
            <a:r>
              <a:rPr sz="3000" b="1" i="0">
                <a:solidFill>
                  <a:srgbClr val="57445E"/>
                </a:solidFill>
                <a:latin typeface="Arial"/>
              </a:rPr>
              <a:t>Working adults return</a:t>
            </a:r>
          </a:p>
          <a:p>
            <a:pPr>
              <a:lnSpc>
                <a:spcPts val="3700"/>
              </a:lnSpc>
              <a:spcBef>
                <a:spcPts val="0"/>
              </a:spcBef>
              <a:spcAft>
                <a:spcPts val="0"/>
              </a:spcAft>
            </a:pPr>
            <a:r>
              <a:rPr sz="3000" b="1" i="0">
                <a:solidFill>
                  <a:srgbClr val="57445E"/>
                </a:solidFill>
                <a:latin typeface="Arial"/>
              </a:rPr>
              <a:t>to childhood wishes.</a:t>
            </a:r>
          </a:p>
        </p:txBody>
      </p:sp>
      <p:sp>
        <p:nvSpPr>
          <p:cNvPr id="16" name="TextBox 15"/>
          <p:cNvSpPr txBox="1"/>
          <p:nvPr/>
        </p:nvSpPr>
        <p:spPr>
          <a:xfrm>
            <a:off x="800100" y="4419600"/>
            <a:ext cx="5689600" cy="787400"/>
          </a:xfrm>
          <a:prstGeom prst="rect">
            <a:avLst/>
          </a:prstGeom>
          <a:noFill/>
        </p:spPr>
        <p:txBody>
          <a:bodyPr wrap="none" lIns="0" rIns="0" tIns="0" bIns="0" anchor="t">
            <a:spAutoFit/>
          </a:bodyPr>
          <a:lstStyle/>
          <a:p>
            <a:pPr>
              <a:lnSpc>
                <a:spcPts val="2700"/>
              </a:lnSpc>
              <a:spcBef>
                <a:spcPts val="0"/>
              </a:spcBef>
              <a:spcAft>
                <a:spcPts val="0"/>
              </a:spcAft>
            </a:pPr>
            <a:r>
              <a:rPr sz="2100" b="0" i="0">
                <a:solidFill>
                  <a:srgbClr val="57445E"/>
                </a:solidFill>
                <a:latin typeface="Arial"/>
              </a:rPr>
              <a:t>A vendor described buyers using their own</a:t>
            </a:r>
          </a:p>
          <a:p>
            <a:pPr>
              <a:lnSpc>
                <a:spcPts val="2700"/>
              </a:lnSpc>
              <a:spcBef>
                <a:spcPts val="0"/>
              </a:spcBef>
              <a:spcAft>
                <a:spcPts val="0"/>
              </a:spcAft>
            </a:pPr>
            <a:r>
              <a:rPr sz="2100" b="0" i="0">
                <a:solidFill>
                  <a:srgbClr val="57445E"/>
                </a:solidFill>
                <a:latin typeface="Arial"/>
              </a:rPr>
              <a:t>income to buy toys they once wanted.</a:t>
            </a:r>
          </a:p>
        </p:txBody>
      </p:sp>
      <p:sp>
        <p:nvSpPr>
          <p:cNvPr id="17" name="Rectangle 16"/>
          <p:cNvSpPr/>
          <p:nvPr/>
        </p:nvSpPr>
        <p:spPr>
          <a:xfrm>
            <a:off x="8458200" y="2235200"/>
            <a:ext cx="15240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05800" y="2387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58200" y="2387600"/>
            <a:ext cx="15240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982200" y="2387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05800" y="25400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58200" y="25400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10600" y="2540000"/>
            <a:ext cx="12192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829800" y="25400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982200" y="25400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05800" y="26924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58200" y="26924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10600" y="26924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763000" y="2692400"/>
            <a:ext cx="914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677400" y="26924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829800" y="26924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982200" y="26924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305800" y="2844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58200" y="28448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610600" y="28448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763000" y="2844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15400" y="2844800"/>
            <a:ext cx="609600" cy="1524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525000" y="2844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677400" y="28448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29800" y="28448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82200" y="2844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305800" y="29972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458200" y="29972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10600" y="29972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763000" y="29972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15400" y="2997200"/>
            <a:ext cx="609600" cy="1524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525000" y="29972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677400" y="29972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829800" y="29972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982200" y="29972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305800" y="3149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58200" y="31496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610600" y="31496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63000" y="3149600"/>
            <a:ext cx="914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677400" y="3149600"/>
            <a:ext cx="1524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829800" y="31496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982200" y="3149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05800" y="33020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458200" y="33020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610600" y="3302000"/>
            <a:ext cx="1219200" cy="1524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829800" y="33020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982200" y="33020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305800" y="34544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458200" y="3454400"/>
            <a:ext cx="15240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982200" y="34544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305800" y="3606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458200" y="3606800"/>
            <a:ext cx="4572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915400" y="3606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067800" y="3606800"/>
            <a:ext cx="4572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525000" y="3606800"/>
            <a:ext cx="152400" cy="1524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677400" y="3606800"/>
            <a:ext cx="3048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982200" y="36068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305800" y="37592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8458200" y="3759200"/>
            <a:ext cx="3048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763000" y="3759200"/>
            <a:ext cx="4572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220200" y="3759200"/>
            <a:ext cx="152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372600" y="3759200"/>
            <a:ext cx="152400" cy="1524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25000" y="3759200"/>
            <a:ext cx="4572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982200" y="37592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305800" y="3911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458200" y="3911600"/>
            <a:ext cx="4572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915400" y="3911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067800" y="3911600"/>
            <a:ext cx="9144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982200" y="39116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305800" y="40640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458200" y="4064000"/>
            <a:ext cx="15240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982200" y="40640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305800" y="42164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458200" y="4216400"/>
            <a:ext cx="6096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067800" y="4216400"/>
            <a:ext cx="4572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525000" y="4216400"/>
            <a:ext cx="304800" cy="1524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829800" y="4216400"/>
            <a:ext cx="1524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458200" y="4368800"/>
            <a:ext cx="1524000" cy="152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670800" y="4762500"/>
            <a:ext cx="39497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What changes?</a:t>
            </a:r>
          </a:p>
        </p:txBody>
      </p:sp>
      <p:sp>
        <p:nvSpPr>
          <p:cNvPr id="95" name="TextBox 94"/>
          <p:cNvSpPr txBox="1"/>
          <p:nvPr/>
        </p:nvSpPr>
        <p:spPr>
          <a:xfrm>
            <a:off x="7670800" y="5207000"/>
            <a:ext cx="3949700" cy="736600"/>
          </a:xfrm>
          <a:prstGeom prst="rect">
            <a:avLst/>
          </a:prstGeom>
          <a:noFill/>
        </p:spPr>
        <p:txBody>
          <a:bodyPr wrap="none" lIns="0" rIns="0" tIns="0" bIns="0" anchor="t">
            <a:spAutoFit/>
          </a:bodyPr>
          <a:lstStyle/>
          <a:p>
            <a:pPr>
              <a:lnSpc>
                <a:spcPts val="2500"/>
              </a:lnSpc>
              <a:spcBef>
                <a:spcPts val="0"/>
              </a:spcBef>
              <a:spcAft>
                <a:spcPts val="0"/>
              </a:spcAft>
            </a:pPr>
            <a:r>
              <a:rPr sz="1800" b="0" i="0">
                <a:solidFill>
                  <a:srgbClr val="76647C"/>
                </a:solidFill>
                <a:latin typeface="Arial"/>
              </a:rPr>
              <a:t>The buyer’s spending power</a:t>
            </a:r>
          </a:p>
          <a:p>
            <a:pPr>
              <a:lnSpc>
                <a:spcPts val="2500"/>
              </a:lnSpc>
              <a:spcBef>
                <a:spcPts val="0"/>
              </a:spcBef>
              <a:spcAft>
                <a:spcPts val="0"/>
              </a:spcAft>
            </a:pPr>
            <a:r>
              <a:rPr sz="1800" b="0" i="0">
                <a:solidFill>
                  <a:srgbClr val="76647C"/>
                </a:solidFill>
                <a:latin typeface="Arial"/>
              </a:rPr>
              <a:t>and the online trigger.</a:t>
            </a:r>
          </a:p>
        </p:txBody>
      </p:sp>
      <p:cxnSp>
        <p:nvCxnSpPr>
          <p:cNvPr id="96" name="Connector 95"/>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S1 / Thai PBS World, 25 Jun 2026. A reported local signal; the adult market size is unknown.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01 / ORIGINAL EVIDENCE</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03</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Check who is actually buying.</a:t>
            </a:r>
          </a:p>
        </p:txBody>
      </p:sp>
      <p:sp>
        <p:nvSpPr>
          <p:cNvPr id="8" name="Rectangle 7"/>
          <p:cNvSpPr/>
          <p:nvPr/>
        </p:nvSpPr>
        <p:spPr>
          <a:xfrm>
            <a:off x="609600" y="2095500"/>
            <a:ext cx="4660900" cy="38100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32000"/>
            <a:ext cx="4660900" cy="38100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 y="2324100"/>
            <a:ext cx="4152900" cy="330200"/>
          </a:xfrm>
          <a:prstGeom prst="rect">
            <a:avLst/>
          </a:prstGeom>
          <a:noFill/>
        </p:spPr>
        <p:txBody>
          <a:bodyPr wrap="none" lIns="0" rIns="0" tIns="0" bIns="0" anchor="t">
            <a:spAutoFit/>
          </a:bodyPr>
          <a:lstStyle/>
          <a:p>
            <a:pPr>
              <a:lnSpc>
                <a:spcPts val="1800"/>
              </a:lnSpc>
              <a:spcBef>
                <a:spcPts val="0"/>
              </a:spcBef>
              <a:spcAft>
                <a:spcPts val="0"/>
              </a:spcAft>
            </a:pPr>
            <a:r>
              <a:rPr sz="1200" b="0" i="0">
                <a:solidFill>
                  <a:srgbClr val="57445E"/>
                </a:solidFill>
                <a:latin typeface="Press Start 2P"/>
              </a:rPr>
              <a:t>SECOND SIGNAL</a:t>
            </a:r>
          </a:p>
        </p:txBody>
      </p:sp>
      <p:sp>
        <p:nvSpPr>
          <p:cNvPr id="11" name="TextBox 10"/>
          <p:cNvSpPr txBox="1"/>
          <p:nvPr/>
        </p:nvSpPr>
        <p:spPr>
          <a:xfrm>
            <a:off x="800100" y="2933700"/>
            <a:ext cx="4165600" cy="1435100"/>
          </a:xfrm>
          <a:prstGeom prst="rect">
            <a:avLst/>
          </a:prstGeom>
          <a:noFill/>
        </p:spPr>
        <p:txBody>
          <a:bodyPr wrap="none" lIns="0" rIns="0" tIns="0" bIns="0" anchor="t">
            <a:spAutoFit/>
          </a:bodyPr>
          <a:lstStyle/>
          <a:p>
            <a:pPr>
              <a:lnSpc>
                <a:spcPts val="3500"/>
              </a:lnSpc>
              <a:spcBef>
                <a:spcPts val="0"/>
              </a:spcBef>
              <a:spcAft>
                <a:spcPts val="0"/>
              </a:spcAft>
            </a:pPr>
            <a:r>
              <a:rPr sz="2800" b="1" i="0">
                <a:solidFill>
                  <a:srgbClr val="57445E"/>
                </a:solidFill>
                <a:latin typeface="Arial"/>
              </a:rPr>
              <a:t>Mega Plaza’s buyers</a:t>
            </a:r>
          </a:p>
          <a:p>
            <a:pPr>
              <a:lnSpc>
                <a:spcPts val="3500"/>
              </a:lnSpc>
              <a:spcBef>
                <a:spcPts val="0"/>
              </a:spcBef>
              <a:spcAft>
                <a:spcPts val="0"/>
              </a:spcAft>
            </a:pPr>
            <a:r>
              <a:rPr sz="2800" b="1" i="0">
                <a:solidFill>
                  <a:srgbClr val="57445E"/>
                </a:solidFill>
                <a:latin typeface="Arial"/>
              </a:rPr>
              <a:t>were mainly children</a:t>
            </a:r>
          </a:p>
          <a:p>
            <a:pPr>
              <a:lnSpc>
                <a:spcPts val="3500"/>
              </a:lnSpc>
              <a:spcBef>
                <a:spcPts val="0"/>
              </a:spcBef>
              <a:spcAft>
                <a:spcPts val="0"/>
              </a:spcAft>
            </a:pPr>
            <a:r>
              <a:rPr sz="2800" b="1" i="0">
                <a:solidFill>
                  <a:srgbClr val="57445E"/>
                </a:solidFill>
                <a:latin typeface="Arial"/>
              </a:rPr>
              <a:t>and teenagers.</a:t>
            </a:r>
          </a:p>
        </p:txBody>
      </p:sp>
      <p:sp>
        <p:nvSpPr>
          <p:cNvPr id="12" name="TextBox 11"/>
          <p:cNvSpPr txBox="1"/>
          <p:nvPr/>
        </p:nvSpPr>
        <p:spPr>
          <a:xfrm>
            <a:off x="800100" y="4597400"/>
            <a:ext cx="4165600" cy="1016000"/>
          </a:xfrm>
          <a:prstGeom prst="rect">
            <a:avLst/>
          </a:prstGeom>
          <a:noFill/>
        </p:spPr>
        <p:txBody>
          <a:bodyPr wrap="none" lIns="0" rIns="0" tIns="0" bIns="0" anchor="t">
            <a:spAutoFit/>
          </a:bodyPr>
          <a:lstStyle/>
          <a:p>
            <a:pPr>
              <a:lnSpc>
                <a:spcPts val="2400"/>
              </a:lnSpc>
              <a:spcBef>
                <a:spcPts val="0"/>
              </a:spcBef>
              <a:spcAft>
                <a:spcPts val="0"/>
              </a:spcAft>
            </a:pPr>
            <a:r>
              <a:rPr sz="1700" b="0" i="0">
                <a:solidFill>
                  <a:srgbClr val="76647C"/>
                </a:solidFill>
                <a:latin typeface="Arial"/>
              </a:rPr>
              <a:t>Thairath’s visit supports a broader revival.</a:t>
            </a:r>
          </a:p>
          <a:p>
            <a:pPr>
              <a:lnSpc>
                <a:spcPts val="2400"/>
              </a:lnSpc>
              <a:spcBef>
                <a:spcPts val="0"/>
              </a:spcBef>
              <a:spcAft>
                <a:spcPts val="0"/>
              </a:spcAft>
            </a:pPr>
            <a:r>
              <a:rPr sz="1700" b="0" i="0">
                <a:solidFill>
                  <a:srgbClr val="76647C"/>
                </a:solidFill>
                <a:latin typeface="Arial"/>
              </a:rPr>
              <a:t>It does not confirm the working-adult</a:t>
            </a:r>
          </a:p>
          <a:p>
            <a:pPr>
              <a:lnSpc>
                <a:spcPts val="2400"/>
              </a:lnSpc>
              <a:spcBef>
                <a:spcPts val="0"/>
              </a:spcBef>
              <a:spcAft>
                <a:spcPts val="0"/>
              </a:spcAft>
            </a:pPr>
            <a:r>
              <a:rPr sz="1700" b="0" i="0">
                <a:solidFill>
                  <a:srgbClr val="76647C"/>
                </a:solidFill>
                <a:latin typeface="Arial"/>
              </a:rPr>
              <a:t>segment.</a:t>
            </a:r>
          </a:p>
        </p:txBody>
      </p:sp>
      <p:sp>
        <p:nvSpPr>
          <p:cNvPr id="13" name="Rectangle 12"/>
          <p:cNvSpPr/>
          <p:nvPr/>
        </p:nvSpPr>
        <p:spPr>
          <a:xfrm>
            <a:off x="5715000" y="2108200"/>
            <a:ext cx="5969000" cy="38100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800" y="2032000"/>
            <a:ext cx="5969000" cy="38100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38800" y="2032000"/>
            <a:ext cx="5969000" cy="3683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91200" y="2159000"/>
            <a:ext cx="49403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YOUR FIELDWORK / PENDING</a:t>
            </a:r>
          </a:p>
        </p:txBody>
      </p:sp>
      <p:sp>
        <p:nvSpPr>
          <p:cNvPr id="17" name="Rectangle 16"/>
          <p:cNvSpPr/>
          <p:nvPr/>
        </p:nvSpPr>
        <p:spPr>
          <a:xfrm>
            <a:off x="110998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3030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2800" y="2692400"/>
            <a:ext cx="4064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1</a:t>
            </a:r>
          </a:p>
        </p:txBody>
      </p:sp>
      <p:sp>
        <p:nvSpPr>
          <p:cNvPr id="20" name="TextBox 19"/>
          <p:cNvSpPr txBox="1"/>
          <p:nvPr/>
        </p:nvSpPr>
        <p:spPr>
          <a:xfrm>
            <a:off x="6388100" y="2679700"/>
            <a:ext cx="4927600" cy="426974"/>
          </a:xfrm>
          <a:prstGeom prst="rect">
            <a:avLst/>
          </a:prstGeom>
          <a:noFill/>
        </p:spPr>
        <p:txBody>
          <a:bodyPr wrap="none" lIns="0" rIns="0" tIns="0" bIns="0" anchor="t">
            <a:spAutoFit/>
          </a:bodyPr>
          <a:lstStyle/>
          <a:p>
            <a:pPr>
              <a:lnSpc>
                <a:spcPts val="2562"/>
              </a:lnSpc>
              <a:spcBef>
                <a:spcPts val="0"/>
              </a:spcBef>
              <a:spcAft>
                <a:spcPts val="0"/>
              </a:spcAft>
            </a:pPr>
            <a:r>
              <a:rPr sz="2100" b="1" i="0">
                <a:solidFill>
                  <a:srgbClr val="57445E"/>
                </a:solidFill>
                <a:latin typeface="Arial"/>
              </a:rPr>
              <a:t>Confirm recent buyers.</a:t>
            </a:r>
          </a:p>
        </p:txBody>
      </p:sp>
      <p:sp>
        <p:nvSpPr>
          <p:cNvPr id="21" name="TextBox 20"/>
          <p:cNvSpPr txBox="1"/>
          <p:nvPr/>
        </p:nvSpPr>
        <p:spPr>
          <a:xfrm>
            <a:off x="6388100" y="3098800"/>
            <a:ext cx="4927600" cy="381000"/>
          </a:xfrm>
          <a:prstGeom prst="rect">
            <a:avLst/>
          </a:prstGeom>
          <a:noFill/>
        </p:spPr>
        <p:txBody>
          <a:bodyPr wrap="none" lIns="0" rIns="0" tIns="0" bIns="0" anchor="t">
            <a:spAutoFit/>
          </a:bodyPr>
          <a:lstStyle/>
          <a:p>
            <a:pPr>
              <a:lnSpc>
                <a:spcPts val="2200"/>
              </a:lnSpc>
              <a:spcBef>
                <a:spcPts val="0"/>
              </a:spcBef>
              <a:spcAft>
                <a:spcPts val="0"/>
              </a:spcAft>
            </a:pPr>
            <a:r>
              <a:rPr sz="1600" b="0" i="0">
                <a:solidFill>
                  <a:srgbClr val="76647C"/>
                </a:solidFill>
                <a:latin typeface="Arial"/>
              </a:rPr>
              <a:t>Working status, product and purpose.</a:t>
            </a:r>
          </a:p>
        </p:txBody>
      </p:sp>
      <p:sp>
        <p:nvSpPr>
          <p:cNvPr id="22" name="TextBox 21"/>
          <p:cNvSpPr txBox="1"/>
          <p:nvPr/>
        </p:nvSpPr>
        <p:spPr>
          <a:xfrm>
            <a:off x="5892800" y="3670300"/>
            <a:ext cx="4064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2</a:t>
            </a:r>
          </a:p>
        </p:txBody>
      </p:sp>
      <p:sp>
        <p:nvSpPr>
          <p:cNvPr id="23" name="TextBox 22"/>
          <p:cNvSpPr txBox="1"/>
          <p:nvPr/>
        </p:nvSpPr>
        <p:spPr>
          <a:xfrm>
            <a:off x="6388100" y="3657600"/>
            <a:ext cx="4927600" cy="426974"/>
          </a:xfrm>
          <a:prstGeom prst="rect">
            <a:avLst/>
          </a:prstGeom>
          <a:noFill/>
        </p:spPr>
        <p:txBody>
          <a:bodyPr wrap="none" lIns="0" rIns="0" tIns="0" bIns="0" anchor="t">
            <a:spAutoFit/>
          </a:bodyPr>
          <a:lstStyle/>
          <a:p>
            <a:pPr>
              <a:lnSpc>
                <a:spcPts val="2562"/>
              </a:lnSpc>
              <a:spcBef>
                <a:spcPts val="0"/>
              </a:spcBef>
              <a:spcAft>
                <a:spcPts val="0"/>
              </a:spcAft>
            </a:pPr>
            <a:r>
              <a:rPr sz="2100" b="1" i="0">
                <a:solidFill>
                  <a:srgbClr val="57445E"/>
                </a:solidFill>
                <a:latin typeface="Arial"/>
              </a:rPr>
              <a:t>Ask before showing the idea.</a:t>
            </a:r>
          </a:p>
        </p:txBody>
      </p:sp>
      <p:sp>
        <p:nvSpPr>
          <p:cNvPr id="24" name="TextBox 23"/>
          <p:cNvSpPr txBox="1"/>
          <p:nvPr/>
        </p:nvSpPr>
        <p:spPr>
          <a:xfrm>
            <a:off x="6388100" y="4076700"/>
            <a:ext cx="4927600" cy="381000"/>
          </a:xfrm>
          <a:prstGeom prst="rect">
            <a:avLst/>
          </a:prstGeom>
          <a:noFill/>
        </p:spPr>
        <p:txBody>
          <a:bodyPr wrap="none" lIns="0" rIns="0" tIns="0" bIns="0" anchor="t">
            <a:spAutoFit/>
          </a:bodyPr>
          <a:lstStyle/>
          <a:p>
            <a:pPr>
              <a:lnSpc>
                <a:spcPts val="2200"/>
              </a:lnSpc>
              <a:spcBef>
                <a:spcPts val="0"/>
              </a:spcBef>
              <a:spcAft>
                <a:spcPts val="0"/>
              </a:spcAft>
            </a:pPr>
            <a:r>
              <a:rPr sz="1600" b="0" i="0">
                <a:solidFill>
                  <a:srgbClr val="76647C"/>
                </a:solidFill>
                <a:latin typeface="Arial"/>
              </a:rPr>
              <a:t>Memory and discovery, in their own words.</a:t>
            </a:r>
          </a:p>
        </p:txBody>
      </p:sp>
      <p:sp>
        <p:nvSpPr>
          <p:cNvPr id="25" name="TextBox 24"/>
          <p:cNvSpPr txBox="1"/>
          <p:nvPr/>
        </p:nvSpPr>
        <p:spPr>
          <a:xfrm>
            <a:off x="5892800" y="4648200"/>
            <a:ext cx="4064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3</a:t>
            </a:r>
          </a:p>
        </p:txBody>
      </p:sp>
      <p:sp>
        <p:nvSpPr>
          <p:cNvPr id="26" name="TextBox 25"/>
          <p:cNvSpPr txBox="1"/>
          <p:nvPr/>
        </p:nvSpPr>
        <p:spPr>
          <a:xfrm>
            <a:off x="6388100" y="4635500"/>
            <a:ext cx="4927600" cy="426974"/>
          </a:xfrm>
          <a:prstGeom prst="rect">
            <a:avLst/>
          </a:prstGeom>
          <a:noFill/>
        </p:spPr>
        <p:txBody>
          <a:bodyPr wrap="none" lIns="0" rIns="0" tIns="0" bIns="0" anchor="t">
            <a:spAutoFit/>
          </a:bodyPr>
          <a:lstStyle/>
          <a:p>
            <a:pPr>
              <a:lnSpc>
                <a:spcPts val="2562"/>
              </a:lnSpc>
              <a:spcBef>
                <a:spcPts val="0"/>
              </a:spcBef>
              <a:spcAft>
                <a:spcPts val="0"/>
              </a:spcAft>
            </a:pPr>
            <a:r>
              <a:rPr sz="2100" b="1" i="0">
                <a:solidFill>
                  <a:srgbClr val="57445E"/>
                </a:solidFill>
                <a:latin typeface="Arial"/>
              </a:rPr>
              <a:t>Keep the real evidence.</a:t>
            </a:r>
          </a:p>
        </p:txBody>
      </p:sp>
      <p:sp>
        <p:nvSpPr>
          <p:cNvPr id="27" name="TextBox 26"/>
          <p:cNvSpPr txBox="1"/>
          <p:nvPr/>
        </p:nvSpPr>
        <p:spPr>
          <a:xfrm>
            <a:off x="6388100" y="5054600"/>
            <a:ext cx="4927600" cy="381000"/>
          </a:xfrm>
          <a:prstGeom prst="rect">
            <a:avLst/>
          </a:prstGeom>
          <a:noFill/>
        </p:spPr>
        <p:txBody>
          <a:bodyPr wrap="none" lIns="0" rIns="0" tIns="0" bIns="0" anchor="t">
            <a:spAutoFit/>
          </a:bodyPr>
          <a:lstStyle/>
          <a:p>
            <a:pPr>
              <a:lnSpc>
                <a:spcPts val="2200"/>
              </a:lnSpc>
              <a:spcBef>
                <a:spcPts val="0"/>
              </a:spcBef>
              <a:spcAft>
                <a:spcPts val="0"/>
              </a:spcAft>
            </a:pPr>
            <a:r>
              <a:rPr sz="1600" b="0" i="0">
                <a:solidFill>
                  <a:srgbClr val="76647C"/>
                </a:solidFill>
                <a:latin typeface="Arial"/>
              </a:rPr>
              <a:t>Date, sample size, photo and a consented quote.</a:t>
            </a:r>
          </a:p>
        </p:txBody>
      </p:sp>
      <p:cxnSp>
        <p:nvCxnSpPr>
          <p:cNvPr id="28" name="Connector 27"/>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S2 / Replace the pending panel with your own evidence before submission.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C4E3F4"/>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02 / EMOTIONAL MOTIVATION</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04</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0922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The memory changes the value.</a:t>
            </a:r>
          </a:p>
        </p:txBody>
      </p:sp>
      <p:sp>
        <p:nvSpPr>
          <p:cNvPr id="8" name="Rectangle 7"/>
          <p:cNvSpPr/>
          <p:nvPr/>
        </p:nvSpPr>
        <p:spPr>
          <a:xfrm>
            <a:off x="622300" y="2159000"/>
            <a:ext cx="5257800" cy="37973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82800"/>
            <a:ext cx="5257800" cy="37973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082800"/>
            <a:ext cx="5257800" cy="368300"/>
          </a:xfrm>
          <a:prstGeom prst="rect">
            <a:avLst/>
          </a:prstGeom>
          <a:solidFill>
            <a:srgbClr val="F5BCC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209800"/>
            <a:ext cx="42291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THE REPORTED ACCOUNT</a:t>
            </a:r>
          </a:p>
        </p:txBody>
      </p:sp>
      <p:sp>
        <p:nvSpPr>
          <p:cNvPr id="12" name="Rectangle 11"/>
          <p:cNvSpPr/>
          <p:nvPr/>
        </p:nvSpPr>
        <p:spPr>
          <a:xfrm>
            <a:off x="5295900" y="22098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99100" y="22098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0100" y="2857500"/>
            <a:ext cx="4711700" cy="1625600"/>
          </a:xfrm>
          <a:prstGeom prst="rect">
            <a:avLst/>
          </a:prstGeom>
          <a:noFill/>
        </p:spPr>
        <p:txBody>
          <a:bodyPr wrap="none" lIns="0" rIns="0" tIns="0" bIns="0" anchor="t">
            <a:spAutoFit/>
          </a:bodyPr>
          <a:lstStyle/>
          <a:p>
            <a:pPr>
              <a:lnSpc>
                <a:spcPts val="4000"/>
              </a:lnSpc>
              <a:spcBef>
                <a:spcPts val="0"/>
              </a:spcBef>
              <a:spcAft>
                <a:spcPts val="0"/>
              </a:spcAft>
            </a:pPr>
            <a:r>
              <a:rPr sz="3200" b="1" i="0">
                <a:solidFill>
                  <a:srgbClr val="57445E"/>
                </a:solidFill>
                <a:latin typeface="Arial"/>
              </a:rPr>
              <a:t>Adult income makes</a:t>
            </a:r>
          </a:p>
          <a:p>
            <a:pPr>
              <a:lnSpc>
                <a:spcPts val="4000"/>
              </a:lnSpc>
              <a:spcBef>
                <a:spcPts val="0"/>
              </a:spcBef>
              <a:spcAft>
                <a:spcPts val="0"/>
              </a:spcAft>
            </a:pPr>
            <a:r>
              <a:rPr sz="3200" b="1" i="0">
                <a:solidFill>
                  <a:srgbClr val="57445E"/>
                </a:solidFill>
                <a:latin typeface="Arial"/>
              </a:rPr>
              <a:t>a childhood wish</a:t>
            </a:r>
          </a:p>
          <a:p>
            <a:pPr>
              <a:lnSpc>
                <a:spcPts val="4000"/>
              </a:lnSpc>
              <a:spcBef>
                <a:spcPts val="0"/>
              </a:spcBef>
              <a:spcAft>
                <a:spcPts val="0"/>
              </a:spcAft>
            </a:pPr>
            <a:r>
              <a:rPr sz="3200" b="1" i="0">
                <a:solidFill>
                  <a:srgbClr val="57445E"/>
                </a:solidFill>
                <a:latin typeface="Arial"/>
              </a:rPr>
              <a:t>possible.</a:t>
            </a:r>
          </a:p>
        </p:txBody>
      </p:sp>
      <p:sp>
        <p:nvSpPr>
          <p:cNvPr id="15" name="TextBox 14"/>
          <p:cNvSpPr txBox="1"/>
          <p:nvPr/>
        </p:nvSpPr>
        <p:spPr>
          <a:xfrm>
            <a:off x="800100" y="4902200"/>
            <a:ext cx="4724400" cy="685800"/>
          </a:xfrm>
          <a:prstGeom prst="rect">
            <a:avLst/>
          </a:prstGeom>
          <a:noFill/>
        </p:spPr>
        <p:txBody>
          <a:bodyPr wrap="none" lIns="0" rIns="0" tIns="0" bIns="0" anchor="t">
            <a:spAutoFit/>
          </a:bodyPr>
          <a:lstStyle/>
          <a:p>
            <a:pPr>
              <a:lnSpc>
                <a:spcPts val="2300"/>
              </a:lnSpc>
              <a:spcBef>
                <a:spcPts val="0"/>
              </a:spcBef>
              <a:spcAft>
                <a:spcPts val="0"/>
              </a:spcAft>
            </a:pPr>
            <a:r>
              <a:rPr sz="1700" b="0" i="0">
                <a:solidFill>
                  <a:srgbClr val="76647C"/>
                </a:solidFill>
                <a:latin typeface="Arial"/>
              </a:rPr>
              <a:t>Sampheng vendor account,</a:t>
            </a:r>
          </a:p>
          <a:p>
            <a:pPr>
              <a:lnSpc>
                <a:spcPts val="2300"/>
              </a:lnSpc>
              <a:spcBef>
                <a:spcPts val="0"/>
              </a:spcBef>
              <a:spcAft>
                <a:spcPts val="0"/>
              </a:spcAft>
            </a:pPr>
            <a:r>
              <a:rPr sz="1700" b="0" i="0">
                <a:solidFill>
                  <a:srgbClr val="76647C"/>
                </a:solidFill>
                <a:latin typeface="Arial"/>
              </a:rPr>
              <a:t>paraphrased by Thai PBS World.</a:t>
            </a:r>
          </a:p>
        </p:txBody>
      </p:sp>
      <p:sp>
        <p:nvSpPr>
          <p:cNvPr id="16" name="TextBox 15"/>
          <p:cNvSpPr txBox="1"/>
          <p:nvPr/>
        </p:nvSpPr>
        <p:spPr>
          <a:xfrm>
            <a:off x="6413500" y="2247900"/>
            <a:ext cx="5092700" cy="787400"/>
          </a:xfrm>
          <a:prstGeom prst="rect">
            <a:avLst/>
          </a:prstGeom>
          <a:noFill/>
        </p:spPr>
        <p:txBody>
          <a:bodyPr wrap="none" lIns="0" rIns="0" tIns="0" bIns="0" anchor="t">
            <a:spAutoFit/>
          </a:bodyPr>
          <a:lstStyle/>
          <a:p>
            <a:pPr>
              <a:lnSpc>
                <a:spcPts val="2700"/>
              </a:lnSpc>
              <a:spcBef>
                <a:spcPts val="0"/>
              </a:spcBef>
              <a:spcAft>
                <a:spcPts val="0"/>
              </a:spcAft>
            </a:pPr>
            <a:r>
              <a:rPr sz="1800" b="0" i="0">
                <a:solidFill>
                  <a:srgbClr val="57445E"/>
                </a:solidFill>
                <a:latin typeface="Press Start 2P"/>
              </a:rPr>
              <a:t>EMOTIONAL</a:t>
            </a:r>
          </a:p>
          <a:p>
            <a:pPr>
              <a:lnSpc>
                <a:spcPts val="2700"/>
              </a:lnSpc>
              <a:spcBef>
                <a:spcPts val="0"/>
              </a:spcBef>
              <a:spcAft>
                <a:spcPts val="0"/>
              </a:spcAft>
            </a:pPr>
            <a:r>
              <a:rPr sz="1800" b="0" i="0">
                <a:solidFill>
                  <a:srgbClr val="57445E"/>
                </a:solidFill>
                <a:latin typeface="Press Start 2P"/>
              </a:rPr>
              <a:t>MOTIVATION</a:t>
            </a:r>
          </a:p>
        </p:txBody>
      </p:sp>
      <p:sp>
        <p:nvSpPr>
          <p:cNvPr id="17" name="TextBox 16"/>
          <p:cNvSpPr txBox="1"/>
          <p:nvPr/>
        </p:nvSpPr>
        <p:spPr>
          <a:xfrm>
            <a:off x="6413500" y="3238500"/>
            <a:ext cx="49784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Memory</a:t>
            </a:r>
          </a:p>
        </p:txBody>
      </p:sp>
      <p:sp>
        <p:nvSpPr>
          <p:cNvPr id="18" name="TextBox 17"/>
          <p:cNvSpPr txBox="1"/>
          <p:nvPr/>
        </p:nvSpPr>
        <p:spPr>
          <a:xfrm>
            <a:off x="6413500" y="3632200"/>
            <a:ext cx="4978400" cy="364998"/>
          </a:xfrm>
          <a:prstGeom prst="rect">
            <a:avLst/>
          </a:prstGeom>
          <a:noFill/>
        </p:spPr>
        <p:txBody>
          <a:bodyPr wrap="none" lIns="0" rIns="0" tIns="0" bIns="0" anchor="t">
            <a:spAutoFit/>
          </a:bodyPr>
          <a:lstStyle/>
          <a:p>
            <a:pPr>
              <a:lnSpc>
                <a:spcPts val="2074"/>
              </a:lnSpc>
              <a:spcBef>
                <a:spcPts val="0"/>
              </a:spcBef>
              <a:spcAft>
                <a:spcPts val="0"/>
              </a:spcAft>
            </a:pPr>
            <a:r>
              <a:rPr sz="1700" b="0" i="0">
                <a:solidFill>
                  <a:srgbClr val="57445E"/>
                </a:solidFill>
                <a:latin typeface="Arial"/>
              </a:rPr>
              <a:t>A familiar object has personal meaning.</a:t>
            </a:r>
          </a:p>
        </p:txBody>
      </p:sp>
      <p:sp>
        <p:nvSpPr>
          <p:cNvPr id="19" name="TextBox 18"/>
          <p:cNvSpPr txBox="1"/>
          <p:nvPr/>
        </p:nvSpPr>
        <p:spPr>
          <a:xfrm>
            <a:off x="6413500" y="4127500"/>
            <a:ext cx="49784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Enjoyment</a:t>
            </a:r>
          </a:p>
        </p:txBody>
      </p:sp>
      <p:sp>
        <p:nvSpPr>
          <p:cNvPr id="20" name="TextBox 19"/>
          <p:cNvSpPr txBox="1"/>
          <p:nvPr/>
        </p:nvSpPr>
        <p:spPr>
          <a:xfrm>
            <a:off x="6413500" y="4521200"/>
            <a:ext cx="4978400" cy="364998"/>
          </a:xfrm>
          <a:prstGeom prst="rect">
            <a:avLst/>
          </a:prstGeom>
          <a:noFill/>
        </p:spPr>
        <p:txBody>
          <a:bodyPr wrap="none" lIns="0" rIns="0" tIns="0" bIns="0" anchor="t">
            <a:spAutoFit/>
          </a:bodyPr>
          <a:lstStyle/>
          <a:p>
            <a:pPr>
              <a:lnSpc>
                <a:spcPts val="2074"/>
              </a:lnSpc>
              <a:spcBef>
                <a:spcPts val="0"/>
              </a:spcBef>
              <a:spcAft>
                <a:spcPts val="0"/>
              </a:spcAft>
            </a:pPr>
            <a:r>
              <a:rPr sz="1700" b="0" i="0">
                <a:solidFill>
                  <a:srgbClr val="57445E"/>
                </a:solidFill>
                <a:latin typeface="Arial"/>
              </a:rPr>
              <a:t>The texture is part of the reward.</a:t>
            </a:r>
          </a:p>
        </p:txBody>
      </p:sp>
      <p:sp>
        <p:nvSpPr>
          <p:cNvPr id="21" name="TextBox 20"/>
          <p:cNvSpPr txBox="1"/>
          <p:nvPr/>
        </p:nvSpPr>
        <p:spPr>
          <a:xfrm>
            <a:off x="6413500" y="5016500"/>
            <a:ext cx="49784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Choice</a:t>
            </a:r>
          </a:p>
        </p:txBody>
      </p:sp>
      <p:sp>
        <p:nvSpPr>
          <p:cNvPr id="22" name="TextBox 21"/>
          <p:cNvSpPr txBox="1"/>
          <p:nvPr/>
        </p:nvSpPr>
        <p:spPr>
          <a:xfrm>
            <a:off x="6413500" y="5410200"/>
            <a:ext cx="4978400" cy="364998"/>
          </a:xfrm>
          <a:prstGeom prst="rect">
            <a:avLst/>
          </a:prstGeom>
          <a:noFill/>
        </p:spPr>
        <p:txBody>
          <a:bodyPr wrap="none" lIns="0" rIns="0" tIns="0" bIns="0" anchor="t">
            <a:spAutoFit/>
          </a:bodyPr>
          <a:lstStyle/>
          <a:p>
            <a:pPr>
              <a:lnSpc>
                <a:spcPts val="2074"/>
              </a:lnSpc>
              <a:spcBef>
                <a:spcPts val="0"/>
              </a:spcBef>
              <a:spcAft>
                <a:spcPts val="0"/>
              </a:spcAft>
            </a:pPr>
            <a:r>
              <a:rPr sz="1700" b="0" i="0">
                <a:solidFill>
                  <a:srgbClr val="57445E"/>
                </a:solidFill>
                <a:latin typeface="Arial"/>
              </a:rPr>
              <a:t>The adult buyer chooses for themself.</a:t>
            </a:r>
          </a:p>
        </p:txBody>
      </p:sp>
      <p:cxnSp>
        <p:nvCxnSpPr>
          <p:cNvPr id="23" name="Connector 22"/>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S1 / Interpretation to test. Relaxation is a sought benefit; no medical effect is established.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02 / SOCIAL INFLUENCE</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05</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04520"/>
          </a:xfrm>
          <a:prstGeom prst="rect">
            <a:avLst/>
          </a:prstGeom>
          <a:noFill/>
        </p:spPr>
        <p:txBody>
          <a:bodyPr wrap="none" lIns="0" rIns="0" tIns="0" bIns="0" anchor="t">
            <a:spAutoFit/>
          </a:bodyPr>
          <a:lstStyle/>
          <a:p>
            <a:pPr>
              <a:lnSpc>
                <a:spcPts val="3960"/>
              </a:lnSpc>
              <a:spcBef>
                <a:spcPts val="0"/>
              </a:spcBef>
              <a:spcAft>
                <a:spcPts val="0"/>
              </a:spcAft>
            </a:pPr>
            <a:r>
              <a:rPr sz="3600" b="1" i="0">
                <a:solidFill>
                  <a:srgbClr val="57445E"/>
                </a:solidFill>
                <a:latin typeface="Arial"/>
              </a:rPr>
              <a:t>Social discovery brings the idea back.</a:t>
            </a:r>
          </a:p>
        </p:txBody>
      </p:sp>
      <p:sp>
        <p:nvSpPr>
          <p:cNvPr id="8" name="Rectangle 7"/>
          <p:cNvSpPr/>
          <p:nvPr/>
        </p:nvSpPr>
        <p:spPr>
          <a:xfrm>
            <a:off x="622300" y="2171700"/>
            <a:ext cx="5321300" cy="3225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95500"/>
            <a:ext cx="5321300" cy="32258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095500"/>
            <a:ext cx="5321300" cy="3683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222500"/>
            <a:ext cx="42926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REPORTED</a:t>
            </a:r>
          </a:p>
        </p:txBody>
      </p:sp>
      <p:sp>
        <p:nvSpPr>
          <p:cNvPr id="12" name="Rectangle 11"/>
          <p:cNvSpPr/>
          <p:nvPr/>
        </p:nvSpPr>
        <p:spPr>
          <a:xfrm>
            <a:off x="5359400" y="22225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62600" y="22225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2832100"/>
            <a:ext cx="4800600" cy="1117600"/>
          </a:xfrm>
          <a:prstGeom prst="rect">
            <a:avLst/>
          </a:prstGeom>
          <a:noFill/>
        </p:spPr>
        <p:txBody>
          <a:bodyPr wrap="none" lIns="0" rIns="0" tIns="0" bIns="0" anchor="t">
            <a:spAutoFit/>
          </a:bodyPr>
          <a:lstStyle/>
          <a:p>
            <a:pPr>
              <a:lnSpc>
                <a:spcPts val="4000"/>
              </a:lnSpc>
              <a:spcBef>
                <a:spcPts val="0"/>
              </a:spcBef>
              <a:spcAft>
                <a:spcPts val="0"/>
              </a:spcAft>
            </a:pPr>
            <a:r>
              <a:rPr sz="3200" b="1" i="0">
                <a:solidFill>
                  <a:srgbClr val="57445E"/>
                </a:solidFill>
                <a:latin typeface="Arial"/>
              </a:rPr>
              <a:t>Reviews renew</a:t>
            </a:r>
          </a:p>
          <a:p>
            <a:pPr>
              <a:lnSpc>
                <a:spcPts val="4000"/>
              </a:lnSpc>
              <a:spcBef>
                <a:spcPts val="0"/>
              </a:spcBef>
              <a:spcAft>
                <a:spcPts val="0"/>
              </a:spcAft>
            </a:pPr>
            <a:r>
              <a:rPr sz="3200" b="1" i="0">
                <a:solidFill>
                  <a:srgbClr val="57445E"/>
                </a:solidFill>
                <a:latin typeface="Arial"/>
              </a:rPr>
              <a:t>attention.</a:t>
            </a:r>
          </a:p>
        </p:txBody>
      </p:sp>
      <p:sp>
        <p:nvSpPr>
          <p:cNvPr id="15" name="TextBox 14"/>
          <p:cNvSpPr txBox="1"/>
          <p:nvPr/>
        </p:nvSpPr>
        <p:spPr>
          <a:xfrm>
            <a:off x="812800" y="4178300"/>
            <a:ext cx="4800600" cy="787400"/>
          </a:xfrm>
          <a:prstGeom prst="rect">
            <a:avLst/>
          </a:prstGeom>
          <a:noFill/>
        </p:spPr>
        <p:txBody>
          <a:bodyPr wrap="none" lIns="0" rIns="0" tIns="0" bIns="0" anchor="t">
            <a:spAutoFit/>
          </a:bodyPr>
          <a:lstStyle/>
          <a:p>
            <a:pPr>
              <a:lnSpc>
                <a:spcPts val="2700"/>
              </a:lnSpc>
              <a:spcBef>
                <a:spcPts val="0"/>
              </a:spcBef>
              <a:spcAft>
                <a:spcPts val="0"/>
              </a:spcAft>
            </a:pPr>
            <a:r>
              <a:rPr sz="2000" b="0" i="0">
                <a:solidFill>
                  <a:srgbClr val="57445E"/>
                </a:solidFill>
                <a:latin typeface="Arial"/>
              </a:rPr>
              <a:t>Thai PBS World links the revival to</a:t>
            </a:r>
          </a:p>
          <a:p>
            <a:pPr>
              <a:lnSpc>
                <a:spcPts val="2700"/>
              </a:lnSpc>
              <a:spcBef>
                <a:spcPts val="0"/>
              </a:spcBef>
              <a:spcAft>
                <a:spcPts val="0"/>
              </a:spcAft>
            </a:pPr>
            <a:r>
              <a:rPr sz="2000" b="0" i="0">
                <a:solidFill>
                  <a:srgbClr val="57445E"/>
                </a:solidFill>
                <a:latin typeface="Arial"/>
              </a:rPr>
              <a:t>influencer and celebrity reviews.</a:t>
            </a:r>
          </a:p>
        </p:txBody>
      </p:sp>
      <p:sp>
        <p:nvSpPr>
          <p:cNvPr id="16" name="Rectangle 15"/>
          <p:cNvSpPr/>
          <p:nvPr/>
        </p:nvSpPr>
        <p:spPr>
          <a:xfrm>
            <a:off x="6337300" y="2171700"/>
            <a:ext cx="5321300" cy="32258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1100" y="2095500"/>
            <a:ext cx="5321300" cy="32258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1100" y="2095500"/>
            <a:ext cx="5321300" cy="368300"/>
          </a:xfrm>
          <a:prstGeom prst="rect">
            <a:avLst/>
          </a:prstGeom>
          <a:solidFill>
            <a:srgbClr val="F5BCC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3500" y="2222500"/>
            <a:ext cx="42926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INTERPRETATION</a:t>
            </a:r>
          </a:p>
        </p:txBody>
      </p:sp>
      <p:sp>
        <p:nvSpPr>
          <p:cNvPr id="20" name="Rectangle 19"/>
          <p:cNvSpPr/>
          <p:nvPr/>
        </p:nvSpPr>
        <p:spPr>
          <a:xfrm>
            <a:off x="11074400" y="22225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277600" y="22225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7800" y="2832100"/>
            <a:ext cx="4800600" cy="1041400"/>
          </a:xfrm>
          <a:prstGeom prst="rect">
            <a:avLst/>
          </a:prstGeom>
          <a:noFill/>
        </p:spPr>
        <p:txBody>
          <a:bodyPr wrap="none" lIns="0" rIns="0" tIns="0" bIns="0" anchor="t">
            <a:spAutoFit/>
          </a:bodyPr>
          <a:lstStyle/>
          <a:p>
            <a:pPr>
              <a:lnSpc>
                <a:spcPts val="3700"/>
              </a:lnSpc>
              <a:spcBef>
                <a:spcPts val="0"/>
              </a:spcBef>
              <a:spcAft>
                <a:spcPts val="0"/>
              </a:spcAft>
            </a:pPr>
            <a:r>
              <a:rPr sz="2900" b="1" i="0">
                <a:solidFill>
                  <a:srgbClr val="57445E"/>
                </a:solidFill>
                <a:latin typeface="Arial"/>
              </a:rPr>
              <a:t>Other adults can</a:t>
            </a:r>
          </a:p>
          <a:p>
            <a:pPr>
              <a:lnSpc>
                <a:spcPts val="3700"/>
              </a:lnSpc>
              <a:spcBef>
                <a:spcPts val="0"/>
              </a:spcBef>
              <a:spcAft>
                <a:spcPts val="0"/>
              </a:spcAft>
            </a:pPr>
            <a:r>
              <a:rPr sz="2900" b="1" i="0">
                <a:solidFill>
                  <a:srgbClr val="57445E"/>
                </a:solidFill>
                <a:latin typeface="Arial"/>
              </a:rPr>
              <a:t>make play feel normal.</a:t>
            </a:r>
          </a:p>
        </p:txBody>
      </p:sp>
      <p:sp>
        <p:nvSpPr>
          <p:cNvPr id="23" name="TextBox 22"/>
          <p:cNvSpPr txBox="1"/>
          <p:nvPr/>
        </p:nvSpPr>
        <p:spPr>
          <a:xfrm>
            <a:off x="6527800" y="4178300"/>
            <a:ext cx="4800600" cy="787400"/>
          </a:xfrm>
          <a:prstGeom prst="rect">
            <a:avLst/>
          </a:prstGeom>
          <a:noFill/>
        </p:spPr>
        <p:txBody>
          <a:bodyPr wrap="none" lIns="0" rIns="0" tIns="0" bIns="0" anchor="t">
            <a:spAutoFit/>
          </a:bodyPr>
          <a:lstStyle/>
          <a:p>
            <a:pPr>
              <a:lnSpc>
                <a:spcPts val="2700"/>
              </a:lnSpc>
              <a:spcBef>
                <a:spcPts val="0"/>
              </a:spcBef>
              <a:spcAft>
                <a:spcPts val="0"/>
              </a:spcAft>
            </a:pPr>
            <a:r>
              <a:rPr sz="2000" b="0" i="0">
                <a:solidFill>
                  <a:srgbClr val="57445E"/>
                </a:solidFill>
                <a:latin typeface="Arial"/>
              </a:rPr>
              <a:t>Ask what triggered discovery, then ask</a:t>
            </a:r>
          </a:p>
          <a:p>
            <a:pPr>
              <a:lnSpc>
                <a:spcPts val="2700"/>
              </a:lnSpc>
              <a:spcBef>
                <a:spcPts val="0"/>
              </a:spcBef>
              <a:spcAft>
                <a:spcPts val="0"/>
              </a:spcAft>
            </a:pPr>
            <a:r>
              <a:rPr sz="2000" b="0" i="0">
                <a:solidFill>
                  <a:srgbClr val="57445E"/>
                </a:solidFill>
                <a:latin typeface="Arial"/>
              </a:rPr>
              <a:t>what motivated the purchase.</a:t>
            </a:r>
          </a:p>
        </p:txBody>
      </p:sp>
      <p:sp>
        <p:nvSpPr>
          <p:cNvPr id="24" name="Rectangle 23"/>
          <p:cNvSpPr/>
          <p:nvPr/>
        </p:nvSpPr>
        <p:spPr>
          <a:xfrm>
            <a:off x="609600" y="5664200"/>
            <a:ext cx="11036300" cy="5080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6100" y="5600700"/>
            <a:ext cx="11036300" cy="5080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4700" y="5727700"/>
            <a:ext cx="105664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rPr>
              <a:t>A shared design or a vote is not a paid order.</a:t>
            </a:r>
          </a:p>
        </p:txBody>
      </p:sp>
      <p:cxnSp>
        <p:nvCxnSpPr>
          <p:cNvPr id="27" name="Connector 26"/>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S1 / Sharing is a proposed channel for REPLAY LAB; engagement does not establish willingness to pay.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03 / FIND THE OPPORTUNITY</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06</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04520"/>
          </a:xfrm>
          <a:prstGeom prst="rect">
            <a:avLst/>
          </a:prstGeom>
          <a:noFill/>
        </p:spPr>
        <p:txBody>
          <a:bodyPr wrap="none" lIns="0" rIns="0" tIns="0" bIns="0" anchor="t">
            <a:spAutoFit/>
          </a:bodyPr>
          <a:lstStyle/>
          <a:p>
            <a:pPr>
              <a:lnSpc>
                <a:spcPts val="3960"/>
              </a:lnSpc>
              <a:spcBef>
                <a:spcPts val="0"/>
              </a:spcBef>
              <a:spcAft>
                <a:spcPts val="0"/>
              </a:spcAft>
            </a:pPr>
            <a:r>
              <a:rPr sz="3600" b="1" i="0">
                <a:solidFill>
                  <a:srgbClr val="57445E"/>
                </a:solidFill>
                <a:latin typeface="Arial"/>
              </a:rPr>
              <a:t>A familiar feeling. A chosen design.</a:t>
            </a:r>
          </a:p>
        </p:txBody>
      </p:sp>
      <p:sp>
        <p:nvSpPr>
          <p:cNvPr id="8" name="Rectangle 7"/>
          <p:cNvSpPr/>
          <p:nvPr/>
        </p:nvSpPr>
        <p:spPr>
          <a:xfrm>
            <a:off x="622300" y="2108200"/>
            <a:ext cx="3441700" cy="2882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32000"/>
            <a:ext cx="3441700" cy="2882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032000"/>
            <a:ext cx="3441700" cy="368300"/>
          </a:xfrm>
          <a:prstGeom prst="rect">
            <a:avLst/>
          </a:prstGeom>
          <a:solidFill>
            <a:srgbClr val="F5BCC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159000"/>
            <a:ext cx="2413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STAR STICKER</a:t>
            </a:r>
          </a:p>
        </p:txBody>
      </p:sp>
      <p:sp>
        <p:nvSpPr>
          <p:cNvPr id="12" name="Rectangle 11"/>
          <p:cNvSpPr/>
          <p:nvPr/>
        </p:nvSpPr>
        <p:spPr>
          <a:xfrm>
            <a:off x="34798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830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46300" y="26289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44700" y="2730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46300" y="2730500"/>
            <a:ext cx="2032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49500" y="2730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44700" y="2832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46300" y="2832100"/>
            <a:ext cx="2032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49500" y="2832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3100" y="2933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44700" y="29337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451100" y="2933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38300" y="30353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943100" y="3035300"/>
            <a:ext cx="6096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52700" y="30353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5367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38300" y="3136900"/>
            <a:ext cx="12192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575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638300" y="3238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39900" y="3238500"/>
            <a:ext cx="2032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3100" y="3238500"/>
            <a:ext cx="2032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46300" y="3238500"/>
            <a:ext cx="6096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55900" y="3238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739900" y="3340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41500" y="3340100"/>
            <a:ext cx="8128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54300" y="3340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399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41500" y="3441700"/>
            <a:ext cx="1016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9431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44700" y="34417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4511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52700" y="3441700"/>
            <a:ext cx="1016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6543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6383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739900" y="3543300"/>
            <a:ext cx="10160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559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638300" y="3644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739900" y="36449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46300" y="36449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49500" y="36449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755900" y="3644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5367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638300" y="3746500"/>
            <a:ext cx="3048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943100" y="37465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349500" y="37465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552700" y="3746500"/>
            <a:ext cx="3048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8575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536700" y="3848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638300" y="3848100"/>
            <a:ext cx="1016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739900" y="38481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2552700" y="38481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55900" y="3848100"/>
            <a:ext cx="1016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857500" y="3848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38300" y="3949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755900" y="3949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419600" y="2108200"/>
            <a:ext cx="3441700" cy="2882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343400" y="2032000"/>
            <a:ext cx="3441700" cy="2882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343400" y="2032000"/>
            <a:ext cx="3441700" cy="368300"/>
          </a:xfrm>
          <a:prstGeom prst="rect">
            <a:avLst/>
          </a:prstGeom>
          <a:solidFill>
            <a:srgbClr val="C4E3F4"/>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495800" y="2159000"/>
            <a:ext cx="2413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PENCIL CASE</a:t>
            </a:r>
          </a:p>
        </p:txBody>
      </p:sp>
      <p:sp>
        <p:nvSpPr>
          <p:cNvPr id="71" name="Rectangle 70"/>
          <p:cNvSpPr/>
          <p:nvPr/>
        </p:nvSpPr>
        <p:spPr>
          <a:xfrm>
            <a:off x="72771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74803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537200" y="27305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435600" y="2832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537200" y="2832100"/>
            <a:ext cx="1016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553200" y="2832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435600" y="2933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537200" y="2933700"/>
            <a:ext cx="1016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553200" y="2933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5435600" y="3035300"/>
            <a:ext cx="1219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54356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5537200" y="3136900"/>
            <a:ext cx="304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842000" y="3136900"/>
            <a:ext cx="2032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045200" y="3136900"/>
            <a:ext cx="508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5532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5435600" y="3238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537200" y="3238500"/>
            <a:ext cx="1016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553200" y="3238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435600" y="3340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537200" y="3340100"/>
            <a:ext cx="304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842000" y="3340100"/>
            <a:ext cx="2032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045200" y="3340100"/>
            <a:ext cx="508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553200" y="3340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4356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537200" y="3441700"/>
            <a:ext cx="2032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5740400" y="3441700"/>
            <a:ext cx="4064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146800" y="3441700"/>
            <a:ext cx="4064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5532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4356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537200" y="3543300"/>
            <a:ext cx="304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842000" y="3543300"/>
            <a:ext cx="203200" cy="10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045200" y="3543300"/>
            <a:ext cx="508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5532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435600" y="3644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5537200" y="3644900"/>
            <a:ext cx="1016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6553200" y="3644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54356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5537200" y="3746500"/>
            <a:ext cx="10160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65532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537200" y="38481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216900" y="2108200"/>
            <a:ext cx="3441700" cy="2882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8140700" y="2032000"/>
            <a:ext cx="3441700" cy="2882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8140700" y="2032000"/>
            <a:ext cx="3441700" cy="3683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293100" y="2159000"/>
            <a:ext cx="2413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GAME BREAK</a:t>
            </a:r>
          </a:p>
        </p:txBody>
      </p:sp>
      <p:sp>
        <p:nvSpPr>
          <p:cNvPr id="115" name="Rectangle 114"/>
          <p:cNvSpPr/>
          <p:nvPr/>
        </p:nvSpPr>
        <p:spPr>
          <a:xfrm>
            <a:off x="110744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2776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334500" y="26289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232900" y="2730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9334500" y="2730500"/>
            <a:ext cx="10160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350500" y="2730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9232900" y="2832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334500" y="28321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436100" y="2832100"/>
            <a:ext cx="812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248900" y="28321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350500" y="2832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232900" y="2933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334500" y="29337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9436100" y="29337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9537700" y="2933700"/>
            <a:ext cx="609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147300" y="29337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248900" y="29337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350500" y="2933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9232900" y="3035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334500" y="30353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436100" y="30353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537700" y="3035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9639300" y="30353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045700" y="3035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147300" y="30353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248900" y="30353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0350500" y="3035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2329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9334500" y="31369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9436100" y="31369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5377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639300" y="3136900"/>
            <a:ext cx="406400" cy="101600"/>
          </a:xfrm>
          <a:prstGeom prst="rect">
            <a:avLst/>
          </a:prstGeom>
          <a:solidFill>
            <a:srgbClr val="F9E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00457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0147300" y="31369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248900" y="31369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350500" y="3136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9232900" y="3238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334500" y="32385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436100" y="32385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537700" y="3238500"/>
            <a:ext cx="609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0147300" y="3238500"/>
            <a:ext cx="1016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10248900" y="32385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0350500" y="3238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232900" y="3340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334500" y="33401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9436100" y="3340100"/>
            <a:ext cx="812800" cy="101600"/>
          </a:xfrm>
          <a:prstGeom prst="rect">
            <a:avLst/>
          </a:prstGeom>
          <a:solidFill>
            <a:srgbClr val="C4E3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0248900" y="33401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0350500" y="3340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2329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334500" y="3441700"/>
            <a:ext cx="10160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0350500" y="3441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2329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9334500" y="35433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6393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9740900" y="35433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045700" y="3543300"/>
            <a:ext cx="101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0147300" y="3543300"/>
            <a:ext cx="2032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0350500" y="35433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232900" y="3644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9334500" y="3644900"/>
            <a:ext cx="2032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9537700" y="36449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9842500" y="3644900"/>
            <a:ext cx="101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9944100" y="3644900"/>
            <a:ext cx="101600" cy="101600"/>
          </a:xfrm>
          <a:prstGeom prst="rect">
            <a:avLst/>
          </a:prstGeom>
          <a:solidFill>
            <a:srgbClr val="F5BC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0045700" y="36449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0350500" y="36449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92329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9334500" y="3746500"/>
            <a:ext cx="3048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96393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9740900" y="3746500"/>
            <a:ext cx="6096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0350500" y="37465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9232900" y="3848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9334500" y="3848100"/>
            <a:ext cx="10160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0350500" y="38481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9232900" y="3949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9334500" y="3949700"/>
            <a:ext cx="4064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9740900" y="3949700"/>
            <a:ext cx="3048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0045700" y="3949700"/>
            <a:ext cx="203200" cy="1016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0248900" y="3949700"/>
            <a:ext cx="1016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9334500" y="4051300"/>
            <a:ext cx="1016000" cy="1016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546100" y="5232400"/>
            <a:ext cx="5359400" cy="488950"/>
          </a:xfrm>
          <a:prstGeom prst="rect">
            <a:avLst/>
          </a:prstGeom>
          <a:noFill/>
        </p:spPr>
        <p:txBody>
          <a:bodyPr wrap="none" lIns="0" rIns="0" tIns="0" bIns="0" anchor="t">
            <a:spAutoFit/>
          </a:bodyPr>
          <a:lstStyle/>
          <a:p>
            <a:pPr>
              <a:lnSpc>
                <a:spcPts val="3050"/>
              </a:lnSpc>
              <a:spcBef>
                <a:spcPts val="0"/>
              </a:spcBef>
              <a:spcAft>
                <a:spcPts val="0"/>
              </a:spcAft>
            </a:pPr>
            <a:r>
              <a:rPr sz="2500" b="1" i="0">
                <a:solidFill>
                  <a:srgbClr val="57445E"/>
                </a:solidFill>
                <a:latin typeface="Arial"/>
              </a:rPr>
              <a:t>Choose a shared shape.</a:t>
            </a:r>
          </a:p>
        </p:txBody>
      </p:sp>
      <p:sp>
        <p:nvSpPr>
          <p:cNvPr id="195" name="TextBox 194"/>
          <p:cNvSpPr txBox="1"/>
          <p:nvPr/>
        </p:nvSpPr>
        <p:spPr>
          <a:xfrm>
            <a:off x="546100" y="5702300"/>
            <a:ext cx="11074400" cy="442468"/>
          </a:xfrm>
          <a:prstGeom prst="rect">
            <a:avLst/>
          </a:prstGeom>
          <a:noFill/>
        </p:spPr>
        <p:txBody>
          <a:bodyPr wrap="none" lIns="0" rIns="0" tIns="0" bIns="0" anchor="t">
            <a:spAutoFit/>
          </a:bodyPr>
          <a:lstStyle/>
          <a:p>
            <a:pPr>
              <a:lnSpc>
                <a:spcPts val="2684"/>
              </a:lnSpc>
              <a:spcBef>
                <a:spcPts val="0"/>
              </a:spcBef>
              <a:spcAft>
                <a:spcPts val="0"/>
              </a:spcAft>
            </a:pPr>
            <a:r>
              <a:rPr sz="2200" b="0" i="0">
                <a:solidFill>
                  <a:srgbClr val="57445E"/>
                </a:solidFill>
                <a:latin typeface="Arial"/>
              </a:rPr>
              <a:t>Personalise the colours, sensory options and story.</a:t>
            </a:r>
          </a:p>
        </p:txBody>
      </p:sp>
      <p:cxnSp>
        <p:nvCxnSpPr>
          <p:cNvPr id="196" name="Connector 195"/>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197" name="TextBox 196"/>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S2 / Rebound and scent are reported product features. These childhood themes are proposed designs.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03 / REPLAY LAB DEMO</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07</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590550"/>
          </a:xfrm>
          <a:prstGeom prst="rect">
            <a:avLst/>
          </a:prstGeom>
          <a:noFill/>
        </p:spPr>
        <p:txBody>
          <a:bodyPr wrap="none" lIns="0" rIns="0" tIns="0" bIns="0" anchor="t">
            <a:spAutoFit/>
          </a:bodyPr>
          <a:lstStyle/>
          <a:p>
            <a:pPr>
              <a:lnSpc>
                <a:spcPts val="3850"/>
              </a:lnSpc>
              <a:spcBef>
                <a:spcPts val="0"/>
              </a:spcBef>
              <a:spcAft>
                <a:spcPts val="0"/>
              </a:spcAft>
            </a:pPr>
            <a:r>
              <a:rPr sz="3500" b="1" i="0">
                <a:solidFill>
                  <a:srgbClr val="57445E"/>
                </a:solidFill>
                <a:latin typeface="Arial"/>
              </a:rPr>
              <a:t>Design it. Test demand. Make a batch.</a:t>
            </a:r>
          </a:p>
        </p:txBody>
      </p:sp>
      <p:sp>
        <p:nvSpPr>
          <p:cNvPr id="8" name="Rectangle 7"/>
          <p:cNvSpPr/>
          <p:nvPr/>
        </p:nvSpPr>
        <p:spPr>
          <a:xfrm>
            <a:off x="622300" y="2120900"/>
            <a:ext cx="7251700" cy="3898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44700"/>
            <a:ext cx="7251700" cy="3898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044700"/>
            <a:ext cx="7251700" cy="3683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171700"/>
            <a:ext cx="6223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WORKSHOP / INTERACTIVE DEMO</a:t>
            </a:r>
          </a:p>
        </p:txBody>
      </p:sp>
      <p:sp>
        <p:nvSpPr>
          <p:cNvPr id="12" name="Rectangle 11"/>
          <p:cNvSpPr/>
          <p:nvPr/>
        </p:nvSpPr>
        <p:spPr>
          <a:xfrm>
            <a:off x="7289800" y="21717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3000" y="21717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ebsite_workshop.png"/>
          <p:cNvPicPr>
            <a:picLocks noChangeAspect="1"/>
          </p:cNvPicPr>
          <p:nvPr/>
        </p:nvPicPr>
        <p:blipFill>
          <a:blip r:embed="rId2"/>
          <a:srcRect/>
          <a:stretch>
            <a:fillRect/>
          </a:stretch>
        </p:blipFill>
        <p:spPr>
          <a:xfrm>
            <a:off x="1613748" y="2514600"/>
            <a:ext cx="5103702" cy="3263900"/>
          </a:xfrm>
          <a:prstGeom prst="rect">
            <a:avLst/>
          </a:prstGeom>
        </p:spPr>
      </p:pic>
      <p:sp>
        <p:nvSpPr>
          <p:cNvPr id="15" name="TextBox 14"/>
          <p:cNvSpPr txBox="1"/>
          <p:nvPr/>
        </p:nvSpPr>
        <p:spPr>
          <a:xfrm>
            <a:off x="8280400" y="2247900"/>
            <a:ext cx="3378200" cy="596900"/>
          </a:xfrm>
          <a:prstGeom prst="rect">
            <a:avLst/>
          </a:prstGeom>
          <a:noFill/>
        </p:spPr>
        <p:txBody>
          <a:bodyPr wrap="none" lIns="0" rIns="0" tIns="0" bIns="0" anchor="t">
            <a:spAutoFit/>
          </a:bodyPr>
          <a:lstStyle/>
          <a:p>
            <a:pPr>
              <a:lnSpc>
                <a:spcPts val="1950"/>
              </a:lnSpc>
              <a:spcBef>
                <a:spcPts val="0"/>
              </a:spcBef>
              <a:spcAft>
                <a:spcPts val="0"/>
              </a:spcAft>
            </a:pPr>
            <a:r>
              <a:rPr sz="1300" b="0" i="0">
                <a:solidFill>
                  <a:srgbClr val="57445E"/>
                </a:solidFill>
                <a:latin typeface="Press Start 2P"/>
              </a:rPr>
              <a:t>THE BUSINESS</a:t>
            </a:r>
          </a:p>
          <a:p>
            <a:pPr>
              <a:lnSpc>
                <a:spcPts val="1950"/>
              </a:lnSpc>
              <a:spcBef>
                <a:spcPts val="0"/>
              </a:spcBef>
              <a:spcAft>
                <a:spcPts val="0"/>
              </a:spcAft>
            </a:pPr>
            <a:r>
              <a:rPr sz="1300" b="0" i="0">
                <a:solidFill>
                  <a:srgbClr val="57445E"/>
                </a:solidFill>
                <a:latin typeface="Press Start 2P"/>
              </a:rPr>
              <a:t>BEHIND THE DEMO</a:t>
            </a:r>
          </a:p>
        </p:txBody>
      </p:sp>
      <p:sp>
        <p:nvSpPr>
          <p:cNvPr id="16" name="TextBox 15"/>
          <p:cNvSpPr txBox="1"/>
          <p:nvPr/>
        </p:nvSpPr>
        <p:spPr>
          <a:xfrm>
            <a:off x="8293100" y="3149600"/>
            <a:ext cx="33020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Co-design</a:t>
            </a:r>
          </a:p>
        </p:txBody>
      </p:sp>
      <p:sp>
        <p:nvSpPr>
          <p:cNvPr id="17" name="TextBox 16"/>
          <p:cNvSpPr txBox="1"/>
          <p:nvPr/>
        </p:nvSpPr>
        <p:spPr>
          <a:xfrm>
            <a:off x="8293100" y="3556000"/>
            <a:ext cx="3302000" cy="381000"/>
          </a:xfrm>
          <a:prstGeom prst="rect">
            <a:avLst/>
          </a:prstGeom>
          <a:noFill/>
        </p:spPr>
        <p:txBody>
          <a:bodyPr wrap="none" lIns="0" rIns="0" tIns="0" bIns="0" anchor="t">
            <a:spAutoFit/>
          </a:bodyPr>
          <a:lstStyle/>
          <a:p>
            <a:pPr>
              <a:lnSpc>
                <a:spcPts val="2200"/>
              </a:lnSpc>
              <a:spcBef>
                <a:spcPts val="0"/>
              </a:spcBef>
              <a:spcAft>
                <a:spcPts val="0"/>
              </a:spcAft>
            </a:pPr>
            <a:r>
              <a:rPr sz="1600" b="0" i="0">
                <a:solidFill>
                  <a:srgbClr val="76647C"/>
                </a:solidFill>
                <a:latin typeface="Arial"/>
              </a:rPr>
              <a:t>Develop a small collection.</a:t>
            </a:r>
          </a:p>
        </p:txBody>
      </p:sp>
      <p:sp>
        <p:nvSpPr>
          <p:cNvPr id="18" name="TextBox 17"/>
          <p:cNvSpPr txBox="1"/>
          <p:nvPr/>
        </p:nvSpPr>
        <p:spPr>
          <a:xfrm>
            <a:off x="8293100" y="4038600"/>
            <a:ext cx="33020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Pre-order</a:t>
            </a:r>
          </a:p>
        </p:txBody>
      </p:sp>
      <p:sp>
        <p:nvSpPr>
          <p:cNvPr id="19" name="TextBox 18"/>
          <p:cNvSpPr txBox="1"/>
          <p:nvPr/>
        </p:nvSpPr>
        <p:spPr>
          <a:xfrm>
            <a:off x="8293100" y="4445000"/>
            <a:ext cx="3302000" cy="381000"/>
          </a:xfrm>
          <a:prstGeom prst="rect">
            <a:avLst/>
          </a:prstGeom>
          <a:noFill/>
        </p:spPr>
        <p:txBody>
          <a:bodyPr wrap="none" lIns="0" rIns="0" tIns="0" bIns="0" anchor="t">
            <a:spAutoFit/>
          </a:bodyPr>
          <a:lstStyle/>
          <a:p>
            <a:pPr>
              <a:lnSpc>
                <a:spcPts val="2200"/>
              </a:lnSpc>
              <a:spcBef>
                <a:spcPts val="0"/>
              </a:spcBef>
              <a:spcAft>
                <a:spcPts val="0"/>
              </a:spcAft>
            </a:pPr>
            <a:r>
              <a:rPr sz="1600" b="0" i="0">
                <a:solidFill>
                  <a:srgbClr val="76647C"/>
                </a:solidFill>
                <a:latin typeface="Arial"/>
              </a:rPr>
              <a:t>Publish a minimum batch.</a:t>
            </a:r>
          </a:p>
        </p:txBody>
      </p:sp>
      <p:sp>
        <p:nvSpPr>
          <p:cNvPr id="20" name="TextBox 19"/>
          <p:cNvSpPr txBox="1"/>
          <p:nvPr/>
        </p:nvSpPr>
        <p:spPr>
          <a:xfrm>
            <a:off x="8293100" y="4927600"/>
            <a:ext cx="33020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Produce or refund</a:t>
            </a:r>
          </a:p>
        </p:txBody>
      </p:sp>
      <p:sp>
        <p:nvSpPr>
          <p:cNvPr id="21" name="TextBox 20"/>
          <p:cNvSpPr txBox="1"/>
          <p:nvPr/>
        </p:nvSpPr>
        <p:spPr>
          <a:xfrm>
            <a:off x="8293100" y="5334000"/>
            <a:ext cx="3302000" cy="660400"/>
          </a:xfrm>
          <a:prstGeom prst="rect">
            <a:avLst/>
          </a:prstGeom>
          <a:noFill/>
        </p:spPr>
        <p:txBody>
          <a:bodyPr wrap="none" lIns="0" rIns="0" tIns="0" bIns="0" anchor="t">
            <a:spAutoFit/>
          </a:bodyPr>
          <a:lstStyle/>
          <a:p>
            <a:pPr>
              <a:lnSpc>
                <a:spcPts val="2200"/>
              </a:lnSpc>
              <a:spcBef>
                <a:spcPts val="0"/>
              </a:spcBef>
              <a:spcAft>
                <a:spcPts val="0"/>
              </a:spcAft>
            </a:pPr>
            <a:r>
              <a:rPr sz="1600" b="0" i="0">
                <a:solidFill>
                  <a:srgbClr val="76647C"/>
                </a:solidFill>
                <a:latin typeface="Arial"/>
              </a:rPr>
              <a:t>Only after costs and samples are</a:t>
            </a:r>
          </a:p>
          <a:p>
            <a:pPr>
              <a:lnSpc>
                <a:spcPts val="2200"/>
              </a:lnSpc>
              <a:spcBef>
                <a:spcPts val="0"/>
              </a:spcBef>
              <a:spcAft>
                <a:spcPts val="0"/>
              </a:spcAft>
            </a:pPr>
            <a:r>
              <a:rPr sz="1600" b="0" i="0">
                <a:solidFill>
                  <a:srgbClr val="76647C"/>
                </a:solidFill>
                <a:latin typeface="Arial"/>
              </a:rPr>
              <a:t>checked.</a:t>
            </a:r>
          </a:p>
        </p:txBody>
      </p:sp>
      <p:cxnSp>
        <p:nvCxnSpPr>
          <p:cNvPr id="22" name="Connector 21"/>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3"/>
              </a:rPr>
              <a:t>Browser-local demo / no real payment, order, production or aggregate customer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BCCF"/>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03 / A SPECIFIC DIFFERENCE</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08</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Make the difference specific.</a:t>
            </a:r>
          </a:p>
        </p:txBody>
      </p:sp>
      <p:sp>
        <p:nvSpPr>
          <p:cNvPr id="8" name="Rectangle 7"/>
          <p:cNvSpPr/>
          <p:nvPr/>
        </p:nvSpPr>
        <p:spPr>
          <a:xfrm>
            <a:off x="622300" y="2108200"/>
            <a:ext cx="5257800" cy="34163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32000"/>
            <a:ext cx="5257800" cy="34163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032000"/>
            <a:ext cx="5257800" cy="3683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159000"/>
            <a:ext cx="42291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SHARED FOR THE COLLECTION</a:t>
            </a:r>
          </a:p>
        </p:txBody>
      </p:sp>
      <p:sp>
        <p:nvSpPr>
          <p:cNvPr id="12" name="Rectangle 11"/>
          <p:cNvSpPr/>
          <p:nvPr/>
        </p:nvSpPr>
        <p:spPr>
          <a:xfrm>
            <a:off x="52959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991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2832100"/>
            <a:ext cx="4724400" cy="1816100"/>
          </a:xfrm>
          <a:prstGeom prst="rect">
            <a:avLst/>
          </a:prstGeom>
          <a:noFill/>
        </p:spPr>
        <p:txBody>
          <a:bodyPr wrap="none" lIns="0" rIns="0" tIns="0" bIns="0" anchor="t">
            <a:spAutoFit/>
          </a:bodyPr>
          <a:lstStyle/>
          <a:p>
            <a:pPr>
              <a:lnSpc>
                <a:spcPts val="4500"/>
              </a:lnSpc>
              <a:spcBef>
                <a:spcPts val="0"/>
              </a:spcBef>
              <a:spcAft>
                <a:spcPts val="0"/>
              </a:spcAft>
            </a:pPr>
            <a:r>
              <a:rPr sz="2800" b="1" i="0">
                <a:solidFill>
                  <a:srgbClr val="57445E"/>
                </a:solidFill>
                <a:latin typeface="Arial"/>
              </a:rPr>
              <a:t>Childhood theme</a:t>
            </a:r>
          </a:p>
          <a:p>
            <a:pPr>
              <a:lnSpc>
                <a:spcPts val="4500"/>
              </a:lnSpc>
              <a:spcBef>
                <a:spcPts val="0"/>
              </a:spcBef>
              <a:spcAft>
                <a:spcPts val="0"/>
              </a:spcAft>
            </a:pPr>
            <a:r>
              <a:rPr sz="2800" b="1" i="0">
                <a:solidFill>
                  <a:srgbClr val="57445E"/>
                </a:solidFill>
                <a:latin typeface="Arial"/>
              </a:rPr>
              <a:t>Core shapes</a:t>
            </a:r>
          </a:p>
          <a:p>
            <a:pPr>
              <a:lnSpc>
                <a:spcPts val="4500"/>
              </a:lnSpc>
              <a:spcBef>
                <a:spcPts val="0"/>
              </a:spcBef>
              <a:spcAft>
                <a:spcPts val="0"/>
              </a:spcAft>
            </a:pPr>
            <a:r>
              <a:rPr sz="2800" b="1" i="0">
                <a:solidFill>
                  <a:srgbClr val="57445E"/>
                </a:solidFill>
                <a:latin typeface="Arial"/>
              </a:rPr>
              <a:t>Supplier process</a:t>
            </a:r>
          </a:p>
        </p:txBody>
      </p:sp>
      <p:sp>
        <p:nvSpPr>
          <p:cNvPr id="15" name="Rectangle 14"/>
          <p:cNvSpPr/>
          <p:nvPr/>
        </p:nvSpPr>
        <p:spPr>
          <a:xfrm>
            <a:off x="6362700" y="2108200"/>
            <a:ext cx="5321300" cy="34163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86500" y="2032000"/>
            <a:ext cx="5321300" cy="34163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86500" y="2032000"/>
            <a:ext cx="5321300" cy="368300"/>
          </a:xfrm>
          <a:prstGeom prst="rect">
            <a:avLst/>
          </a:prstGeom>
          <a:solidFill>
            <a:srgbClr val="CBE7D7"/>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900" y="2159000"/>
            <a:ext cx="42926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CHOSEN BY THE CUSTOMER</a:t>
            </a:r>
          </a:p>
        </p:txBody>
      </p:sp>
      <p:sp>
        <p:nvSpPr>
          <p:cNvPr id="19" name="Rectangle 18"/>
          <p:cNvSpPr/>
          <p:nvPr/>
        </p:nvSpPr>
        <p:spPr>
          <a:xfrm>
            <a:off x="110998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303000" y="2159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5900" y="2832100"/>
            <a:ext cx="4775200" cy="1816100"/>
          </a:xfrm>
          <a:prstGeom prst="rect">
            <a:avLst/>
          </a:prstGeom>
          <a:noFill/>
        </p:spPr>
        <p:txBody>
          <a:bodyPr wrap="none" lIns="0" rIns="0" tIns="0" bIns="0" anchor="t">
            <a:spAutoFit/>
          </a:bodyPr>
          <a:lstStyle/>
          <a:p>
            <a:pPr>
              <a:lnSpc>
                <a:spcPts val="4500"/>
              </a:lnSpc>
              <a:spcBef>
                <a:spcPts val="0"/>
              </a:spcBef>
              <a:spcAft>
                <a:spcPts val="0"/>
              </a:spcAft>
            </a:pPr>
            <a:r>
              <a:rPr sz="2800" b="1" i="0">
                <a:solidFill>
                  <a:srgbClr val="57445E"/>
                </a:solidFill>
                <a:latin typeface="Arial"/>
              </a:rPr>
              <a:t>Colours + texture</a:t>
            </a:r>
          </a:p>
          <a:p>
            <a:pPr>
              <a:lnSpc>
                <a:spcPts val="4500"/>
              </a:lnSpc>
              <a:spcBef>
                <a:spcPts val="0"/>
              </a:spcBef>
              <a:spcAft>
                <a:spcPts val="0"/>
              </a:spcAft>
            </a:pPr>
            <a:r>
              <a:rPr sz="2800" b="1" i="0">
                <a:solidFill>
                  <a:srgbClr val="57445E"/>
                </a:solidFill>
                <a:latin typeface="Arial"/>
              </a:rPr>
              <a:t>Name + memory card</a:t>
            </a:r>
          </a:p>
          <a:p>
            <a:pPr>
              <a:lnSpc>
                <a:spcPts val="4500"/>
              </a:lnSpc>
              <a:spcBef>
                <a:spcPts val="0"/>
              </a:spcBef>
              <a:spcAft>
                <a:spcPts val="0"/>
              </a:spcAft>
            </a:pPr>
            <a:r>
              <a:rPr sz="2800" b="1" i="0">
                <a:solidFill>
                  <a:srgbClr val="57445E"/>
                </a:solidFill>
                <a:latin typeface="Arial"/>
              </a:rPr>
              <a:t>Personal story</a:t>
            </a:r>
          </a:p>
        </p:txBody>
      </p:sp>
      <p:sp>
        <p:nvSpPr>
          <p:cNvPr id="22" name="TextBox 21"/>
          <p:cNvSpPr txBox="1"/>
          <p:nvPr/>
        </p:nvSpPr>
        <p:spPr>
          <a:xfrm>
            <a:off x="558800" y="5753100"/>
            <a:ext cx="110871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rPr>
              <a:t>Revenue: product sales. Shared shapes help control production complexity.</a:t>
            </a:r>
          </a:p>
        </p:txBody>
      </p:sp>
      <p:cxnSp>
        <p:nvCxnSpPr>
          <p:cNvPr id="23" name="Connector 22"/>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S5 / Photo-custom squishies already exist. The proposed focus is Thai childhood memories and adult use.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04 / EVALUATE THE OPPORTUNITY</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09</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Three risks need an answer.</a:t>
            </a:r>
          </a:p>
        </p:txBody>
      </p:sp>
      <p:sp>
        <p:nvSpPr>
          <p:cNvPr id="8" name="Rectangle 7"/>
          <p:cNvSpPr/>
          <p:nvPr/>
        </p:nvSpPr>
        <p:spPr>
          <a:xfrm>
            <a:off x="609600" y="2133600"/>
            <a:ext cx="11036300" cy="787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2070100"/>
            <a:ext cx="11036300" cy="7874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2349500"/>
            <a:ext cx="4953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1</a:t>
            </a:r>
          </a:p>
        </p:txBody>
      </p:sp>
      <p:sp>
        <p:nvSpPr>
          <p:cNvPr id="11" name="TextBox 10"/>
          <p:cNvSpPr txBox="1"/>
          <p:nvPr/>
        </p:nvSpPr>
        <p:spPr>
          <a:xfrm>
            <a:off x="1473200" y="2324100"/>
            <a:ext cx="40894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Willingness to pay</a:t>
            </a:r>
          </a:p>
        </p:txBody>
      </p:sp>
      <p:sp>
        <p:nvSpPr>
          <p:cNvPr id="12" name="TextBox 11"/>
          <p:cNvSpPr txBox="1"/>
          <p:nvPr/>
        </p:nvSpPr>
        <p:spPr>
          <a:xfrm>
            <a:off x="6032500" y="2336800"/>
            <a:ext cx="5270500" cy="380492"/>
          </a:xfrm>
          <a:prstGeom prst="rect">
            <a:avLst/>
          </a:prstGeom>
          <a:noFill/>
        </p:spPr>
        <p:txBody>
          <a:bodyPr wrap="none" lIns="0" rIns="0" tIns="0" bIns="0" anchor="t">
            <a:spAutoFit/>
          </a:bodyPr>
          <a:lstStyle/>
          <a:p>
            <a:pPr>
              <a:lnSpc>
                <a:spcPts val="2196"/>
              </a:lnSpc>
              <a:spcBef>
                <a:spcPts val="0"/>
              </a:spcBef>
              <a:spcAft>
                <a:spcPts val="0"/>
              </a:spcAft>
            </a:pPr>
            <a:r>
              <a:rPr sz="1800" b="0" i="0">
                <a:solidFill>
                  <a:srgbClr val="57445E"/>
                </a:solidFill>
                <a:latin typeface="Arial"/>
              </a:rPr>
              <a:t>A cheaper ready-made toy may still win.</a:t>
            </a:r>
          </a:p>
        </p:txBody>
      </p:sp>
      <p:sp>
        <p:nvSpPr>
          <p:cNvPr id="13" name="Rectangle 12"/>
          <p:cNvSpPr/>
          <p:nvPr/>
        </p:nvSpPr>
        <p:spPr>
          <a:xfrm>
            <a:off x="609600" y="3111500"/>
            <a:ext cx="11036300" cy="787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6100" y="3048000"/>
            <a:ext cx="11036300" cy="787400"/>
          </a:xfrm>
          <a:prstGeom prst="rect">
            <a:avLst/>
          </a:prstGeom>
          <a:solidFill>
            <a:srgbClr val="C4E3F4"/>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3327400"/>
            <a:ext cx="4953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2</a:t>
            </a:r>
          </a:p>
        </p:txBody>
      </p:sp>
      <p:sp>
        <p:nvSpPr>
          <p:cNvPr id="16" name="TextBox 15"/>
          <p:cNvSpPr txBox="1"/>
          <p:nvPr/>
        </p:nvSpPr>
        <p:spPr>
          <a:xfrm>
            <a:off x="1473200" y="3302000"/>
            <a:ext cx="40894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Production complexity</a:t>
            </a:r>
          </a:p>
        </p:txBody>
      </p:sp>
      <p:sp>
        <p:nvSpPr>
          <p:cNvPr id="17" name="TextBox 16"/>
          <p:cNvSpPr txBox="1"/>
          <p:nvPr/>
        </p:nvSpPr>
        <p:spPr>
          <a:xfrm>
            <a:off x="6032500" y="3314700"/>
            <a:ext cx="5270500" cy="380492"/>
          </a:xfrm>
          <a:prstGeom prst="rect">
            <a:avLst/>
          </a:prstGeom>
          <a:noFill/>
        </p:spPr>
        <p:txBody>
          <a:bodyPr wrap="none" lIns="0" rIns="0" tIns="0" bIns="0" anchor="t">
            <a:spAutoFit/>
          </a:bodyPr>
          <a:lstStyle/>
          <a:p>
            <a:pPr>
              <a:lnSpc>
                <a:spcPts val="2196"/>
              </a:lnSpc>
              <a:spcBef>
                <a:spcPts val="0"/>
              </a:spcBef>
              <a:spcAft>
                <a:spcPts val="0"/>
              </a:spcAft>
            </a:pPr>
            <a:r>
              <a:rPr sz="1800" b="0" i="0">
                <a:solidFill>
                  <a:srgbClr val="57445E"/>
                </a:solidFill>
                <a:latin typeface="Arial"/>
              </a:rPr>
              <a:t>Options can add mistakes, delays and cost.</a:t>
            </a:r>
          </a:p>
        </p:txBody>
      </p:sp>
      <p:sp>
        <p:nvSpPr>
          <p:cNvPr id="18" name="Rectangle 17"/>
          <p:cNvSpPr/>
          <p:nvPr/>
        </p:nvSpPr>
        <p:spPr>
          <a:xfrm>
            <a:off x="609600" y="4089400"/>
            <a:ext cx="11036300" cy="787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6100" y="4025900"/>
            <a:ext cx="11036300" cy="787400"/>
          </a:xfrm>
          <a:prstGeom prst="rect">
            <a:avLst/>
          </a:prstGeom>
          <a:solidFill>
            <a:srgbClr val="F5BCC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4305300"/>
            <a:ext cx="495300" cy="406400"/>
          </a:xfrm>
          <a:prstGeom prst="rect">
            <a:avLst/>
          </a:prstGeom>
          <a:noFill/>
        </p:spPr>
        <p:txBody>
          <a:bodyPr wrap="none" lIns="0" rIns="0" tIns="0" bIns="0" anchor="t">
            <a:spAutoFit/>
          </a:bodyPr>
          <a:lstStyle/>
          <a:p>
            <a:pPr>
              <a:lnSpc>
                <a:spcPts val="2400"/>
              </a:lnSpc>
              <a:spcBef>
                <a:spcPts val="0"/>
              </a:spcBef>
              <a:spcAft>
                <a:spcPts val="0"/>
              </a:spcAft>
            </a:pPr>
            <a:r>
              <a:rPr sz="1600" b="0" i="0">
                <a:solidFill>
                  <a:srgbClr val="57445E"/>
                </a:solidFill>
                <a:latin typeface="Press Start 2P"/>
              </a:rPr>
              <a:t>3</a:t>
            </a:r>
          </a:p>
        </p:txBody>
      </p:sp>
      <p:sp>
        <p:nvSpPr>
          <p:cNvPr id="21" name="TextBox 20"/>
          <p:cNvSpPr txBox="1"/>
          <p:nvPr/>
        </p:nvSpPr>
        <p:spPr>
          <a:xfrm>
            <a:off x="1473200" y="4279900"/>
            <a:ext cx="4089400" cy="457962"/>
          </a:xfrm>
          <a:prstGeom prst="rect">
            <a:avLst/>
          </a:prstGeom>
          <a:noFill/>
        </p:spPr>
        <p:txBody>
          <a:bodyPr wrap="none" lIns="0" rIns="0" tIns="0" bIns="0" anchor="t">
            <a:spAutoFit/>
          </a:bodyPr>
          <a:lstStyle/>
          <a:p>
            <a:pPr>
              <a:lnSpc>
                <a:spcPts val="2806"/>
              </a:lnSpc>
              <a:spcBef>
                <a:spcPts val="0"/>
              </a:spcBef>
              <a:spcAft>
                <a:spcPts val="0"/>
              </a:spcAft>
            </a:pPr>
            <a:r>
              <a:rPr sz="2300" b="1" i="0">
                <a:solidFill>
                  <a:srgbClr val="57445E"/>
                </a:solidFill>
                <a:latin typeface="Arial"/>
              </a:rPr>
              <a:t>Continued demand</a:t>
            </a:r>
          </a:p>
        </p:txBody>
      </p:sp>
      <p:sp>
        <p:nvSpPr>
          <p:cNvPr id="22" name="TextBox 21"/>
          <p:cNvSpPr txBox="1"/>
          <p:nvPr/>
        </p:nvSpPr>
        <p:spPr>
          <a:xfrm>
            <a:off x="6032500" y="4292600"/>
            <a:ext cx="5270500" cy="380492"/>
          </a:xfrm>
          <a:prstGeom prst="rect">
            <a:avLst/>
          </a:prstGeom>
          <a:noFill/>
        </p:spPr>
        <p:txBody>
          <a:bodyPr wrap="none" lIns="0" rIns="0" tIns="0" bIns="0" anchor="t">
            <a:spAutoFit/>
          </a:bodyPr>
          <a:lstStyle/>
          <a:p>
            <a:pPr>
              <a:lnSpc>
                <a:spcPts val="2196"/>
              </a:lnSpc>
              <a:spcBef>
                <a:spcPts val="0"/>
              </a:spcBef>
              <a:spcAft>
                <a:spcPts val="0"/>
              </a:spcAft>
            </a:pPr>
            <a:r>
              <a:rPr sz="1800" b="0" i="0">
                <a:solidFill>
                  <a:srgbClr val="57445E"/>
                </a:solidFill>
                <a:latin typeface="Arial"/>
              </a:rPr>
              <a:t>Nostalgia may prompt only one purchase.</a:t>
            </a:r>
          </a:p>
        </p:txBody>
      </p:sp>
      <p:sp>
        <p:nvSpPr>
          <p:cNvPr id="23" name="Rectangle 22"/>
          <p:cNvSpPr/>
          <p:nvPr/>
        </p:nvSpPr>
        <p:spPr>
          <a:xfrm>
            <a:off x="622300" y="5321300"/>
            <a:ext cx="11036300" cy="8255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6100" y="5245100"/>
            <a:ext cx="11036300" cy="8255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6100" y="5245100"/>
            <a:ext cx="11036300" cy="3683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8500" y="5372100"/>
            <a:ext cx="100076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REAL CASE / OCPB / 30 JUN 2026</a:t>
            </a:r>
          </a:p>
        </p:txBody>
      </p:sp>
      <p:sp>
        <p:nvSpPr>
          <p:cNvPr id="27" name="Rectangle 26"/>
          <p:cNvSpPr/>
          <p:nvPr/>
        </p:nvSpPr>
        <p:spPr>
          <a:xfrm>
            <a:off x="11074400" y="5372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277600" y="5372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6600" y="5727700"/>
            <a:ext cx="10642600" cy="349504"/>
          </a:xfrm>
          <a:prstGeom prst="rect">
            <a:avLst/>
          </a:prstGeom>
          <a:noFill/>
        </p:spPr>
        <p:txBody>
          <a:bodyPr wrap="none" lIns="0" rIns="0" tIns="0" bIns="0" anchor="t">
            <a:spAutoFit/>
          </a:bodyPr>
          <a:lstStyle/>
          <a:p>
            <a:pPr>
              <a:lnSpc>
                <a:spcPts val="1952"/>
              </a:lnSpc>
              <a:spcBef>
                <a:spcPts val="0"/>
              </a:spcBef>
              <a:spcAft>
                <a:spcPts val="0"/>
              </a:spcAft>
            </a:pPr>
            <a:r>
              <a:rPr sz="1600" b="0" i="0">
                <a:solidFill>
                  <a:srgbClr val="57445E"/>
                </a:solidFill>
                <a:latin typeface="Arial"/>
              </a:rPr>
              <a:t>Incomplete labels at some Mega Plaza sellers: check products, suppliers and information.</a:t>
            </a:r>
          </a:p>
        </p:txBody>
      </p:sp>
      <p:cxnSp>
        <p:nvCxnSpPr>
          <p:cNvPr id="30" name="Connector 29"/>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S4 / The inspection concerns some sellers. It does not establish that every squishy is unsafe.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D5C6F3"/>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04 / BATCH ECONOMICS</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10</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1049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Orders must cover a real batch.</a:t>
            </a:r>
          </a:p>
        </p:txBody>
      </p:sp>
      <p:sp>
        <p:nvSpPr>
          <p:cNvPr id="8" name="TextBox 7"/>
          <p:cNvSpPr txBox="1"/>
          <p:nvPr/>
        </p:nvSpPr>
        <p:spPr>
          <a:xfrm>
            <a:off x="546100" y="1993900"/>
            <a:ext cx="11074400" cy="330200"/>
          </a:xfrm>
          <a:prstGeom prst="rect">
            <a:avLst/>
          </a:prstGeom>
          <a:noFill/>
        </p:spPr>
        <p:txBody>
          <a:bodyPr wrap="none" lIns="0" rIns="0" tIns="0" bIns="0" anchor="t">
            <a:spAutoFit/>
          </a:bodyPr>
          <a:lstStyle/>
          <a:p>
            <a:pPr>
              <a:lnSpc>
                <a:spcPts val="1800"/>
              </a:lnSpc>
              <a:spcBef>
                <a:spcPts val="0"/>
              </a:spcBef>
              <a:spcAft>
                <a:spcPts val="0"/>
              </a:spcAft>
            </a:pPr>
            <a:r>
              <a:rPr sz="1200" b="0" i="0">
                <a:solidFill>
                  <a:srgbClr val="57445E"/>
                </a:solidFill>
                <a:latin typeface="Press Start 2P"/>
              </a:rPr>
              <a:t>ILLUSTRATIVE SQUISHY CASE / THB</a:t>
            </a:r>
          </a:p>
        </p:txBody>
      </p:sp>
      <p:sp>
        <p:nvSpPr>
          <p:cNvPr id="9" name="Rectangle 8"/>
          <p:cNvSpPr/>
          <p:nvPr/>
        </p:nvSpPr>
        <p:spPr>
          <a:xfrm>
            <a:off x="622300" y="2616200"/>
            <a:ext cx="3340100" cy="2120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2540000"/>
            <a:ext cx="3340100" cy="2120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6100" y="2540000"/>
            <a:ext cx="3340100" cy="3683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2667000"/>
            <a:ext cx="23114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ASSUMPTION</a:t>
            </a:r>
          </a:p>
        </p:txBody>
      </p:sp>
      <p:sp>
        <p:nvSpPr>
          <p:cNvPr id="13" name="Rectangle 12"/>
          <p:cNvSpPr/>
          <p:nvPr/>
        </p:nvSpPr>
        <p:spPr>
          <a:xfrm>
            <a:off x="3378200" y="2667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81400" y="2667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700" y="3098800"/>
            <a:ext cx="2946400" cy="938276"/>
          </a:xfrm>
          <a:prstGeom prst="rect">
            <a:avLst/>
          </a:prstGeom>
          <a:noFill/>
        </p:spPr>
        <p:txBody>
          <a:bodyPr wrap="none" lIns="0" rIns="0" tIns="0" bIns="0" anchor="t">
            <a:spAutoFit/>
          </a:bodyPr>
          <a:lstStyle/>
          <a:p>
            <a:pPr>
              <a:lnSpc>
                <a:spcPts val="6588"/>
              </a:lnSpc>
              <a:spcBef>
                <a:spcPts val="0"/>
              </a:spcBef>
              <a:spcAft>
                <a:spcPts val="0"/>
              </a:spcAft>
            </a:pPr>
            <a:r>
              <a:rPr sz="5400" b="1" i="0">
                <a:solidFill>
                  <a:srgbClr val="57445E"/>
                </a:solidFill>
                <a:latin typeface="Arial"/>
              </a:rPr>
              <a:t>349</a:t>
            </a:r>
          </a:p>
        </p:txBody>
      </p:sp>
      <p:sp>
        <p:nvSpPr>
          <p:cNvPr id="16" name="TextBox 15"/>
          <p:cNvSpPr txBox="1"/>
          <p:nvPr/>
        </p:nvSpPr>
        <p:spPr>
          <a:xfrm>
            <a:off x="800100" y="4076700"/>
            <a:ext cx="2946400" cy="364998"/>
          </a:xfrm>
          <a:prstGeom prst="rect">
            <a:avLst/>
          </a:prstGeom>
          <a:noFill/>
        </p:spPr>
        <p:txBody>
          <a:bodyPr wrap="none" lIns="0" rIns="0" tIns="0" bIns="0" anchor="t">
            <a:spAutoFit/>
          </a:bodyPr>
          <a:lstStyle/>
          <a:p>
            <a:pPr>
              <a:lnSpc>
                <a:spcPts val="2074"/>
              </a:lnSpc>
              <a:spcBef>
                <a:spcPts val="0"/>
              </a:spcBef>
              <a:spcAft>
                <a:spcPts val="0"/>
              </a:spcAft>
            </a:pPr>
            <a:r>
              <a:rPr sz="1700" b="0" i="0">
                <a:solidFill>
                  <a:srgbClr val="57445E"/>
                </a:solidFill>
                <a:latin typeface="Arial"/>
              </a:rPr>
              <a:t>Base price</a:t>
            </a:r>
          </a:p>
        </p:txBody>
      </p:sp>
      <p:sp>
        <p:nvSpPr>
          <p:cNvPr id="17" name="Rectangle 16"/>
          <p:cNvSpPr/>
          <p:nvPr/>
        </p:nvSpPr>
        <p:spPr>
          <a:xfrm>
            <a:off x="4470400" y="2616200"/>
            <a:ext cx="3340100" cy="2120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94200" y="2540000"/>
            <a:ext cx="3340100" cy="2120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4200" y="2540000"/>
            <a:ext cx="3340100" cy="3683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6600" y="2667000"/>
            <a:ext cx="23114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ASSUMPTION</a:t>
            </a:r>
          </a:p>
        </p:txBody>
      </p:sp>
      <p:sp>
        <p:nvSpPr>
          <p:cNvPr id="21" name="Rectangle 20"/>
          <p:cNvSpPr/>
          <p:nvPr/>
        </p:nvSpPr>
        <p:spPr>
          <a:xfrm>
            <a:off x="7226300" y="2667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29500" y="2667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2800" y="3098800"/>
            <a:ext cx="2946400" cy="938276"/>
          </a:xfrm>
          <a:prstGeom prst="rect">
            <a:avLst/>
          </a:prstGeom>
          <a:noFill/>
        </p:spPr>
        <p:txBody>
          <a:bodyPr wrap="none" lIns="0" rIns="0" tIns="0" bIns="0" anchor="t">
            <a:spAutoFit/>
          </a:bodyPr>
          <a:lstStyle/>
          <a:p>
            <a:pPr>
              <a:lnSpc>
                <a:spcPts val="6588"/>
              </a:lnSpc>
              <a:spcBef>
                <a:spcPts val="0"/>
              </a:spcBef>
              <a:spcAft>
                <a:spcPts val="0"/>
              </a:spcAft>
            </a:pPr>
            <a:r>
              <a:rPr sz="5400" b="1" i="0">
                <a:solidFill>
                  <a:srgbClr val="57445E"/>
                </a:solidFill>
                <a:latin typeface="Arial"/>
              </a:rPr>
              <a:t>199</a:t>
            </a:r>
          </a:p>
        </p:txBody>
      </p:sp>
      <p:sp>
        <p:nvSpPr>
          <p:cNvPr id="24" name="TextBox 23"/>
          <p:cNvSpPr txBox="1"/>
          <p:nvPr/>
        </p:nvSpPr>
        <p:spPr>
          <a:xfrm>
            <a:off x="4648200" y="4076700"/>
            <a:ext cx="2946400" cy="364998"/>
          </a:xfrm>
          <a:prstGeom prst="rect">
            <a:avLst/>
          </a:prstGeom>
          <a:noFill/>
        </p:spPr>
        <p:txBody>
          <a:bodyPr wrap="none" lIns="0" rIns="0" tIns="0" bIns="0" anchor="t">
            <a:spAutoFit/>
          </a:bodyPr>
          <a:lstStyle/>
          <a:p>
            <a:pPr>
              <a:lnSpc>
                <a:spcPts val="2074"/>
              </a:lnSpc>
              <a:spcBef>
                <a:spcPts val="0"/>
              </a:spcBef>
              <a:spcAft>
                <a:spcPts val="0"/>
              </a:spcAft>
            </a:pPr>
            <a:r>
              <a:rPr sz="1700" b="0" i="0">
                <a:solidFill>
                  <a:srgbClr val="57445E"/>
                </a:solidFill>
                <a:latin typeface="Arial"/>
              </a:rPr>
              <a:t>Variable cost</a:t>
            </a:r>
          </a:p>
        </p:txBody>
      </p:sp>
      <p:sp>
        <p:nvSpPr>
          <p:cNvPr id="25" name="Rectangle 24"/>
          <p:cNvSpPr/>
          <p:nvPr/>
        </p:nvSpPr>
        <p:spPr>
          <a:xfrm>
            <a:off x="8331200" y="2616200"/>
            <a:ext cx="3340100" cy="21209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55000" y="2540000"/>
            <a:ext cx="3340100" cy="21209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55000" y="2540000"/>
            <a:ext cx="3340100" cy="3683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07400" y="2667000"/>
            <a:ext cx="23114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ASSUMPTION</a:t>
            </a:r>
          </a:p>
        </p:txBody>
      </p:sp>
      <p:sp>
        <p:nvSpPr>
          <p:cNvPr id="29" name="Rectangle 28"/>
          <p:cNvSpPr/>
          <p:nvPr/>
        </p:nvSpPr>
        <p:spPr>
          <a:xfrm>
            <a:off x="11087100" y="2667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290300" y="2667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83600" y="3098800"/>
            <a:ext cx="2946400" cy="938276"/>
          </a:xfrm>
          <a:prstGeom prst="rect">
            <a:avLst/>
          </a:prstGeom>
          <a:noFill/>
        </p:spPr>
        <p:txBody>
          <a:bodyPr wrap="none" lIns="0" rIns="0" tIns="0" bIns="0" anchor="t">
            <a:spAutoFit/>
          </a:bodyPr>
          <a:lstStyle/>
          <a:p>
            <a:pPr>
              <a:lnSpc>
                <a:spcPts val="6588"/>
              </a:lnSpc>
              <a:spcBef>
                <a:spcPts val="0"/>
              </a:spcBef>
              <a:spcAft>
                <a:spcPts val="0"/>
              </a:spcAft>
            </a:pPr>
            <a:r>
              <a:rPr sz="5400" b="1" i="0">
                <a:solidFill>
                  <a:srgbClr val="57445E"/>
                </a:solidFill>
                <a:latin typeface="Arial"/>
              </a:rPr>
              <a:t>150</a:t>
            </a:r>
          </a:p>
        </p:txBody>
      </p:sp>
      <p:sp>
        <p:nvSpPr>
          <p:cNvPr id="32" name="TextBox 31"/>
          <p:cNvSpPr txBox="1"/>
          <p:nvPr/>
        </p:nvSpPr>
        <p:spPr>
          <a:xfrm>
            <a:off x="8509000" y="4076700"/>
            <a:ext cx="2946400" cy="364998"/>
          </a:xfrm>
          <a:prstGeom prst="rect">
            <a:avLst/>
          </a:prstGeom>
          <a:noFill/>
        </p:spPr>
        <p:txBody>
          <a:bodyPr wrap="none" lIns="0" rIns="0" tIns="0" bIns="0" anchor="t">
            <a:spAutoFit/>
          </a:bodyPr>
          <a:lstStyle/>
          <a:p>
            <a:pPr>
              <a:lnSpc>
                <a:spcPts val="2074"/>
              </a:lnSpc>
              <a:spcBef>
                <a:spcPts val="0"/>
              </a:spcBef>
              <a:spcAft>
                <a:spcPts val="0"/>
              </a:spcAft>
            </a:pPr>
            <a:r>
              <a:rPr sz="1700" b="0" i="0">
                <a:solidFill>
                  <a:srgbClr val="57445E"/>
                </a:solidFill>
                <a:latin typeface="Arial"/>
              </a:rPr>
              <a:t>Contribution per unit</a:t>
            </a:r>
          </a:p>
        </p:txBody>
      </p:sp>
      <p:sp>
        <p:nvSpPr>
          <p:cNvPr id="33" name="TextBox 32"/>
          <p:cNvSpPr txBox="1"/>
          <p:nvPr/>
        </p:nvSpPr>
        <p:spPr>
          <a:xfrm>
            <a:off x="3962400" y="3314700"/>
            <a:ext cx="419100" cy="581914"/>
          </a:xfrm>
          <a:prstGeom prst="rect">
            <a:avLst/>
          </a:prstGeom>
          <a:noFill/>
        </p:spPr>
        <p:txBody>
          <a:bodyPr wrap="none" lIns="0" rIns="0" tIns="0" bIns="0" anchor="t">
            <a:spAutoFit/>
          </a:bodyPr>
          <a:lstStyle/>
          <a:p>
            <a:pPr>
              <a:lnSpc>
                <a:spcPts val="3782"/>
              </a:lnSpc>
              <a:spcBef>
                <a:spcPts val="0"/>
              </a:spcBef>
              <a:spcAft>
                <a:spcPts val="0"/>
              </a:spcAft>
            </a:pPr>
            <a:r>
              <a:rPr sz="3100" b="1" i="0">
                <a:solidFill>
                  <a:srgbClr val="57445E"/>
                </a:solidFill>
                <a:latin typeface="Arial"/>
              </a:rPr>
              <a:t>−</a:t>
            </a:r>
          </a:p>
        </p:txBody>
      </p:sp>
      <p:sp>
        <p:nvSpPr>
          <p:cNvPr id="34" name="TextBox 33"/>
          <p:cNvSpPr txBox="1"/>
          <p:nvPr/>
        </p:nvSpPr>
        <p:spPr>
          <a:xfrm>
            <a:off x="7810500" y="3314700"/>
            <a:ext cx="444500" cy="581914"/>
          </a:xfrm>
          <a:prstGeom prst="rect">
            <a:avLst/>
          </a:prstGeom>
          <a:noFill/>
        </p:spPr>
        <p:txBody>
          <a:bodyPr wrap="none" lIns="0" rIns="0" tIns="0" bIns="0" anchor="t">
            <a:spAutoFit/>
          </a:bodyPr>
          <a:lstStyle/>
          <a:p>
            <a:pPr>
              <a:lnSpc>
                <a:spcPts val="3782"/>
              </a:lnSpc>
              <a:spcBef>
                <a:spcPts val="0"/>
              </a:spcBef>
              <a:spcAft>
                <a:spcPts val="0"/>
              </a:spcAft>
            </a:pPr>
            <a:r>
              <a:rPr sz="3100" b="1" i="0">
                <a:solidFill>
                  <a:srgbClr val="57445E"/>
                </a:solidFill>
                <a:latin typeface="Arial"/>
              </a:rPr>
              <a:t>=</a:t>
            </a:r>
          </a:p>
        </p:txBody>
      </p:sp>
      <p:sp>
        <p:nvSpPr>
          <p:cNvPr id="35" name="Rectangle 34"/>
          <p:cNvSpPr/>
          <p:nvPr/>
        </p:nvSpPr>
        <p:spPr>
          <a:xfrm>
            <a:off x="609600" y="5092700"/>
            <a:ext cx="11049000" cy="10541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6100" y="5029200"/>
            <a:ext cx="11049000" cy="1054100"/>
          </a:xfrm>
          <a:prstGeom prst="rect">
            <a:avLst/>
          </a:prstGeom>
          <a:solidFill>
            <a:srgbClr val="F9E6A6"/>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4700" y="5219700"/>
            <a:ext cx="10553700" cy="535432"/>
          </a:xfrm>
          <a:prstGeom prst="rect">
            <a:avLst/>
          </a:prstGeom>
          <a:noFill/>
        </p:spPr>
        <p:txBody>
          <a:bodyPr wrap="none" lIns="0" rIns="0" tIns="0" bIns="0" anchor="t">
            <a:spAutoFit/>
          </a:bodyPr>
          <a:lstStyle/>
          <a:p>
            <a:pPr>
              <a:lnSpc>
                <a:spcPts val="3415"/>
              </a:lnSpc>
              <a:spcBef>
                <a:spcPts val="0"/>
              </a:spcBef>
              <a:spcAft>
                <a:spcPts val="0"/>
              </a:spcAft>
            </a:pPr>
            <a:r>
              <a:rPr sz="2800" b="1" i="0">
                <a:solidFill>
                  <a:srgbClr val="57445E"/>
                </a:solidFill>
                <a:latin typeface="Arial"/>
              </a:rPr>
              <a:t>THB 4,500 ÷ THB 150 = 30 units</a:t>
            </a:r>
          </a:p>
        </p:txBody>
      </p:sp>
      <p:sp>
        <p:nvSpPr>
          <p:cNvPr id="38" name="TextBox 37"/>
          <p:cNvSpPr txBox="1"/>
          <p:nvPr/>
        </p:nvSpPr>
        <p:spPr>
          <a:xfrm>
            <a:off x="787400" y="5715000"/>
            <a:ext cx="10502900" cy="349504"/>
          </a:xfrm>
          <a:prstGeom prst="rect">
            <a:avLst/>
          </a:prstGeom>
          <a:noFill/>
        </p:spPr>
        <p:txBody>
          <a:bodyPr wrap="none" lIns="0" rIns="0" tIns="0" bIns="0" anchor="t">
            <a:spAutoFit/>
          </a:bodyPr>
          <a:lstStyle/>
          <a:p>
            <a:pPr>
              <a:lnSpc>
                <a:spcPts val="1952"/>
              </a:lnSpc>
              <a:spcBef>
                <a:spcPts val="0"/>
              </a:spcBef>
              <a:spcAft>
                <a:spcPts val="0"/>
              </a:spcAft>
            </a:pPr>
            <a:r>
              <a:rPr sz="1600" b="0" i="0">
                <a:solidFill>
                  <a:srgbClr val="57445E"/>
                </a:solidFill>
                <a:latin typeface="Arial"/>
              </a:rPr>
              <a:t>Actual threshold must also meet the supplier’s minimum order quantity.</a:t>
            </a:r>
          </a:p>
        </p:txBody>
      </p:sp>
      <p:cxnSp>
        <p:nvCxnSpPr>
          <p:cNvPr id="39" name="Connector 38"/>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rPr>
              <a:t>All figures are assumptions, not actual supplier costs or demand. The proposed 30-unit threshold needs supplier validation.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04 / RECOMMENDATION</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11</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295400"/>
            <a:ext cx="6502400" cy="1054100"/>
          </a:xfrm>
          <a:prstGeom prst="rect">
            <a:avLst/>
          </a:prstGeom>
          <a:noFill/>
        </p:spPr>
        <p:txBody>
          <a:bodyPr wrap="none" lIns="0" rIns="0" tIns="0" bIns="0" anchor="t">
            <a:spAutoFit/>
          </a:bodyPr>
          <a:lstStyle/>
          <a:p>
            <a:pPr>
              <a:lnSpc>
                <a:spcPts val="3750"/>
              </a:lnSpc>
              <a:spcBef>
                <a:spcPts val="0"/>
              </a:spcBef>
              <a:spcAft>
                <a:spcPts val="0"/>
              </a:spcAft>
            </a:pPr>
            <a:r>
              <a:rPr sz="2500" b="0" i="0">
                <a:solidFill>
                  <a:srgbClr val="57445E"/>
                </a:solidFill>
                <a:latin typeface="Press Start 2P"/>
              </a:rPr>
              <a:t>START WITH</a:t>
            </a:r>
          </a:p>
          <a:p>
            <a:pPr>
              <a:lnSpc>
                <a:spcPts val="3750"/>
              </a:lnSpc>
              <a:spcBef>
                <a:spcPts val="0"/>
              </a:spcBef>
              <a:spcAft>
                <a:spcPts val="0"/>
              </a:spcAft>
            </a:pPr>
            <a:r>
              <a:rPr sz="2500" b="0" i="0">
                <a:solidFill>
                  <a:srgbClr val="57445E"/>
                </a:solidFill>
                <a:latin typeface="Press Start 2P"/>
              </a:rPr>
              <a:t>ONE COLLECTION.</a:t>
            </a:r>
          </a:p>
        </p:txBody>
      </p:sp>
      <p:sp>
        <p:nvSpPr>
          <p:cNvPr id="8" name="TextBox 7"/>
          <p:cNvSpPr txBox="1"/>
          <p:nvPr/>
        </p:nvSpPr>
        <p:spPr>
          <a:xfrm>
            <a:off x="571500" y="3060700"/>
            <a:ext cx="5791200" cy="1473200"/>
          </a:xfrm>
          <a:prstGeom prst="rect">
            <a:avLst/>
          </a:prstGeom>
          <a:noFill/>
        </p:spPr>
        <p:txBody>
          <a:bodyPr wrap="none" lIns="0" rIns="0" tIns="0" bIns="0" anchor="t">
            <a:spAutoFit/>
          </a:bodyPr>
          <a:lstStyle/>
          <a:p>
            <a:pPr>
              <a:lnSpc>
                <a:spcPts val="3600"/>
              </a:lnSpc>
              <a:spcBef>
                <a:spcPts val="0"/>
              </a:spcBef>
              <a:spcAft>
                <a:spcPts val="0"/>
              </a:spcAft>
            </a:pPr>
            <a:r>
              <a:rPr sz="2300" b="0" i="0">
                <a:solidFill>
                  <a:srgbClr val="57445E"/>
                </a:solidFill>
                <a:latin typeface="Arial"/>
              </a:rPr>
              <a:t>Interview working adults.</a:t>
            </a:r>
          </a:p>
          <a:p>
            <a:pPr>
              <a:lnSpc>
                <a:spcPts val="3600"/>
              </a:lnSpc>
              <a:spcBef>
                <a:spcPts val="0"/>
              </a:spcBef>
              <a:spcAft>
                <a:spcPts val="0"/>
              </a:spcAft>
            </a:pPr>
            <a:r>
              <a:rPr sz="2300" b="0" i="0">
                <a:solidFill>
                  <a:srgbClr val="57445E"/>
                </a:solidFill>
                <a:latin typeface="Arial"/>
              </a:rPr>
              <a:t>Test the prototype and price.</a:t>
            </a:r>
          </a:p>
          <a:p>
            <a:pPr>
              <a:lnSpc>
                <a:spcPts val="3600"/>
              </a:lnSpc>
              <a:spcBef>
                <a:spcPts val="0"/>
              </a:spcBef>
              <a:spcAft>
                <a:spcPts val="0"/>
              </a:spcAft>
            </a:pPr>
            <a:r>
              <a:rPr sz="2300" b="0" i="0">
                <a:solidFill>
                  <a:srgbClr val="57445E"/>
                </a:solidFill>
                <a:latin typeface="Arial"/>
              </a:rPr>
              <a:t>Check a supplier-made sample.</a:t>
            </a:r>
          </a:p>
        </p:txBody>
      </p:sp>
      <p:sp>
        <p:nvSpPr>
          <p:cNvPr id="9" name="Rectangle 8"/>
          <p:cNvSpPr/>
          <p:nvPr/>
        </p:nvSpPr>
        <p:spPr>
          <a:xfrm>
            <a:off x="609600" y="5041900"/>
            <a:ext cx="5715000" cy="9271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4978400"/>
            <a:ext cx="5715000" cy="927100"/>
          </a:xfrm>
          <a:prstGeom prst="rect">
            <a:avLst/>
          </a:prstGeom>
          <a:solidFill>
            <a:srgbClr val="CBE7D7"/>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700" y="5245100"/>
            <a:ext cx="5283200" cy="442468"/>
          </a:xfrm>
          <a:prstGeom prst="rect">
            <a:avLst/>
          </a:prstGeom>
          <a:noFill/>
        </p:spPr>
        <p:txBody>
          <a:bodyPr wrap="none" lIns="0" rIns="0" tIns="0" bIns="0" anchor="t">
            <a:spAutoFit/>
          </a:bodyPr>
          <a:lstStyle/>
          <a:p>
            <a:pPr>
              <a:lnSpc>
                <a:spcPts val="2684"/>
              </a:lnSpc>
              <a:spcBef>
                <a:spcPts val="0"/>
              </a:spcBef>
              <a:spcAft>
                <a:spcPts val="0"/>
              </a:spcAft>
            </a:pPr>
            <a:r>
              <a:rPr sz="2200" b="1" i="0">
                <a:solidFill>
                  <a:srgbClr val="57445E"/>
                </a:solidFill>
                <a:latin typeface="Arial"/>
              </a:rPr>
              <a:t>Let weak results change the idea.</a:t>
            </a:r>
          </a:p>
        </p:txBody>
      </p:sp>
      <p:sp>
        <p:nvSpPr>
          <p:cNvPr id="12" name="Rectangle 11"/>
          <p:cNvSpPr/>
          <p:nvPr/>
        </p:nvSpPr>
        <p:spPr>
          <a:xfrm>
            <a:off x="6870700" y="1257300"/>
            <a:ext cx="4813300" cy="47244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94500" y="1181100"/>
            <a:ext cx="4813300" cy="47244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94500" y="1181100"/>
            <a:ext cx="4813300" cy="368300"/>
          </a:xfrm>
          <a:prstGeom prst="rect">
            <a:avLst/>
          </a:prstGeom>
          <a:solidFill>
            <a:srgbClr val="C4E3F4"/>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6900" y="1308100"/>
            <a:ext cx="37846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CONTINUE ONLY IF</a:t>
            </a:r>
          </a:p>
        </p:txBody>
      </p:sp>
      <p:sp>
        <p:nvSpPr>
          <p:cNvPr id="16" name="Rectangle 15"/>
          <p:cNvSpPr/>
          <p:nvPr/>
        </p:nvSpPr>
        <p:spPr>
          <a:xfrm>
            <a:off x="11099800" y="1308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303000" y="1308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8500" y="1917700"/>
            <a:ext cx="444500" cy="387350"/>
          </a:xfrm>
          <a:prstGeom prst="rect">
            <a:avLst/>
          </a:prstGeom>
          <a:noFill/>
        </p:spPr>
        <p:txBody>
          <a:bodyPr wrap="none" lIns="0" rIns="0" tIns="0" bIns="0" anchor="t">
            <a:spAutoFit/>
          </a:bodyPr>
          <a:lstStyle/>
          <a:p>
            <a:pPr>
              <a:lnSpc>
                <a:spcPts val="2250"/>
              </a:lnSpc>
              <a:spcBef>
                <a:spcPts val="0"/>
              </a:spcBef>
              <a:spcAft>
                <a:spcPts val="0"/>
              </a:spcAft>
            </a:pPr>
            <a:r>
              <a:rPr sz="1500" b="0" i="0">
                <a:solidFill>
                  <a:srgbClr val="57445E"/>
                </a:solidFill>
                <a:latin typeface="Press Start 2P"/>
              </a:rPr>
              <a:t>1</a:t>
            </a:r>
          </a:p>
        </p:txBody>
      </p:sp>
      <p:sp>
        <p:nvSpPr>
          <p:cNvPr id="19" name="TextBox 18"/>
          <p:cNvSpPr txBox="1"/>
          <p:nvPr/>
        </p:nvSpPr>
        <p:spPr>
          <a:xfrm>
            <a:off x="7581900" y="1892300"/>
            <a:ext cx="3771900" cy="442468"/>
          </a:xfrm>
          <a:prstGeom prst="rect">
            <a:avLst/>
          </a:prstGeom>
          <a:noFill/>
        </p:spPr>
        <p:txBody>
          <a:bodyPr wrap="none" lIns="0" rIns="0" tIns="0" bIns="0" anchor="t">
            <a:spAutoFit/>
          </a:bodyPr>
          <a:lstStyle/>
          <a:p>
            <a:pPr>
              <a:lnSpc>
                <a:spcPts val="2684"/>
              </a:lnSpc>
              <a:spcBef>
                <a:spcPts val="0"/>
              </a:spcBef>
              <a:spcAft>
                <a:spcPts val="0"/>
              </a:spcAft>
            </a:pPr>
            <a:r>
              <a:rPr sz="2200" b="1" i="0">
                <a:solidFill>
                  <a:srgbClr val="57445E"/>
                </a:solidFill>
                <a:latin typeface="Arial"/>
              </a:rPr>
              <a:t>People choose it.</a:t>
            </a:r>
          </a:p>
        </p:txBody>
      </p:sp>
      <p:sp>
        <p:nvSpPr>
          <p:cNvPr id="20" name="TextBox 19"/>
          <p:cNvSpPr txBox="1"/>
          <p:nvPr/>
        </p:nvSpPr>
        <p:spPr>
          <a:xfrm>
            <a:off x="7581900" y="2349500"/>
            <a:ext cx="3733800" cy="393700"/>
          </a:xfrm>
          <a:prstGeom prst="rect">
            <a:avLst/>
          </a:prstGeom>
          <a:noFill/>
        </p:spPr>
        <p:txBody>
          <a:bodyPr wrap="none" lIns="0" rIns="0" tIns="0" bIns="0" anchor="t">
            <a:spAutoFit/>
          </a:bodyPr>
          <a:lstStyle/>
          <a:p>
            <a:pPr>
              <a:lnSpc>
                <a:spcPts val="2300"/>
              </a:lnSpc>
              <a:spcBef>
                <a:spcPts val="0"/>
              </a:spcBef>
              <a:spcAft>
                <a:spcPts val="0"/>
              </a:spcAft>
            </a:pPr>
            <a:r>
              <a:rPr sz="1700" b="0" i="0">
                <a:solidFill>
                  <a:srgbClr val="76647C"/>
                </a:solidFill>
                <a:latin typeface="Arial"/>
              </a:rPr>
              <a:t>At a price that can work.</a:t>
            </a:r>
          </a:p>
        </p:txBody>
      </p:sp>
      <p:sp>
        <p:nvSpPr>
          <p:cNvPr id="21" name="TextBox 20"/>
          <p:cNvSpPr txBox="1"/>
          <p:nvPr/>
        </p:nvSpPr>
        <p:spPr>
          <a:xfrm>
            <a:off x="7048500" y="3162300"/>
            <a:ext cx="444500" cy="387350"/>
          </a:xfrm>
          <a:prstGeom prst="rect">
            <a:avLst/>
          </a:prstGeom>
          <a:noFill/>
        </p:spPr>
        <p:txBody>
          <a:bodyPr wrap="none" lIns="0" rIns="0" tIns="0" bIns="0" anchor="t">
            <a:spAutoFit/>
          </a:bodyPr>
          <a:lstStyle/>
          <a:p>
            <a:pPr>
              <a:lnSpc>
                <a:spcPts val="2250"/>
              </a:lnSpc>
              <a:spcBef>
                <a:spcPts val="0"/>
              </a:spcBef>
              <a:spcAft>
                <a:spcPts val="0"/>
              </a:spcAft>
            </a:pPr>
            <a:r>
              <a:rPr sz="1500" b="0" i="0">
                <a:solidFill>
                  <a:srgbClr val="57445E"/>
                </a:solidFill>
                <a:latin typeface="Press Start 2P"/>
              </a:rPr>
              <a:t>2</a:t>
            </a:r>
          </a:p>
        </p:txBody>
      </p:sp>
      <p:sp>
        <p:nvSpPr>
          <p:cNvPr id="22" name="TextBox 21"/>
          <p:cNvSpPr txBox="1"/>
          <p:nvPr/>
        </p:nvSpPr>
        <p:spPr>
          <a:xfrm>
            <a:off x="7581900" y="3136900"/>
            <a:ext cx="3771900" cy="442468"/>
          </a:xfrm>
          <a:prstGeom prst="rect">
            <a:avLst/>
          </a:prstGeom>
          <a:noFill/>
        </p:spPr>
        <p:txBody>
          <a:bodyPr wrap="none" lIns="0" rIns="0" tIns="0" bIns="0" anchor="t">
            <a:spAutoFit/>
          </a:bodyPr>
          <a:lstStyle/>
          <a:p>
            <a:pPr>
              <a:lnSpc>
                <a:spcPts val="2684"/>
              </a:lnSpc>
              <a:spcBef>
                <a:spcPts val="0"/>
              </a:spcBef>
              <a:spcAft>
                <a:spcPts val="0"/>
              </a:spcAft>
            </a:pPr>
            <a:r>
              <a:rPr sz="2200" b="1" i="0">
                <a:solidFill>
                  <a:srgbClr val="57445E"/>
                </a:solidFill>
                <a:latin typeface="Arial"/>
              </a:rPr>
              <a:t>Quality is consistent.</a:t>
            </a:r>
          </a:p>
        </p:txBody>
      </p:sp>
      <p:sp>
        <p:nvSpPr>
          <p:cNvPr id="23" name="TextBox 22"/>
          <p:cNvSpPr txBox="1"/>
          <p:nvPr/>
        </p:nvSpPr>
        <p:spPr>
          <a:xfrm>
            <a:off x="7581900" y="3594100"/>
            <a:ext cx="3733800" cy="393700"/>
          </a:xfrm>
          <a:prstGeom prst="rect">
            <a:avLst/>
          </a:prstGeom>
          <a:noFill/>
        </p:spPr>
        <p:txBody>
          <a:bodyPr wrap="none" lIns="0" rIns="0" tIns="0" bIns="0" anchor="t">
            <a:spAutoFit/>
          </a:bodyPr>
          <a:lstStyle/>
          <a:p>
            <a:pPr>
              <a:lnSpc>
                <a:spcPts val="2300"/>
              </a:lnSpc>
              <a:spcBef>
                <a:spcPts val="0"/>
              </a:spcBef>
              <a:spcAft>
                <a:spcPts val="0"/>
              </a:spcAft>
            </a:pPr>
            <a:r>
              <a:rPr sz="1700" b="0" i="0">
                <a:solidFill>
                  <a:srgbClr val="76647C"/>
                </a:solidFill>
                <a:latin typeface="Arial"/>
              </a:rPr>
              <a:t>The sample matches the promise.</a:t>
            </a:r>
          </a:p>
        </p:txBody>
      </p:sp>
      <p:sp>
        <p:nvSpPr>
          <p:cNvPr id="24" name="TextBox 23"/>
          <p:cNvSpPr txBox="1"/>
          <p:nvPr/>
        </p:nvSpPr>
        <p:spPr>
          <a:xfrm>
            <a:off x="7048500" y="4406900"/>
            <a:ext cx="444500" cy="387350"/>
          </a:xfrm>
          <a:prstGeom prst="rect">
            <a:avLst/>
          </a:prstGeom>
          <a:noFill/>
        </p:spPr>
        <p:txBody>
          <a:bodyPr wrap="none" lIns="0" rIns="0" tIns="0" bIns="0" anchor="t">
            <a:spAutoFit/>
          </a:bodyPr>
          <a:lstStyle/>
          <a:p>
            <a:pPr>
              <a:lnSpc>
                <a:spcPts val="2250"/>
              </a:lnSpc>
              <a:spcBef>
                <a:spcPts val="0"/>
              </a:spcBef>
              <a:spcAft>
                <a:spcPts val="0"/>
              </a:spcAft>
            </a:pPr>
            <a:r>
              <a:rPr sz="1500" b="0" i="0">
                <a:solidFill>
                  <a:srgbClr val="57445E"/>
                </a:solidFill>
                <a:latin typeface="Press Start 2P"/>
              </a:rPr>
              <a:t>3</a:t>
            </a:r>
          </a:p>
        </p:txBody>
      </p:sp>
      <p:sp>
        <p:nvSpPr>
          <p:cNvPr id="25" name="TextBox 24"/>
          <p:cNvSpPr txBox="1"/>
          <p:nvPr/>
        </p:nvSpPr>
        <p:spPr>
          <a:xfrm>
            <a:off x="7581900" y="4381500"/>
            <a:ext cx="3771900" cy="442468"/>
          </a:xfrm>
          <a:prstGeom prst="rect">
            <a:avLst/>
          </a:prstGeom>
          <a:noFill/>
        </p:spPr>
        <p:txBody>
          <a:bodyPr wrap="none" lIns="0" rIns="0" tIns="0" bIns="0" anchor="t">
            <a:spAutoFit/>
          </a:bodyPr>
          <a:lstStyle/>
          <a:p>
            <a:pPr>
              <a:lnSpc>
                <a:spcPts val="2684"/>
              </a:lnSpc>
              <a:spcBef>
                <a:spcPts val="0"/>
              </a:spcBef>
              <a:spcAft>
                <a:spcPts val="0"/>
              </a:spcAft>
            </a:pPr>
            <a:r>
              <a:rPr sz="2200" b="1" i="0">
                <a:solidFill>
                  <a:srgbClr val="57445E"/>
                </a:solidFill>
                <a:latin typeface="Arial"/>
              </a:rPr>
              <a:t>The batch pays.</a:t>
            </a:r>
          </a:p>
        </p:txBody>
      </p:sp>
      <p:sp>
        <p:nvSpPr>
          <p:cNvPr id="26" name="TextBox 25"/>
          <p:cNvSpPr txBox="1"/>
          <p:nvPr/>
        </p:nvSpPr>
        <p:spPr>
          <a:xfrm>
            <a:off x="7581900" y="4838700"/>
            <a:ext cx="3733800" cy="685800"/>
          </a:xfrm>
          <a:prstGeom prst="rect">
            <a:avLst/>
          </a:prstGeom>
          <a:noFill/>
        </p:spPr>
        <p:txBody>
          <a:bodyPr wrap="none" lIns="0" rIns="0" tIns="0" bIns="0" anchor="t">
            <a:spAutoFit/>
          </a:bodyPr>
          <a:lstStyle/>
          <a:p>
            <a:pPr>
              <a:lnSpc>
                <a:spcPts val="2300"/>
              </a:lnSpc>
              <a:spcBef>
                <a:spcPts val="0"/>
              </a:spcBef>
              <a:spcAft>
                <a:spcPts val="0"/>
              </a:spcAft>
            </a:pPr>
            <a:r>
              <a:rPr sz="1700" b="0" i="0">
                <a:solidFill>
                  <a:srgbClr val="76647C"/>
                </a:solidFill>
                <a:latin typeface="Arial"/>
              </a:rPr>
              <a:t>Orders cover cost and minimum</a:t>
            </a:r>
          </a:p>
          <a:p>
            <a:pPr>
              <a:lnSpc>
                <a:spcPts val="2300"/>
              </a:lnSpc>
              <a:spcBef>
                <a:spcPts val="0"/>
              </a:spcBef>
              <a:spcAft>
                <a:spcPts val="0"/>
              </a:spcAft>
            </a:pPr>
            <a:r>
              <a:rPr sz="1700" b="0" i="0">
                <a:solidFill>
                  <a:srgbClr val="76647C"/>
                </a:solidFill>
                <a:latin typeface="Arial"/>
              </a:rPr>
              <a:t>quantity.</a:t>
            </a:r>
          </a:p>
        </p:txBody>
      </p:sp>
      <p:cxnSp>
        <p:nvCxnSpPr>
          <p:cNvPr id="27" name="Connector 26"/>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Demo + questionnaire: https://blimmy.github.io/replay-lab/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CREDITS / 4:45–4:50</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12</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079500"/>
            <a:ext cx="11074400" cy="632460"/>
          </a:xfrm>
          <a:prstGeom prst="rect">
            <a:avLst/>
          </a:prstGeom>
          <a:noFill/>
        </p:spPr>
        <p:txBody>
          <a:bodyPr wrap="none" lIns="0" rIns="0" tIns="0" bIns="0" anchor="t">
            <a:spAutoFit/>
          </a:bodyPr>
          <a:lstStyle/>
          <a:p>
            <a:pPr>
              <a:lnSpc>
                <a:spcPts val="4180"/>
              </a:lnSpc>
              <a:spcBef>
                <a:spcPts val="0"/>
              </a:spcBef>
              <a:spcAft>
                <a:spcPts val="0"/>
              </a:spcAft>
            </a:pPr>
            <a:r>
              <a:rPr sz="3800" b="1" i="0">
                <a:solidFill>
                  <a:srgbClr val="57445E"/>
                </a:solidFill>
                <a:latin typeface="Arial"/>
              </a:rPr>
              <a:t>Sources + prototype</a:t>
            </a:r>
          </a:p>
        </p:txBody>
      </p:sp>
      <p:cxnSp>
        <p:nvCxnSpPr>
          <p:cNvPr id="8" name="Connector 7"/>
          <p:cNvCxnSpPr/>
          <p:nvPr/>
        </p:nvCxnSpPr>
        <p:spPr>
          <a:xfrm>
            <a:off x="546100" y="1841500"/>
            <a:ext cx="11061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8800" y="2070100"/>
            <a:ext cx="685800" cy="292100"/>
          </a:xfrm>
          <a:prstGeom prst="rect">
            <a:avLst/>
          </a:prstGeom>
          <a:noFill/>
        </p:spPr>
        <p:txBody>
          <a:bodyPr wrap="none" lIns="0" rIns="0" tIns="0" bIns="0" anchor="t">
            <a:spAutoFit/>
          </a:bodyPr>
          <a:lstStyle/>
          <a:p>
            <a:pPr>
              <a:lnSpc>
                <a:spcPts val="1500"/>
              </a:lnSpc>
              <a:spcBef>
                <a:spcPts val="0"/>
              </a:spcBef>
              <a:spcAft>
                <a:spcPts val="0"/>
              </a:spcAft>
            </a:pPr>
            <a:r>
              <a:rPr sz="1000" b="0" i="0">
                <a:solidFill>
                  <a:srgbClr val="57445E"/>
                </a:solidFill>
                <a:latin typeface="Press Start 2P"/>
              </a:rPr>
              <a:t>S1</a:t>
            </a:r>
          </a:p>
        </p:txBody>
      </p:sp>
      <p:sp>
        <p:nvSpPr>
          <p:cNvPr id="10" name="TextBox 9"/>
          <p:cNvSpPr txBox="1"/>
          <p:nvPr/>
        </p:nvSpPr>
        <p:spPr>
          <a:xfrm>
            <a:off x="1409700" y="2019300"/>
            <a:ext cx="101854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hlinkClick r:id="rId2"/>
              </a:rPr>
              <a:t>Thai PBS World | 25 Jun 2026</a:t>
            </a:r>
          </a:p>
        </p:txBody>
      </p:sp>
      <p:cxnSp>
        <p:nvCxnSpPr>
          <p:cNvPr id="11" name="Connector 10"/>
          <p:cNvCxnSpPr/>
          <p:nvPr/>
        </p:nvCxnSpPr>
        <p:spPr>
          <a:xfrm>
            <a:off x="546100" y="2565400"/>
            <a:ext cx="11061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58800" y="2794000"/>
            <a:ext cx="685800" cy="292100"/>
          </a:xfrm>
          <a:prstGeom prst="rect">
            <a:avLst/>
          </a:prstGeom>
          <a:noFill/>
        </p:spPr>
        <p:txBody>
          <a:bodyPr wrap="none" lIns="0" rIns="0" tIns="0" bIns="0" anchor="t">
            <a:spAutoFit/>
          </a:bodyPr>
          <a:lstStyle/>
          <a:p>
            <a:pPr>
              <a:lnSpc>
                <a:spcPts val="1500"/>
              </a:lnSpc>
              <a:spcBef>
                <a:spcPts val="0"/>
              </a:spcBef>
              <a:spcAft>
                <a:spcPts val="0"/>
              </a:spcAft>
            </a:pPr>
            <a:r>
              <a:rPr sz="1000" b="0" i="0">
                <a:solidFill>
                  <a:srgbClr val="57445E"/>
                </a:solidFill>
                <a:latin typeface="Press Start 2P"/>
              </a:rPr>
              <a:t>S2</a:t>
            </a:r>
          </a:p>
        </p:txBody>
      </p:sp>
      <p:sp>
        <p:nvSpPr>
          <p:cNvPr id="13" name="TextBox 12"/>
          <p:cNvSpPr txBox="1"/>
          <p:nvPr/>
        </p:nvSpPr>
        <p:spPr>
          <a:xfrm>
            <a:off x="1409700" y="2743200"/>
            <a:ext cx="101854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hlinkClick r:id="rId3"/>
              </a:rPr>
              <a:t>Thairath English | 19 Jun 2026</a:t>
            </a:r>
          </a:p>
        </p:txBody>
      </p:sp>
      <p:cxnSp>
        <p:nvCxnSpPr>
          <p:cNvPr id="14" name="Connector 13"/>
          <p:cNvCxnSpPr/>
          <p:nvPr/>
        </p:nvCxnSpPr>
        <p:spPr>
          <a:xfrm>
            <a:off x="546100" y="3289300"/>
            <a:ext cx="11061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58800" y="3517900"/>
            <a:ext cx="685800" cy="292100"/>
          </a:xfrm>
          <a:prstGeom prst="rect">
            <a:avLst/>
          </a:prstGeom>
          <a:noFill/>
        </p:spPr>
        <p:txBody>
          <a:bodyPr wrap="none" lIns="0" rIns="0" tIns="0" bIns="0" anchor="t">
            <a:spAutoFit/>
          </a:bodyPr>
          <a:lstStyle/>
          <a:p>
            <a:pPr>
              <a:lnSpc>
                <a:spcPts val="1500"/>
              </a:lnSpc>
              <a:spcBef>
                <a:spcPts val="0"/>
              </a:spcBef>
              <a:spcAft>
                <a:spcPts val="0"/>
              </a:spcAft>
            </a:pPr>
            <a:r>
              <a:rPr sz="1000" b="0" i="0">
                <a:solidFill>
                  <a:srgbClr val="57445E"/>
                </a:solidFill>
                <a:latin typeface="Press Start 2P"/>
              </a:rPr>
              <a:t>S3</a:t>
            </a:r>
          </a:p>
        </p:txBody>
      </p:sp>
      <p:sp>
        <p:nvSpPr>
          <p:cNvPr id="16" name="TextBox 15"/>
          <p:cNvSpPr txBox="1"/>
          <p:nvPr/>
        </p:nvSpPr>
        <p:spPr>
          <a:xfrm>
            <a:off x="1409700" y="3467100"/>
            <a:ext cx="101854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hlinkClick r:id="rId4"/>
              </a:rPr>
              <a:t>TrendWatching | Consumer Trend Canvas</a:t>
            </a:r>
          </a:p>
        </p:txBody>
      </p:sp>
      <p:cxnSp>
        <p:nvCxnSpPr>
          <p:cNvPr id="17" name="Connector 16"/>
          <p:cNvCxnSpPr/>
          <p:nvPr/>
        </p:nvCxnSpPr>
        <p:spPr>
          <a:xfrm>
            <a:off x="546100" y="4013200"/>
            <a:ext cx="11061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58800" y="4241800"/>
            <a:ext cx="685800" cy="292100"/>
          </a:xfrm>
          <a:prstGeom prst="rect">
            <a:avLst/>
          </a:prstGeom>
          <a:noFill/>
        </p:spPr>
        <p:txBody>
          <a:bodyPr wrap="none" lIns="0" rIns="0" tIns="0" bIns="0" anchor="t">
            <a:spAutoFit/>
          </a:bodyPr>
          <a:lstStyle/>
          <a:p>
            <a:pPr>
              <a:lnSpc>
                <a:spcPts val="1500"/>
              </a:lnSpc>
              <a:spcBef>
                <a:spcPts val="0"/>
              </a:spcBef>
              <a:spcAft>
                <a:spcPts val="0"/>
              </a:spcAft>
            </a:pPr>
            <a:r>
              <a:rPr sz="1000" b="0" i="0">
                <a:solidFill>
                  <a:srgbClr val="57445E"/>
                </a:solidFill>
                <a:latin typeface="Press Start 2P"/>
              </a:rPr>
              <a:t>S4</a:t>
            </a:r>
          </a:p>
        </p:txBody>
      </p:sp>
      <p:sp>
        <p:nvSpPr>
          <p:cNvPr id="19" name="TextBox 18"/>
          <p:cNvSpPr txBox="1"/>
          <p:nvPr/>
        </p:nvSpPr>
        <p:spPr>
          <a:xfrm>
            <a:off x="1409700" y="4191000"/>
            <a:ext cx="101854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hlinkClick r:id="rId5"/>
              </a:rPr>
              <a:t>OCPB | 30 Jun 2026</a:t>
            </a:r>
          </a:p>
        </p:txBody>
      </p:sp>
      <p:cxnSp>
        <p:nvCxnSpPr>
          <p:cNvPr id="20" name="Connector 19"/>
          <p:cNvCxnSpPr/>
          <p:nvPr/>
        </p:nvCxnSpPr>
        <p:spPr>
          <a:xfrm>
            <a:off x="546100" y="4737100"/>
            <a:ext cx="11061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58800" y="4965700"/>
            <a:ext cx="685800" cy="292100"/>
          </a:xfrm>
          <a:prstGeom prst="rect">
            <a:avLst/>
          </a:prstGeom>
          <a:noFill/>
        </p:spPr>
        <p:txBody>
          <a:bodyPr wrap="none" lIns="0" rIns="0" tIns="0" bIns="0" anchor="t">
            <a:spAutoFit/>
          </a:bodyPr>
          <a:lstStyle/>
          <a:p>
            <a:pPr>
              <a:lnSpc>
                <a:spcPts val="1500"/>
              </a:lnSpc>
              <a:spcBef>
                <a:spcPts val="0"/>
              </a:spcBef>
              <a:spcAft>
                <a:spcPts val="0"/>
              </a:spcAft>
            </a:pPr>
            <a:r>
              <a:rPr sz="1000" b="0" i="0">
                <a:solidFill>
                  <a:srgbClr val="57445E"/>
                </a:solidFill>
                <a:latin typeface="Press Start 2P"/>
              </a:rPr>
              <a:t>S5</a:t>
            </a:r>
          </a:p>
        </p:txBody>
      </p:sp>
      <p:sp>
        <p:nvSpPr>
          <p:cNvPr id="22" name="TextBox 21"/>
          <p:cNvSpPr txBox="1"/>
          <p:nvPr/>
        </p:nvSpPr>
        <p:spPr>
          <a:xfrm>
            <a:off x="1409700" y="4914900"/>
            <a:ext cx="10185400" cy="411480"/>
          </a:xfrm>
          <a:prstGeom prst="rect">
            <a:avLst/>
          </a:prstGeom>
          <a:noFill/>
        </p:spPr>
        <p:txBody>
          <a:bodyPr wrap="none" lIns="0" rIns="0" tIns="0" bIns="0" anchor="t">
            <a:spAutoFit/>
          </a:bodyPr>
          <a:lstStyle/>
          <a:p>
            <a:pPr>
              <a:lnSpc>
                <a:spcPts val="2440"/>
              </a:lnSpc>
              <a:spcBef>
                <a:spcPts val="0"/>
              </a:spcBef>
              <a:spcAft>
                <a:spcPts val="0"/>
              </a:spcAft>
            </a:pPr>
            <a:r>
              <a:rPr sz="2000" b="1" i="0">
                <a:solidFill>
                  <a:srgbClr val="57445E"/>
                </a:solidFill>
                <a:latin typeface="Arial"/>
                <a:hlinkClick r:id="rId6"/>
              </a:rPr>
              <a:t>SquishTide | custom squishies</a:t>
            </a:r>
          </a:p>
        </p:txBody>
      </p:sp>
      <p:sp>
        <p:nvSpPr>
          <p:cNvPr id="23" name="TextBox 22"/>
          <p:cNvSpPr txBox="1"/>
          <p:nvPr/>
        </p:nvSpPr>
        <p:spPr>
          <a:xfrm>
            <a:off x="558800" y="5727700"/>
            <a:ext cx="11074400" cy="584200"/>
          </a:xfrm>
          <a:prstGeom prst="rect">
            <a:avLst/>
          </a:prstGeom>
          <a:noFill/>
        </p:spPr>
        <p:txBody>
          <a:bodyPr wrap="none" lIns="0" rIns="0" tIns="0" bIns="0" anchor="t">
            <a:spAutoFit/>
          </a:bodyPr>
          <a:lstStyle/>
          <a:p>
            <a:pPr>
              <a:lnSpc>
                <a:spcPts val="1900"/>
              </a:lnSpc>
              <a:spcBef>
                <a:spcPts val="0"/>
              </a:spcBef>
              <a:spcAft>
                <a:spcPts val="0"/>
              </a:spcAft>
            </a:pPr>
            <a:r>
              <a:rPr sz="1300" b="0" i="0">
                <a:solidFill>
                  <a:srgbClr val="76647C"/>
                </a:solidFill>
                <a:latin typeface="Arial"/>
              </a:rPr>
              <a:t>Original pixel art and diagrams. Published sources re-used with attribution.</a:t>
            </a:r>
          </a:p>
          <a:p>
            <a:pPr>
              <a:lnSpc>
                <a:spcPts val="1900"/>
              </a:lnSpc>
              <a:spcBef>
                <a:spcPts val="0"/>
              </a:spcBef>
              <a:spcAft>
                <a:spcPts val="0"/>
              </a:spcAft>
            </a:pPr>
            <a:r>
              <a:rPr sz="1300" b="0" i="0">
                <a:solidFill>
                  <a:srgbClr val="76647C"/>
                </a:solidFill>
                <a:latin typeface="Arial"/>
              </a:rPr>
              <a:t>Prototype activity is simulated. Personal fieldwork is pending.</a:t>
            </a:r>
          </a:p>
        </p:txBody>
      </p:sp>
      <p:cxnSp>
        <p:nvCxnSpPr>
          <p:cNvPr id="24" name="Connector 23"/>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rPr>
              <a:t>Sources and limitations accompany the deck. Slide 13 is a hidden reference appendix.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FF9F0"/>
        </a:solidFill>
        <a:effectLst/>
      </p:bgPr>
    </p:bg>
    <p:spTree>
      <p:nvGrpSpPr>
        <p:cNvPr id="1" name=""/>
        <p:cNvGrpSpPr/>
        <p:nvPr/>
      </p:nvGrpSpPr>
      <p:grpSpPr/>
      <p:sp>
        <p:nvSpPr>
          <p:cNvPr id="2" name="Rectangle 1"/>
          <p:cNvSpPr/>
          <p:nvPr/>
        </p:nvSpPr>
        <p:spPr>
          <a:xfrm>
            <a:off x="0" y="0"/>
            <a:ext cx="12192000" cy="711200"/>
          </a:xfrm>
          <a:prstGeom prst="rect">
            <a:avLst/>
          </a:prstGeom>
          <a:solidFill>
            <a:srgbClr val="D5C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1000" y="279400"/>
            <a:ext cx="2819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REPLAY LAB</a:t>
            </a:r>
          </a:p>
        </p:txBody>
      </p:sp>
      <p:sp>
        <p:nvSpPr>
          <p:cNvPr id="4" name="TextBox 3"/>
          <p:cNvSpPr txBox="1"/>
          <p:nvPr/>
        </p:nvSpPr>
        <p:spPr>
          <a:xfrm>
            <a:off x="4699000" y="266700"/>
            <a:ext cx="6375400" cy="256540"/>
          </a:xfrm>
          <a:prstGeom prst="rect">
            <a:avLst/>
          </a:prstGeom>
          <a:noFill/>
        </p:spPr>
        <p:txBody>
          <a:bodyPr wrap="none" lIns="0" rIns="0" tIns="0" bIns="0" anchor="t">
            <a:spAutoFit/>
          </a:bodyPr>
          <a:lstStyle/>
          <a:p>
            <a:pPr>
              <a:lnSpc>
                <a:spcPts val="1220"/>
              </a:lnSpc>
              <a:spcBef>
                <a:spcPts val="0"/>
              </a:spcBef>
              <a:spcAft>
                <a:spcPts val="0"/>
              </a:spcAft>
            </a:pPr>
            <a:r>
              <a:rPr sz="1000" b="1" i="0">
                <a:solidFill>
                  <a:srgbClr val="57445E"/>
                </a:solidFill>
                <a:latin typeface="Arial"/>
              </a:rPr>
              <a:t>APPENDIX / CONSUMER TREND CANVAS</a:t>
            </a:r>
          </a:p>
        </p:txBody>
      </p:sp>
      <p:sp>
        <p:nvSpPr>
          <p:cNvPr id="5" name="TextBox 4"/>
          <p:cNvSpPr txBox="1"/>
          <p:nvPr/>
        </p:nvSpPr>
        <p:spPr>
          <a:xfrm>
            <a:off x="11341100" y="279400"/>
            <a:ext cx="533400" cy="311150"/>
          </a:xfrm>
          <a:prstGeom prst="rect">
            <a:avLst/>
          </a:prstGeom>
          <a:noFill/>
        </p:spPr>
        <p:txBody>
          <a:bodyPr wrap="none" lIns="0" rIns="0" tIns="0" bIns="0" anchor="t">
            <a:spAutoFit/>
          </a:bodyPr>
          <a:lstStyle/>
          <a:p>
            <a:pPr>
              <a:lnSpc>
                <a:spcPts val="1650"/>
              </a:lnSpc>
              <a:spcBef>
                <a:spcPts val="0"/>
              </a:spcBef>
              <a:spcAft>
                <a:spcPts val="0"/>
              </a:spcAft>
            </a:pPr>
            <a:r>
              <a:rPr sz="1100" b="0" i="0">
                <a:solidFill>
                  <a:srgbClr val="57445E"/>
                </a:solidFill>
                <a:latin typeface="Press Start 2P"/>
              </a:rPr>
              <a:t>13</a:t>
            </a:r>
          </a:p>
        </p:txBody>
      </p:sp>
      <p:cxnSp>
        <p:nvCxnSpPr>
          <p:cNvPr id="6" name="Connector 5"/>
          <p:cNvCxnSpPr/>
          <p:nvPr/>
        </p:nvCxnSpPr>
        <p:spPr>
          <a:xfrm>
            <a:off x="0" y="711200"/>
            <a:ext cx="12192000" cy="0"/>
          </a:xfrm>
          <a:prstGeom prst="line">
            <a:avLst/>
          </a:prstGeom>
          <a:ln w="12700">
            <a:solidFill>
              <a:srgbClr val="57445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6100" y="1079500"/>
            <a:ext cx="11074400" cy="604520"/>
          </a:xfrm>
          <a:prstGeom prst="rect">
            <a:avLst/>
          </a:prstGeom>
          <a:noFill/>
        </p:spPr>
        <p:txBody>
          <a:bodyPr wrap="none" lIns="0" rIns="0" tIns="0" bIns="0" anchor="t">
            <a:spAutoFit/>
          </a:bodyPr>
          <a:lstStyle/>
          <a:p>
            <a:pPr>
              <a:lnSpc>
                <a:spcPts val="3960"/>
              </a:lnSpc>
              <a:spcBef>
                <a:spcPts val="0"/>
              </a:spcBef>
              <a:spcAft>
                <a:spcPts val="0"/>
              </a:spcAft>
            </a:pPr>
            <a:r>
              <a:rPr sz="3600" b="1" i="0">
                <a:solidFill>
                  <a:srgbClr val="57445E"/>
                </a:solidFill>
                <a:latin typeface="Arial"/>
              </a:rPr>
              <a:t>REPLAY LAB / the logic</a:t>
            </a:r>
          </a:p>
        </p:txBody>
      </p:sp>
      <p:sp>
        <p:nvSpPr>
          <p:cNvPr id="8" name="Rectangle 7"/>
          <p:cNvSpPr/>
          <p:nvPr/>
        </p:nvSpPr>
        <p:spPr>
          <a:xfrm>
            <a:off x="622300" y="1981200"/>
            <a:ext cx="5346700" cy="17653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6100" y="1905000"/>
            <a:ext cx="5346700" cy="17653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6100" y="1905000"/>
            <a:ext cx="5346700" cy="368300"/>
          </a:xfrm>
          <a:prstGeom prst="rect">
            <a:avLst/>
          </a:prstGeom>
          <a:solidFill>
            <a:srgbClr val="D5C6F3"/>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500" y="2032000"/>
            <a:ext cx="4318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INSPIRATION + NEEDS</a:t>
            </a:r>
          </a:p>
        </p:txBody>
      </p:sp>
      <p:sp>
        <p:nvSpPr>
          <p:cNvPr id="12" name="Rectangle 11"/>
          <p:cNvSpPr/>
          <p:nvPr/>
        </p:nvSpPr>
        <p:spPr>
          <a:xfrm>
            <a:off x="5384800" y="2032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88000" y="2032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2514600"/>
            <a:ext cx="4940300" cy="1092200"/>
          </a:xfrm>
          <a:prstGeom prst="rect">
            <a:avLst/>
          </a:prstGeom>
          <a:noFill/>
        </p:spPr>
        <p:txBody>
          <a:bodyPr wrap="none" lIns="0" rIns="0" tIns="0" bIns="0" anchor="t">
            <a:spAutoFit/>
          </a:bodyPr>
          <a:lstStyle/>
          <a:p>
            <a:pPr>
              <a:lnSpc>
                <a:spcPts val="2600"/>
              </a:lnSpc>
              <a:spcBef>
                <a:spcPts val="0"/>
              </a:spcBef>
              <a:spcAft>
                <a:spcPts val="0"/>
              </a:spcAft>
            </a:pPr>
            <a:r>
              <a:rPr sz="1900" b="0" i="0">
                <a:solidFill>
                  <a:srgbClr val="57445E"/>
                </a:solidFill>
                <a:latin typeface="Arial"/>
              </a:rPr>
              <a:t>S1–S2: reported revival.</a:t>
            </a:r>
          </a:p>
          <a:p>
            <a:pPr>
              <a:lnSpc>
                <a:spcPts val="2600"/>
              </a:lnSpc>
              <a:spcBef>
                <a:spcPts val="0"/>
              </a:spcBef>
              <a:spcAft>
                <a:spcPts val="0"/>
              </a:spcAft>
            </a:pPr>
            <a:r>
              <a:rPr sz="1900" b="0" i="0">
                <a:solidFill>
                  <a:srgbClr val="57445E"/>
                </a:solidFill>
                <a:latin typeface="Arial"/>
              </a:rPr>
              <a:t>Enjoyment, memory, personal choice.</a:t>
            </a:r>
          </a:p>
          <a:p>
            <a:pPr>
              <a:lnSpc>
                <a:spcPts val="2600"/>
              </a:lnSpc>
              <a:spcBef>
                <a:spcPts val="0"/>
              </a:spcBef>
              <a:spcAft>
                <a:spcPts val="0"/>
              </a:spcAft>
            </a:pPr>
            <a:r>
              <a:rPr sz="1900" b="0" i="0">
                <a:solidFill>
                  <a:srgbClr val="57445E"/>
                </a:solidFill>
                <a:latin typeface="Arial"/>
              </a:rPr>
              <a:t>Own fieldwork pending.</a:t>
            </a:r>
          </a:p>
        </p:txBody>
      </p:sp>
      <p:sp>
        <p:nvSpPr>
          <p:cNvPr id="15" name="Rectangle 14"/>
          <p:cNvSpPr/>
          <p:nvPr/>
        </p:nvSpPr>
        <p:spPr>
          <a:xfrm>
            <a:off x="6337300" y="1981200"/>
            <a:ext cx="5346700" cy="17653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1100" y="1905000"/>
            <a:ext cx="5346700" cy="17653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1100" y="1905000"/>
            <a:ext cx="5346700" cy="368300"/>
          </a:xfrm>
          <a:prstGeom prst="rect">
            <a:avLst/>
          </a:prstGeom>
          <a:solidFill>
            <a:srgbClr val="C4E3F4"/>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3500" y="2032000"/>
            <a:ext cx="4318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DRIVERS + EXPECTATION</a:t>
            </a:r>
          </a:p>
        </p:txBody>
      </p:sp>
      <p:sp>
        <p:nvSpPr>
          <p:cNvPr id="19" name="Rectangle 18"/>
          <p:cNvSpPr/>
          <p:nvPr/>
        </p:nvSpPr>
        <p:spPr>
          <a:xfrm>
            <a:off x="11099800" y="2032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303000" y="20320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0" y="2514600"/>
            <a:ext cx="4940300" cy="1092200"/>
          </a:xfrm>
          <a:prstGeom prst="rect">
            <a:avLst/>
          </a:prstGeom>
          <a:noFill/>
        </p:spPr>
        <p:txBody>
          <a:bodyPr wrap="none" lIns="0" rIns="0" tIns="0" bIns="0" anchor="t">
            <a:spAutoFit/>
          </a:bodyPr>
          <a:lstStyle/>
          <a:p>
            <a:pPr>
              <a:lnSpc>
                <a:spcPts val="2600"/>
              </a:lnSpc>
              <a:spcBef>
                <a:spcPts val="0"/>
              </a:spcBef>
              <a:spcAft>
                <a:spcPts val="0"/>
              </a:spcAft>
            </a:pPr>
            <a:r>
              <a:rPr sz="1900" b="0" i="0">
                <a:solidFill>
                  <a:srgbClr val="57445E"/>
                </a:solidFill>
                <a:latin typeface="Arial"/>
              </a:rPr>
              <a:t>Income + online rediscovery.</a:t>
            </a:r>
          </a:p>
          <a:p>
            <a:pPr>
              <a:lnSpc>
                <a:spcPts val="2600"/>
              </a:lnSpc>
              <a:spcBef>
                <a:spcPts val="0"/>
              </a:spcBef>
              <a:spcAft>
                <a:spcPts val="0"/>
              </a:spcAft>
            </a:pPr>
            <a:r>
              <a:rPr sz="1900" b="0" i="0">
                <a:solidFill>
                  <a:srgbClr val="57445E"/>
                </a:solidFill>
                <a:latin typeface="Arial"/>
              </a:rPr>
              <a:t>Help me choose a toy connected</a:t>
            </a:r>
          </a:p>
          <a:p>
            <a:pPr>
              <a:lnSpc>
                <a:spcPts val="2600"/>
              </a:lnSpc>
              <a:spcBef>
                <a:spcPts val="0"/>
              </a:spcBef>
              <a:spcAft>
                <a:spcPts val="0"/>
              </a:spcAft>
            </a:pPr>
            <a:r>
              <a:rPr sz="1900" b="0" i="0">
                <a:solidFill>
                  <a:srgbClr val="57445E"/>
                </a:solidFill>
                <a:latin typeface="Arial"/>
              </a:rPr>
              <a:t>to my own childhood. Hypothesis.</a:t>
            </a:r>
          </a:p>
        </p:txBody>
      </p:sp>
      <p:sp>
        <p:nvSpPr>
          <p:cNvPr id="22" name="Rectangle 21"/>
          <p:cNvSpPr/>
          <p:nvPr/>
        </p:nvSpPr>
        <p:spPr>
          <a:xfrm>
            <a:off x="622300" y="4051300"/>
            <a:ext cx="5346700" cy="19177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6100" y="3975100"/>
            <a:ext cx="5346700" cy="19177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6100" y="3975100"/>
            <a:ext cx="5346700" cy="368300"/>
          </a:xfrm>
          <a:prstGeom prst="rect">
            <a:avLst/>
          </a:prstGeom>
          <a:solidFill>
            <a:srgbClr val="F5BCC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8500" y="4102100"/>
            <a:ext cx="4318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FORMAT + WHO</a:t>
            </a:r>
          </a:p>
        </p:txBody>
      </p:sp>
      <p:sp>
        <p:nvSpPr>
          <p:cNvPr id="26" name="Rectangle 25"/>
          <p:cNvSpPr/>
          <p:nvPr/>
        </p:nvSpPr>
        <p:spPr>
          <a:xfrm>
            <a:off x="5384800" y="4102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88000" y="4102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2000" y="4584700"/>
            <a:ext cx="4940300" cy="1092200"/>
          </a:xfrm>
          <a:prstGeom prst="rect">
            <a:avLst/>
          </a:prstGeom>
          <a:noFill/>
        </p:spPr>
        <p:txBody>
          <a:bodyPr wrap="none" lIns="0" rIns="0" tIns="0" bIns="0" anchor="t">
            <a:spAutoFit/>
          </a:bodyPr>
          <a:lstStyle/>
          <a:p>
            <a:pPr>
              <a:lnSpc>
                <a:spcPts val="2600"/>
              </a:lnSpc>
              <a:spcBef>
                <a:spcPts val="0"/>
              </a:spcBef>
              <a:spcAft>
                <a:spcPts val="0"/>
              </a:spcAft>
            </a:pPr>
            <a:r>
              <a:rPr sz="1900" b="0" i="0">
                <a:solidFill>
                  <a:srgbClr val="57445E"/>
                </a:solidFill>
                <a:latin typeface="Arial"/>
              </a:rPr>
              <a:t>Co-designed small-batch products.</a:t>
            </a:r>
          </a:p>
          <a:p>
            <a:pPr>
              <a:lnSpc>
                <a:spcPts val="2600"/>
              </a:lnSpc>
              <a:spcBef>
                <a:spcPts val="0"/>
              </a:spcBef>
              <a:spcAft>
                <a:spcPts val="0"/>
              </a:spcAft>
            </a:pPr>
            <a:r>
              <a:rPr sz="1900" b="0" i="0">
                <a:solidFill>
                  <a:srgbClr val="57445E"/>
                </a:solidFill>
                <a:latin typeface="Arial"/>
              </a:rPr>
              <a:t>Early-career Thai adults revisiting</a:t>
            </a:r>
          </a:p>
          <a:p>
            <a:pPr>
              <a:lnSpc>
                <a:spcPts val="2600"/>
              </a:lnSpc>
              <a:spcBef>
                <a:spcPts val="0"/>
              </a:spcBef>
              <a:spcAft>
                <a:spcPts val="0"/>
              </a:spcAft>
            </a:pPr>
            <a:r>
              <a:rPr sz="1900" b="0" i="0">
                <a:solidFill>
                  <a:srgbClr val="57445E"/>
                </a:solidFill>
                <a:latin typeface="Arial"/>
              </a:rPr>
              <a:t>squishies and slime.</a:t>
            </a:r>
          </a:p>
        </p:txBody>
      </p:sp>
      <p:sp>
        <p:nvSpPr>
          <p:cNvPr id="29" name="Rectangle 28"/>
          <p:cNvSpPr/>
          <p:nvPr/>
        </p:nvSpPr>
        <p:spPr>
          <a:xfrm>
            <a:off x="6337300" y="4051300"/>
            <a:ext cx="5346700" cy="1917700"/>
          </a:xfrm>
          <a:prstGeom prst="rect">
            <a:avLst/>
          </a:prstGeom>
          <a:solidFill>
            <a:srgbClr val="5744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1100" y="3975100"/>
            <a:ext cx="5346700" cy="1917700"/>
          </a:xfrm>
          <a:prstGeom prst="rect">
            <a:avLst/>
          </a:prstGeom>
          <a:solidFill>
            <a:srgbClr val="FFFFFF"/>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1100" y="3975100"/>
            <a:ext cx="5346700" cy="368300"/>
          </a:xfrm>
          <a:prstGeom prst="rect">
            <a:avLst/>
          </a:prstGeom>
          <a:solidFill>
            <a:srgbClr val="CBE7D7"/>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3500" y="4102100"/>
            <a:ext cx="4318000" cy="273050"/>
          </a:xfrm>
          <a:prstGeom prst="rect">
            <a:avLst/>
          </a:prstGeom>
          <a:noFill/>
        </p:spPr>
        <p:txBody>
          <a:bodyPr wrap="none" lIns="0" rIns="0" tIns="0" bIns="0" anchor="t">
            <a:spAutoFit/>
          </a:bodyPr>
          <a:lstStyle/>
          <a:p>
            <a:pPr>
              <a:lnSpc>
                <a:spcPts val="1350"/>
              </a:lnSpc>
              <a:spcBef>
                <a:spcPts val="0"/>
              </a:spcBef>
              <a:spcAft>
                <a:spcPts val="0"/>
              </a:spcAft>
            </a:pPr>
            <a:r>
              <a:rPr sz="900" b="0" i="0">
                <a:solidFill>
                  <a:srgbClr val="57445E"/>
                </a:solidFill>
                <a:latin typeface="Press Start 2P"/>
              </a:rPr>
              <a:t>INNOVATION + TEST</a:t>
            </a:r>
          </a:p>
        </p:txBody>
      </p:sp>
      <p:sp>
        <p:nvSpPr>
          <p:cNvPr id="33" name="Rectangle 32"/>
          <p:cNvSpPr/>
          <p:nvPr/>
        </p:nvSpPr>
        <p:spPr>
          <a:xfrm>
            <a:off x="11099800" y="4102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303000" y="4102100"/>
            <a:ext cx="101600" cy="101600"/>
          </a:xfrm>
          <a:prstGeom prst="rect">
            <a:avLst/>
          </a:prstGeom>
          <a:solidFill>
            <a:srgbClr val="FFF9F0"/>
          </a:solidFill>
          <a:ln w="12700">
            <a:solidFill>
              <a:srgbClr val="5744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7000" y="4584700"/>
            <a:ext cx="4940300" cy="1092200"/>
          </a:xfrm>
          <a:prstGeom prst="rect">
            <a:avLst/>
          </a:prstGeom>
          <a:noFill/>
        </p:spPr>
        <p:txBody>
          <a:bodyPr wrap="none" lIns="0" rIns="0" tIns="0" bIns="0" anchor="t">
            <a:spAutoFit/>
          </a:bodyPr>
          <a:lstStyle/>
          <a:p>
            <a:pPr>
              <a:lnSpc>
                <a:spcPts val="2600"/>
              </a:lnSpc>
              <a:spcBef>
                <a:spcPts val="0"/>
              </a:spcBef>
              <a:spcAft>
                <a:spcPts val="0"/>
              </a:spcAft>
            </a:pPr>
            <a:r>
              <a:rPr sz="1900" b="0" i="0">
                <a:solidFill>
                  <a:srgbClr val="57445E"/>
                </a:solidFill>
                <a:latin typeface="Arial"/>
              </a:rPr>
              <a:t>Personalise, share and pre-order.</a:t>
            </a:r>
          </a:p>
          <a:p>
            <a:pPr>
              <a:lnSpc>
                <a:spcPts val="2600"/>
              </a:lnSpc>
              <a:spcBef>
                <a:spcPts val="0"/>
              </a:spcBef>
              <a:spcAft>
                <a:spcPts val="0"/>
              </a:spcAft>
            </a:pPr>
            <a:r>
              <a:rPr sz="1900" b="0" i="0">
                <a:solidFill>
                  <a:srgbClr val="57445E"/>
                </a:solidFill>
                <a:latin typeface="Arial"/>
              </a:rPr>
              <a:t>Produce at a viable batch threshold.</a:t>
            </a:r>
          </a:p>
          <a:p>
            <a:pPr>
              <a:lnSpc>
                <a:spcPts val="2600"/>
              </a:lnSpc>
              <a:spcBef>
                <a:spcPts val="0"/>
              </a:spcBef>
              <a:spcAft>
                <a:spcPts val="0"/>
              </a:spcAft>
            </a:pPr>
            <a:r>
              <a:rPr sz="1900" b="0" i="0">
                <a:solidFill>
                  <a:srgbClr val="57445E"/>
                </a:solidFill>
                <a:latin typeface="Arial"/>
              </a:rPr>
              <a:t>Test demand, quality and cost.</a:t>
            </a:r>
          </a:p>
        </p:txBody>
      </p:sp>
      <p:cxnSp>
        <p:nvCxnSpPr>
          <p:cNvPr id="36" name="Connector 35"/>
          <p:cNvCxnSpPr/>
          <p:nvPr/>
        </p:nvCxnSpPr>
        <p:spPr>
          <a:xfrm>
            <a:off x="431800" y="6362700"/>
            <a:ext cx="11315700" cy="0"/>
          </a:xfrm>
          <a:prstGeom prst="line">
            <a:avLst/>
          </a:prstGeom>
          <a:ln w="12700">
            <a:solidFill>
              <a:srgbClr val="D8CADA"/>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44500" y="6540500"/>
            <a:ext cx="11328400" cy="241046"/>
          </a:xfrm>
          <a:prstGeom prst="rect">
            <a:avLst/>
          </a:prstGeom>
          <a:noFill/>
        </p:spPr>
        <p:txBody>
          <a:bodyPr wrap="none" lIns="0" rIns="0" tIns="0" bIns="0" anchor="t">
            <a:spAutoFit/>
          </a:bodyPr>
          <a:lstStyle/>
          <a:p>
            <a:pPr>
              <a:lnSpc>
                <a:spcPts val="1098"/>
              </a:lnSpc>
              <a:spcBef>
                <a:spcPts val="0"/>
              </a:spcBef>
              <a:spcAft>
                <a:spcPts val="0"/>
              </a:spcAft>
            </a:pPr>
            <a:r>
              <a:rPr sz="900" b="0" i="0">
                <a:solidFill>
                  <a:srgbClr val="76647C"/>
                </a:solidFill>
                <a:latin typeface="Arial"/>
                <a:hlinkClick r:id="rId2"/>
              </a:rPr>
              <a:t>S3 / Consumer Trend Canvas adapted from TrendWatching. Proposal and expectations require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REPLAY LAB — Childhood, remade.</dc:title>
  <dc:subject>Consumer in the Wild: Thailand Trend Watch</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